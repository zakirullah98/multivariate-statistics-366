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0" r:id="rId1"/>
  </p:sldMasterIdLst>
  <p:notesMasterIdLst>
    <p:notesMasterId r:id="rId47"/>
  </p:notesMasterIdLst>
  <p:sldIdLst>
    <p:sldId id="256" r:id="rId2"/>
    <p:sldId id="257" r:id="rId3"/>
    <p:sldId id="274" r:id="rId4"/>
    <p:sldId id="275" r:id="rId5"/>
    <p:sldId id="276" r:id="rId6"/>
    <p:sldId id="277" r:id="rId7"/>
    <p:sldId id="278" r:id="rId8"/>
    <p:sldId id="293" r:id="rId9"/>
    <p:sldId id="279" r:id="rId10"/>
    <p:sldId id="291" r:id="rId11"/>
    <p:sldId id="292" r:id="rId12"/>
    <p:sldId id="282" r:id="rId13"/>
    <p:sldId id="283" r:id="rId14"/>
    <p:sldId id="284" r:id="rId15"/>
    <p:sldId id="294" r:id="rId16"/>
    <p:sldId id="295" r:id="rId17"/>
    <p:sldId id="296" r:id="rId18"/>
    <p:sldId id="299" r:id="rId19"/>
    <p:sldId id="314" r:id="rId20"/>
    <p:sldId id="298" r:id="rId21"/>
    <p:sldId id="297" r:id="rId22"/>
    <p:sldId id="307" r:id="rId23"/>
    <p:sldId id="308" r:id="rId24"/>
    <p:sldId id="309" r:id="rId25"/>
    <p:sldId id="285" r:id="rId26"/>
    <p:sldId id="258" r:id="rId27"/>
    <p:sldId id="263" r:id="rId28"/>
    <p:sldId id="300" r:id="rId29"/>
    <p:sldId id="301" r:id="rId30"/>
    <p:sldId id="304" r:id="rId31"/>
    <p:sldId id="305" r:id="rId32"/>
    <p:sldId id="302" r:id="rId33"/>
    <p:sldId id="303" r:id="rId34"/>
    <p:sldId id="306" r:id="rId35"/>
    <p:sldId id="311" r:id="rId36"/>
    <p:sldId id="312" r:id="rId37"/>
    <p:sldId id="313" r:id="rId38"/>
    <p:sldId id="315" r:id="rId39"/>
    <p:sldId id="316" r:id="rId40"/>
    <p:sldId id="317" r:id="rId41"/>
    <p:sldId id="318" r:id="rId42"/>
    <p:sldId id="319" r:id="rId43"/>
    <p:sldId id="320" r:id="rId44"/>
    <p:sldId id="321" r:id="rId45"/>
    <p:sldId id="32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547"/>
    <p:restoredTop sz="94628"/>
  </p:normalViewPr>
  <p:slideViewPr>
    <p:cSldViewPr snapToGrid="0">
      <p:cViewPr varScale="1">
        <p:scale>
          <a:sx n="71" d="100"/>
          <a:sy n="71" d="100"/>
        </p:scale>
        <p:origin x="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3BE3B-BE07-49C8-B3C2-10FB5C8EAE0F}" type="datetimeFigureOut">
              <a:rPr lang="en-US" smtClean="0"/>
              <a:t>9/15/2025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4A2A33-9743-47B7-AC63-1821F16D3915}" type="slidenum">
              <a:rPr lang="en-US" smtClean="0"/>
              <a:t>‹#›</a:t>
            </a:fld>
            <a:endParaRPr lang="en-US"/>
          </a:p>
        </p:txBody>
      </p:sp>
    </p:spTree>
    <p:extLst>
      <p:ext uri="{BB962C8B-B14F-4D97-AF65-F5344CB8AC3E}">
        <p14:creationId xmlns:p14="http://schemas.microsoft.com/office/powerpoint/2010/main" val="2197770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image" Target="../media/image13.emf"/></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4A2A33-9743-47B7-AC63-1821F16D3915}" type="slidenum">
              <a:rPr lang="en-US" smtClean="0"/>
              <a:t>4</a:t>
            </a:fld>
            <a:endParaRPr lang="en-US"/>
          </a:p>
        </p:txBody>
      </p:sp>
    </p:spTree>
    <p:extLst>
      <p:ext uri="{BB962C8B-B14F-4D97-AF65-F5344CB8AC3E}">
        <p14:creationId xmlns:p14="http://schemas.microsoft.com/office/powerpoint/2010/main" val="2201954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4A2A33-9743-47B7-AC63-1821F16D3915}" type="slidenum">
              <a:rPr lang="en-US" smtClean="0"/>
              <a:t>6</a:t>
            </a:fld>
            <a:endParaRPr lang="en-US"/>
          </a:p>
        </p:txBody>
      </p:sp>
    </p:spTree>
    <p:extLst>
      <p:ext uri="{BB962C8B-B14F-4D97-AF65-F5344CB8AC3E}">
        <p14:creationId xmlns:p14="http://schemas.microsoft.com/office/powerpoint/2010/main" val="813927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Dot/scalar product shows the projection of B on A</a:t>
            </a:r>
          </a:p>
        </p:txBody>
      </p:sp>
      <p:sp>
        <p:nvSpPr>
          <p:cNvPr id="4" name="Slide Number Placeholder 3"/>
          <p:cNvSpPr>
            <a:spLocks noGrp="1"/>
          </p:cNvSpPr>
          <p:nvPr>
            <p:ph type="sldNum" sz="quarter" idx="5"/>
          </p:nvPr>
        </p:nvSpPr>
        <p:spPr/>
        <p:txBody>
          <a:bodyPr/>
          <a:lstStyle/>
          <a:p>
            <a:fld id="{A74A2A33-9743-47B7-AC63-1821F16D3915}" type="slidenum">
              <a:rPr lang="en-US" smtClean="0"/>
              <a:t>9</a:t>
            </a:fld>
            <a:endParaRPr lang="en-US"/>
          </a:p>
        </p:txBody>
      </p:sp>
    </p:spTree>
    <p:extLst>
      <p:ext uri="{BB962C8B-B14F-4D97-AF65-F5344CB8AC3E}">
        <p14:creationId xmlns:p14="http://schemas.microsoft.com/office/powerpoint/2010/main" val="4249155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4A2A33-9743-47B7-AC63-1821F16D3915}" type="slidenum">
              <a:rPr lang="en-US" smtClean="0"/>
              <a:t>10</a:t>
            </a:fld>
            <a:endParaRPr lang="en-US"/>
          </a:p>
        </p:txBody>
      </p:sp>
      <p:graphicFrame>
        <p:nvGraphicFramePr>
          <p:cNvPr id="5" name="Object 4">
            <a:extLst>
              <a:ext uri="{FF2B5EF4-FFF2-40B4-BE49-F238E27FC236}">
                <a16:creationId xmlns:a16="http://schemas.microsoft.com/office/drawing/2014/main" id="{0B20CCBF-BF78-5D8F-B36B-F5643BCD5320}"/>
              </a:ext>
            </a:extLst>
          </p:cNvPr>
          <p:cNvGraphicFramePr>
            <a:graphicFrameLocks noChangeAspect="1"/>
          </p:cNvGraphicFramePr>
          <p:nvPr>
            <p:extLst>
              <p:ext uri="{D42A27DB-BD31-4B8C-83A1-F6EECF244321}">
                <p14:modId xmlns:p14="http://schemas.microsoft.com/office/powerpoint/2010/main" val="995689235"/>
              </p:ext>
            </p:extLst>
          </p:nvPr>
        </p:nvGraphicFramePr>
        <p:xfrm>
          <a:off x="2322513" y="4432300"/>
          <a:ext cx="2212975" cy="277813"/>
        </p:xfrm>
        <a:graphic>
          <a:graphicData uri="http://schemas.openxmlformats.org/presentationml/2006/ole">
            <mc:AlternateContent xmlns:mc="http://schemas.openxmlformats.org/markup-compatibility/2006">
              <mc:Choice xmlns:v="urn:schemas-microsoft-com:vml" Requires="v">
                <p:oleObj name="Equation" r:id="rId3" imgW="2213104" imgH="277867" progId="Equation.DSMT4">
                  <p:embed/>
                </p:oleObj>
              </mc:Choice>
              <mc:Fallback>
                <p:oleObj name="Equation" r:id="rId3" imgW="2213104" imgH="277867" progId="Equation.DSMT4">
                  <p:embed/>
                  <p:pic>
                    <p:nvPicPr>
                      <p:cNvPr id="0" name=""/>
                      <p:cNvPicPr/>
                      <p:nvPr/>
                    </p:nvPicPr>
                    <p:blipFill>
                      <a:blip r:embed="rId4"/>
                      <a:stretch>
                        <a:fillRect/>
                      </a:stretch>
                    </p:blipFill>
                    <p:spPr>
                      <a:xfrm>
                        <a:off x="2322513" y="4432300"/>
                        <a:ext cx="2212975" cy="277813"/>
                      </a:xfrm>
                      <a:prstGeom prst="rect">
                        <a:avLst/>
                      </a:prstGeom>
                    </p:spPr>
                  </p:pic>
                </p:oleObj>
              </mc:Fallback>
            </mc:AlternateContent>
          </a:graphicData>
        </a:graphic>
      </p:graphicFrame>
    </p:spTree>
    <p:extLst>
      <p:ext uri="{BB962C8B-B14F-4D97-AF65-F5344CB8AC3E}">
        <p14:creationId xmlns:p14="http://schemas.microsoft.com/office/powerpoint/2010/main" val="564947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https://web.auburn.edu/holmerr/2660/Textbook/innerproduct-print.pdf</a:t>
            </a:r>
          </a:p>
          <a:p>
            <a:r>
              <a:rPr lang="en-US" dirty="0"/>
              <a:t>https://users.math.msu.edu/users/gnagy/teaching/05-fall/Math20F/w9-F.pdf</a:t>
            </a:r>
          </a:p>
        </p:txBody>
      </p:sp>
      <p:sp>
        <p:nvSpPr>
          <p:cNvPr id="4" name="Slide Number Placeholder 3"/>
          <p:cNvSpPr>
            <a:spLocks noGrp="1"/>
          </p:cNvSpPr>
          <p:nvPr>
            <p:ph type="sldNum" sz="quarter" idx="5"/>
          </p:nvPr>
        </p:nvSpPr>
        <p:spPr/>
        <p:txBody>
          <a:bodyPr/>
          <a:lstStyle/>
          <a:p>
            <a:fld id="{A74A2A33-9743-47B7-AC63-1821F16D3915}" type="slidenum">
              <a:rPr lang="en-US" smtClean="0"/>
              <a:t>13</a:t>
            </a:fld>
            <a:endParaRPr lang="en-US"/>
          </a:p>
        </p:txBody>
      </p:sp>
    </p:spTree>
    <p:extLst>
      <p:ext uri="{BB962C8B-B14F-4D97-AF65-F5344CB8AC3E}">
        <p14:creationId xmlns:p14="http://schemas.microsoft.com/office/powerpoint/2010/main" val="893554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Span</a:t>
            </a:r>
            <a:r>
              <a:rPr lang="en-US" dirty="0"/>
              <a:t> the space (you can reach any vector in the space using linear combinations of them).</a:t>
            </a:r>
          </a:p>
        </p:txBody>
      </p:sp>
      <p:sp>
        <p:nvSpPr>
          <p:cNvPr id="4" name="Slide Number Placeholder 3"/>
          <p:cNvSpPr>
            <a:spLocks noGrp="1"/>
          </p:cNvSpPr>
          <p:nvPr>
            <p:ph type="sldNum" sz="quarter" idx="5"/>
          </p:nvPr>
        </p:nvSpPr>
        <p:spPr/>
        <p:txBody>
          <a:bodyPr/>
          <a:lstStyle/>
          <a:p>
            <a:fld id="{A74A2A33-9743-47B7-AC63-1821F16D3915}" type="slidenum">
              <a:rPr lang="en-US" smtClean="0"/>
              <a:t>18</a:t>
            </a:fld>
            <a:endParaRPr lang="en-US"/>
          </a:p>
        </p:txBody>
      </p:sp>
    </p:spTree>
    <p:extLst>
      <p:ext uri="{BB962C8B-B14F-4D97-AF65-F5344CB8AC3E}">
        <p14:creationId xmlns:p14="http://schemas.microsoft.com/office/powerpoint/2010/main" val="473376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a:t>
            </a:r>
            <a:r>
              <a:rPr lang="en-US"/>
              <a:t>A and B, C and D</a:t>
            </a:r>
          </a:p>
        </p:txBody>
      </p:sp>
      <p:sp>
        <p:nvSpPr>
          <p:cNvPr id="4" name="Slide Number Placeholder 3"/>
          <p:cNvSpPr>
            <a:spLocks noGrp="1"/>
          </p:cNvSpPr>
          <p:nvPr>
            <p:ph type="sldNum" sz="quarter" idx="5"/>
          </p:nvPr>
        </p:nvSpPr>
        <p:spPr/>
        <p:txBody>
          <a:bodyPr/>
          <a:lstStyle/>
          <a:p>
            <a:fld id="{A74A2A33-9743-47B7-AC63-1821F16D3915}" type="slidenum">
              <a:rPr lang="en-US" smtClean="0"/>
              <a:t>20</a:t>
            </a:fld>
            <a:endParaRPr lang="en-US"/>
          </a:p>
        </p:txBody>
      </p:sp>
    </p:spTree>
    <p:extLst>
      <p:ext uri="{BB962C8B-B14F-4D97-AF65-F5344CB8AC3E}">
        <p14:creationId xmlns:p14="http://schemas.microsoft.com/office/powerpoint/2010/main" val="29784010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pivot</a:t>
            </a:r>
            <a:r>
              <a:rPr lang="en-US" dirty="0"/>
              <a:t> is the </a:t>
            </a:r>
            <a:r>
              <a:rPr lang="en-US" b="1" dirty="0"/>
              <a:t>first non-zero number</a:t>
            </a:r>
            <a:r>
              <a:rPr lang="en-US" dirty="0"/>
              <a:t> in a row of a matrix (from left to right) </a:t>
            </a:r>
            <a:r>
              <a:rPr lang="en-US" b="1" dirty="0"/>
              <a:t>after</a:t>
            </a:r>
            <a:r>
              <a:rPr lang="en-US" dirty="0"/>
              <a:t> performing row operations to get the matrix into </a:t>
            </a:r>
            <a:r>
              <a:rPr lang="en-US" b="1" dirty="0"/>
              <a:t>row echelon form</a:t>
            </a:r>
            <a:r>
              <a:rPr lang="en-US" dirty="0"/>
              <a:t>.</a:t>
            </a:r>
          </a:p>
        </p:txBody>
      </p:sp>
      <p:sp>
        <p:nvSpPr>
          <p:cNvPr id="4" name="Slide Number Placeholder 3"/>
          <p:cNvSpPr>
            <a:spLocks noGrp="1"/>
          </p:cNvSpPr>
          <p:nvPr>
            <p:ph type="sldNum" sz="quarter" idx="5"/>
          </p:nvPr>
        </p:nvSpPr>
        <p:spPr/>
        <p:txBody>
          <a:bodyPr/>
          <a:lstStyle/>
          <a:p>
            <a:fld id="{A74A2A33-9743-47B7-AC63-1821F16D3915}" type="slidenum">
              <a:rPr lang="en-US" smtClean="0"/>
              <a:t>23</a:t>
            </a:fld>
            <a:endParaRPr lang="en-US"/>
          </a:p>
        </p:txBody>
      </p:sp>
    </p:spTree>
    <p:extLst>
      <p:ext uri="{BB962C8B-B14F-4D97-AF65-F5344CB8AC3E}">
        <p14:creationId xmlns:p14="http://schemas.microsoft.com/office/powerpoint/2010/main" val="8857620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pivot</a:t>
            </a:r>
            <a:r>
              <a:rPr lang="en-US" dirty="0"/>
              <a:t> is the </a:t>
            </a:r>
            <a:r>
              <a:rPr lang="en-US" b="1" dirty="0"/>
              <a:t>first non-zero number</a:t>
            </a:r>
            <a:r>
              <a:rPr lang="en-US" dirty="0"/>
              <a:t> in a row of a matrix (from left to right) </a:t>
            </a:r>
            <a:r>
              <a:rPr lang="en-US" b="1" dirty="0"/>
              <a:t>after</a:t>
            </a:r>
            <a:r>
              <a:rPr lang="en-US" dirty="0"/>
              <a:t> performing row operations to get the matrix into </a:t>
            </a:r>
            <a:r>
              <a:rPr lang="en-US" b="1" dirty="0"/>
              <a:t>row echelon form</a:t>
            </a:r>
            <a:r>
              <a:rPr lang="en-US" dirty="0"/>
              <a:t>.</a:t>
            </a:r>
          </a:p>
        </p:txBody>
      </p:sp>
      <p:sp>
        <p:nvSpPr>
          <p:cNvPr id="4" name="Slide Number Placeholder 3"/>
          <p:cNvSpPr>
            <a:spLocks noGrp="1"/>
          </p:cNvSpPr>
          <p:nvPr>
            <p:ph type="sldNum" sz="quarter" idx="5"/>
          </p:nvPr>
        </p:nvSpPr>
        <p:spPr/>
        <p:txBody>
          <a:bodyPr/>
          <a:lstStyle/>
          <a:p>
            <a:fld id="{A74A2A33-9743-47B7-AC63-1821F16D3915}" type="slidenum">
              <a:rPr lang="en-US" smtClean="0"/>
              <a:t>24</a:t>
            </a:fld>
            <a:endParaRPr lang="en-US"/>
          </a:p>
        </p:txBody>
      </p:sp>
    </p:spTree>
    <p:extLst>
      <p:ext uri="{BB962C8B-B14F-4D97-AF65-F5344CB8AC3E}">
        <p14:creationId xmlns:p14="http://schemas.microsoft.com/office/powerpoint/2010/main" val="294606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a:t>
            </a:r>
            <a:r>
              <a:rPr lang="en-US" b="1" dirty="0"/>
              <a:t>upper triangular matrix</a:t>
            </a:r>
            <a:r>
              <a:rPr lang="en-US" dirty="0"/>
              <a:t>, all entries </a:t>
            </a:r>
            <a:r>
              <a:rPr lang="en-US" b="1" dirty="0"/>
              <a:t>below</a:t>
            </a:r>
            <a:r>
              <a:rPr lang="en-US" dirty="0"/>
              <a:t> the diagonal are zero.</a:t>
            </a:r>
          </a:p>
        </p:txBody>
      </p:sp>
      <p:sp>
        <p:nvSpPr>
          <p:cNvPr id="4" name="Slide Number Placeholder 3"/>
          <p:cNvSpPr>
            <a:spLocks noGrp="1"/>
          </p:cNvSpPr>
          <p:nvPr>
            <p:ph type="sldNum" sz="quarter" idx="5"/>
          </p:nvPr>
        </p:nvSpPr>
        <p:spPr/>
        <p:txBody>
          <a:bodyPr/>
          <a:lstStyle/>
          <a:p>
            <a:fld id="{A74A2A33-9743-47B7-AC63-1821F16D3915}" type="slidenum">
              <a:rPr lang="en-US" smtClean="0"/>
              <a:t>27</a:t>
            </a:fld>
            <a:endParaRPr lang="en-US"/>
          </a:p>
        </p:txBody>
      </p:sp>
    </p:spTree>
    <p:extLst>
      <p:ext uri="{BB962C8B-B14F-4D97-AF65-F5344CB8AC3E}">
        <p14:creationId xmlns:p14="http://schemas.microsoft.com/office/powerpoint/2010/main" val="3747906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https://math.mit.edu/~gs/linearalgebra/ila5/linearalgebra5_6-1.pdf</a:t>
            </a:r>
          </a:p>
          <a:p>
            <a:r>
              <a:rPr lang="en-US" dirty="0"/>
              <a:t>https://youtu.be/9CT0jnem4vM?si=zL4OFxV427oxPtKD</a:t>
            </a:r>
          </a:p>
        </p:txBody>
      </p:sp>
      <p:sp>
        <p:nvSpPr>
          <p:cNvPr id="4" name="Slide Number Placeholder 3"/>
          <p:cNvSpPr>
            <a:spLocks noGrp="1"/>
          </p:cNvSpPr>
          <p:nvPr>
            <p:ph type="sldNum" sz="quarter" idx="5"/>
          </p:nvPr>
        </p:nvSpPr>
        <p:spPr/>
        <p:txBody>
          <a:bodyPr/>
          <a:lstStyle/>
          <a:p>
            <a:fld id="{A74A2A33-9743-47B7-AC63-1821F16D3915}" type="slidenum">
              <a:rPr lang="en-US" smtClean="0"/>
              <a:t>29</a:t>
            </a:fld>
            <a:endParaRPr lang="en-US"/>
          </a:p>
        </p:txBody>
      </p:sp>
    </p:spTree>
    <p:extLst>
      <p:ext uri="{BB962C8B-B14F-4D97-AF65-F5344CB8AC3E}">
        <p14:creationId xmlns:p14="http://schemas.microsoft.com/office/powerpoint/2010/main" val="18539279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Spectral decomposition of a Matrix</a:t>
            </a:r>
          </a:p>
        </p:txBody>
      </p:sp>
      <p:sp>
        <p:nvSpPr>
          <p:cNvPr id="4" name="Slide Number Placeholder 3"/>
          <p:cNvSpPr>
            <a:spLocks noGrp="1"/>
          </p:cNvSpPr>
          <p:nvPr>
            <p:ph type="sldNum" sz="quarter" idx="5"/>
          </p:nvPr>
        </p:nvSpPr>
        <p:spPr/>
        <p:txBody>
          <a:bodyPr/>
          <a:lstStyle/>
          <a:p>
            <a:fld id="{A74A2A33-9743-47B7-AC63-1821F16D3915}" type="slidenum">
              <a:rPr lang="en-US" smtClean="0"/>
              <a:t>34</a:t>
            </a:fld>
            <a:endParaRPr lang="en-US"/>
          </a:p>
        </p:txBody>
      </p:sp>
    </p:spTree>
    <p:extLst>
      <p:ext uri="{BB962C8B-B14F-4D97-AF65-F5344CB8AC3E}">
        <p14:creationId xmlns:p14="http://schemas.microsoft.com/office/powerpoint/2010/main" val="3336201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https://medium.com/@hiroshi.wayama/linear-algebra-spectral-decomposition-cb72d8f124ad</a:t>
            </a:r>
          </a:p>
        </p:txBody>
      </p:sp>
      <p:sp>
        <p:nvSpPr>
          <p:cNvPr id="4" name="Slide Number Placeholder 3"/>
          <p:cNvSpPr>
            <a:spLocks noGrp="1"/>
          </p:cNvSpPr>
          <p:nvPr>
            <p:ph type="sldNum" sz="quarter" idx="5"/>
          </p:nvPr>
        </p:nvSpPr>
        <p:spPr/>
        <p:txBody>
          <a:bodyPr/>
          <a:lstStyle/>
          <a:p>
            <a:fld id="{A74A2A33-9743-47B7-AC63-1821F16D3915}" type="slidenum">
              <a:rPr lang="en-US" smtClean="0"/>
              <a:t>35</a:t>
            </a:fld>
            <a:endParaRPr lang="en-US"/>
          </a:p>
        </p:txBody>
      </p:sp>
    </p:spTree>
    <p:extLst>
      <p:ext uri="{BB962C8B-B14F-4D97-AF65-F5344CB8AC3E}">
        <p14:creationId xmlns:p14="http://schemas.microsoft.com/office/powerpoint/2010/main" val="26090134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https://medium.com/@hiroshi.wayama/linear-algebra-spectral-decomposition-cb72d8f124ad</a:t>
            </a:r>
          </a:p>
        </p:txBody>
      </p:sp>
      <p:sp>
        <p:nvSpPr>
          <p:cNvPr id="4" name="Slide Number Placeholder 3"/>
          <p:cNvSpPr>
            <a:spLocks noGrp="1"/>
          </p:cNvSpPr>
          <p:nvPr>
            <p:ph type="sldNum" sz="quarter" idx="5"/>
          </p:nvPr>
        </p:nvSpPr>
        <p:spPr/>
        <p:txBody>
          <a:bodyPr/>
          <a:lstStyle/>
          <a:p>
            <a:fld id="{A74A2A33-9743-47B7-AC63-1821F16D3915}" type="slidenum">
              <a:rPr lang="en-US" smtClean="0"/>
              <a:t>37</a:t>
            </a:fld>
            <a:endParaRPr lang="en-US"/>
          </a:p>
        </p:txBody>
      </p:sp>
    </p:spTree>
    <p:extLst>
      <p:ext uri="{BB962C8B-B14F-4D97-AF65-F5344CB8AC3E}">
        <p14:creationId xmlns:p14="http://schemas.microsoft.com/office/powerpoint/2010/main" val="846172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6C731-748A-91DF-6898-B4BFF8DD4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0C8073-3DAB-EE8D-2BE0-E77B64A9FE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140AE3-C4D5-4E60-2406-2B8EDD8714D5}"/>
              </a:ext>
            </a:extLst>
          </p:cNvPr>
          <p:cNvSpPr>
            <a:spLocks noGrp="1"/>
          </p:cNvSpPr>
          <p:nvPr>
            <p:ph type="body" idx="1"/>
          </p:nvPr>
        </p:nvSpPr>
        <p:spPr/>
        <p:txBody>
          <a:bodyPr/>
          <a:lstStyle/>
          <a:p>
            <a:r>
              <a:rPr lang="en-US"/>
              <a:t>Spectral decomposition of a Matrix</a:t>
            </a:r>
          </a:p>
        </p:txBody>
      </p:sp>
      <p:sp>
        <p:nvSpPr>
          <p:cNvPr id="4" name="Slide Number Placeholder 3">
            <a:extLst>
              <a:ext uri="{FF2B5EF4-FFF2-40B4-BE49-F238E27FC236}">
                <a16:creationId xmlns:a16="http://schemas.microsoft.com/office/drawing/2014/main" id="{168FB781-6061-96BE-4A7E-942B16EB372C}"/>
              </a:ext>
            </a:extLst>
          </p:cNvPr>
          <p:cNvSpPr>
            <a:spLocks noGrp="1"/>
          </p:cNvSpPr>
          <p:nvPr>
            <p:ph type="sldNum" sz="quarter" idx="5"/>
          </p:nvPr>
        </p:nvSpPr>
        <p:spPr/>
        <p:txBody>
          <a:bodyPr/>
          <a:lstStyle/>
          <a:p>
            <a:fld id="{A74A2A33-9743-47B7-AC63-1821F16D3915}" type="slidenum">
              <a:rPr lang="en-US" smtClean="0"/>
              <a:t>44</a:t>
            </a:fld>
            <a:endParaRPr lang="en-US"/>
          </a:p>
        </p:txBody>
      </p:sp>
    </p:spTree>
    <p:extLst>
      <p:ext uri="{BB962C8B-B14F-4D97-AF65-F5344CB8AC3E}">
        <p14:creationId xmlns:p14="http://schemas.microsoft.com/office/powerpoint/2010/main" val="3381445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F8AAA-616C-5D21-C585-1368A843EB5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0A58289-1AB5-4666-E1E9-DA4CC54087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CB5D75A-2087-7B59-1C6E-F1E594E598DE}"/>
              </a:ext>
            </a:extLst>
          </p:cNvPr>
          <p:cNvSpPr>
            <a:spLocks noGrp="1"/>
          </p:cNvSpPr>
          <p:nvPr>
            <p:ph type="dt" sz="half" idx="10"/>
          </p:nvPr>
        </p:nvSpPr>
        <p:spPr/>
        <p:txBody>
          <a:bodyPr/>
          <a:lstStyle/>
          <a:p>
            <a:fld id="{4EA63CA0-9B33-2547-A777-CA99C11D9698}" type="datetimeFigureOut">
              <a:rPr lang="en-US" smtClean="0"/>
              <a:t>9/15/2025</a:t>
            </a:fld>
            <a:endParaRPr lang="en-US" dirty="0"/>
          </a:p>
        </p:txBody>
      </p:sp>
      <p:sp>
        <p:nvSpPr>
          <p:cNvPr id="5" name="Footer Placeholder 4">
            <a:extLst>
              <a:ext uri="{FF2B5EF4-FFF2-40B4-BE49-F238E27FC236}">
                <a16:creationId xmlns:a16="http://schemas.microsoft.com/office/drawing/2014/main" id="{2B947848-2D1A-B7B4-3DDE-3835FAC427D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A1F6DE-23B2-35FA-250F-3D6CCBB5CA47}"/>
              </a:ext>
            </a:extLst>
          </p:cNvPr>
          <p:cNvSpPr>
            <a:spLocks noGrp="1"/>
          </p:cNvSpPr>
          <p:nvPr>
            <p:ph type="sldNum" sz="quarter" idx="12"/>
          </p:nvPr>
        </p:nvSpPr>
        <p:spPr/>
        <p:txBody>
          <a:bodyPr/>
          <a:lstStyle/>
          <a:p>
            <a:fld id="{700E9709-502A-AD43-B4F1-601D502E97DD}" type="slidenum">
              <a:rPr lang="en-US" smtClean="0"/>
              <a:t>‹#›</a:t>
            </a:fld>
            <a:endParaRPr lang="en-US" dirty="0"/>
          </a:p>
        </p:txBody>
      </p:sp>
    </p:spTree>
    <p:extLst>
      <p:ext uri="{BB962C8B-B14F-4D97-AF65-F5344CB8AC3E}">
        <p14:creationId xmlns:p14="http://schemas.microsoft.com/office/powerpoint/2010/main" val="1928368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77B3-DA0C-52A6-46B3-46E13654E97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2AE1C58-4F30-9986-8D5A-1FF134AE537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E5CC269-A2E5-4C64-A4D5-B8FEE135A189}"/>
              </a:ext>
            </a:extLst>
          </p:cNvPr>
          <p:cNvSpPr>
            <a:spLocks noGrp="1"/>
          </p:cNvSpPr>
          <p:nvPr>
            <p:ph type="dt" sz="half" idx="10"/>
          </p:nvPr>
        </p:nvSpPr>
        <p:spPr/>
        <p:txBody>
          <a:bodyPr/>
          <a:lstStyle/>
          <a:p>
            <a:fld id="{4EA63CA0-9B33-2547-A777-CA99C11D9698}" type="datetimeFigureOut">
              <a:rPr lang="en-US" smtClean="0"/>
              <a:t>9/15/2025</a:t>
            </a:fld>
            <a:endParaRPr lang="en-US" dirty="0"/>
          </a:p>
        </p:txBody>
      </p:sp>
      <p:sp>
        <p:nvSpPr>
          <p:cNvPr id="5" name="Footer Placeholder 4">
            <a:extLst>
              <a:ext uri="{FF2B5EF4-FFF2-40B4-BE49-F238E27FC236}">
                <a16:creationId xmlns:a16="http://schemas.microsoft.com/office/drawing/2014/main" id="{6FB016DE-23AF-7A65-18BA-B4F055C5381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36C23A6-08B1-4C74-5061-5E7E53A4D0E8}"/>
              </a:ext>
            </a:extLst>
          </p:cNvPr>
          <p:cNvSpPr>
            <a:spLocks noGrp="1"/>
          </p:cNvSpPr>
          <p:nvPr>
            <p:ph type="sldNum" sz="quarter" idx="12"/>
          </p:nvPr>
        </p:nvSpPr>
        <p:spPr/>
        <p:txBody>
          <a:bodyPr/>
          <a:lstStyle/>
          <a:p>
            <a:fld id="{700E9709-502A-AD43-B4F1-601D502E97DD}" type="slidenum">
              <a:rPr lang="en-US" smtClean="0"/>
              <a:t>‹#›</a:t>
            </a:fld>
            <a:endParaRPr lang="en-US" dirty="0"/>
          </a:p>
        </p:txBody>
      </p:sp>
    </p:spTree>
    <p:extLst>
      <p:ext uri="{BB962C8B-B14F-4D97-AF65-F5344CB8AC3E}">
        <p14:creationId xmlns:p14="http://schemas.microsoft.com/office/powerpoint/2010/main" val="2419779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433A1-126F-F02E-7A5E-A0D6077029D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C7A3F13-AC0C-6B8B-3F97-CE53ABA896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0744712-5A75-A804-7030-96F54AB7FADB}"/>
              </a:ext>
            </a:extLst>
          </p:cNvPr>
          <p:cNvSpPr>
            <a:spLocks noGrp="1"/>
          </p:cNvSpPr>
          <p:nvPr>
            <p:ph type="dt" sz="half" idx="10"/>
          </p:nvPr>
        </p:nvSpPr>
        <p:spPr/>
        <p:txBody>
          <a:bodyPr/>
          <a:lstStyle/>
          <a:p>
            <a:fld id="{4EA63CA0-9B33-2547-A777-CA99C11D9698}" type="datetimeFigureOut">
              <a:rPr lang="en-US" smtClean="0"/>
              <a:t>9/15/2025</a:t>
            </a:fld>
            <a:endParaRPr lang="en-US" dirty="0"/>
          </a:p>
        </p:txBody>
      </p:sp>
      <p:sp>
        <p:nvSpPr>
          <p:cNvPr id="5" name="Footer Placeholder 4">
            <a:extLst>
              <a:ext uri="{FF2B5EF4-FFF2-40B4-BE49-F238E27FC236}">
                <a16:creationId xmlns:a16="http://schemas.microsoft.com/office/drawing/2014/main" id="{DD470337-3290-D277-94ED-82FF1C9FC51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8D6C97-3795-0637-23C2-EF397E8E04EE}"/>
              </a:ext>
            </a:extLst>
          </p:cNvPr>
          <p:cNvSpPr>
            <a:spLocks noGrp="1"/>
          </p:cNvSpPr>
          <p:nvPr>
            <p:ph type="sldNum" sz="quarter" idx="12"/>
          </p:nvPr>
        </p:nvSpPr>
        <p:spPr/>
        <p:txBody>
          <a:bodyPr/>
          <a:lstStyle/>
          <a:p>
            <a:fld id="{700E9709-502A-AD43-B4F1-601D502E97DD}" type="slidenum">
              <a:rPr lang="en-US" smtClean="0"/>
              <a:t>‹#›</a:t>
            </a:fld>
            <a:endParaRPr lang="en-US" dirty="0"/>
          </a:p>
        </p:txBody>
      </p:sp>
    </p:spTree>
    <p:extLst>
      <p:ext uri="{BB962C8B-B14F-4D97-AF65-F5344CB8AC3E}">
        <p14:creationId xmlns:p14="http://schemas.microsoft.com/office/powerpoint/2010/main" val="8085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E5C0D-2891-634E-8C05-D78E3EBEDC9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497D0DA-D00A-9818-6C7B-1C457B82C8D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4C1C7B2-49F3-FE1C-4891-DD678F8C9C1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1581F6E-A790-DCD8-DF93-79A6AC70A6B9}"/>
              </a:ext>
            </a:extLst>
          </p:cNvPr>
          <p:cNvSpPr>
            <a:spLocks noGrp="1"/>
          </p:cNvSpPr>
          <p:nvPr>
            <p:ph type="dt" sz="half" idx="10"/>
          </p:nvPr>
        </p:nvSpPr>
        <p:spPr/>
        <p:txBody>
          <a:bodyPr/>
          <a:lstStyle/>
          <a:p>
            <a:fld id="{4EA63CA0-9B33-2547-A777-CA99C11D9698}" type="datetimeFigureOut">
              <a:rPr lang="en-US" smtClean="0"/>
              <a:t>9/15/2025</a:t>
            </a:fld>
            <a:endParaRPr lang="en-US" dirty="0"/>
          </a:p>
        </p:txBody>
      </p:sp>
      <p:sp>
        <p:nvSpPr>
          <p:cNvPr id="6" name="Footer Placeholder 5">
            <a:extLst>
              <a:ext uri="{FF2B5EF4-FFF2-40B4-BE49-F238E27FC236}">
                <a16:creationId xmlns:a16="http://schemas.microsoft.com/office/drawing/2014/main" id="{FD591F38-85A8-D13A-1EA1-986EC08BA4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25E2534-C58C-576C-2ABB-BAA371DC8FD4}"/>
              </a:ext>
            </a:extLst>
          </p:cNvPr>
          <p:cNvSpPr>
            <a:spLocks noGrp="1"/>
          </p:cNvSpPr>
          <p:nvPr>
            <p:ph type="sldNum" sz="quarter" idx="12"/>
          </p:nvPr>
        </p:nvSpPr>
        <p:spPr/>
        <p:txBody>
          <a:bodyPr/>
          <a:lstStyle/>
          <a:p>
            <a:fld id="{700E9709-502A-AD43-B4F1-601D502E97DD}" type="slidenum">
              <a:rPr lang="en-US" smtClean="0"/>
              <a:t>‹#›</a:t>
            </a:fld>
            <a:endParaRPr lang="en-US" dirty="0"/>
          </a:p>
        </p:txBody>
      </p:sp>
    </p:spTree>
    <p:extLst>
      <p:ext uri="{BB962C8B-B14F-4D97-AF65-F5344CB8AC3E}">
        <p14:creationId xmlns:p14="http://schemas.microsoft.com/office/powerpoint/2010/main" val="3370816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8F8CA-45F1-5B5A-E29C-3BB0C604E86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B071EA1-69C1-EA76-CB91-61D5714E59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BEAB7E6-DC54-0C5A-1AFF-5F9F3914DE5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AC8F3DC-A08E-DAD3-0641-893132A14D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C720DA3-81D1-F039-8EE0-9F741CCC681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D5C2F93-1DF4-A363-E42D-BABDBCA03427}"/>
              </a:ext>
            </a:extLst>
          </p:cNvPr>
          <p:cNvSpPr>
            <a:spLocks noGrp="1"/>
          </p:cNvSpPr>
          <p:nvPr>
            <p:ph type="dt" sz="half" idx="10"/>
          </p:nvPr>
        </p:nvSpPr>
        <p:spPr/>
        <p:txBody>
          <a:bodyPr/>
          <a:lstStyle/>
          <a:p>
            <a:fld id="{4EA63CA0-9B33-2547-A777-CA99C11D9698}" type="datetimeFigureOut">
              <a:rPr lang="en-US" smtClean="0"/>
              <a:t>9/15/2025</a:t>
            </a:fld>
            <a:endParaRPr lang="en-US" dirty="0"/>
          </a:p>
        </p:txBody>
      </p:sp>
      <p:sp>
        <p:nvSpPr>
          <p:cNvPr id="8" name="Footer Placeholder 7">
            <a:extLst>
              <a:ext uri="{FF2B5EF4-FFF2-40B4-BE49-F238E27FC236}">
                <a16:creationId xmlns:a16="http://schemas.microsoft.com/office/drawing/2014/main" id="{E8A49E9A-BB9A-1130-C277-CAA25801407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3223928-16DF-5D79-04FD-E9FBAE970E33}"/>
              </a:ext>
            </a:extLst>
          </p:cNvPr>
          <p:cNvSpPr>
            <a:spLocks noGrp="1"/>
          </p:cNvSpPr>
          <p:nvPr>
            <p:ph type="sldNum" sz="quarter" idx="12"/>
          </p:nvPr>
        </p:nvSpPr>
        <p:spPr/>
        <p:txBody>
          <a:bodyPr/>
          <a:lstStyle/>
          <a:p>
            <a:fld id="{700E9709-502A-AD43-B4F1-601D502E97DD}" type="slidenum">
              <a:rPr lang="en-US" smtClean="0"/>
              <a:t>‹#›</a:t>
            </a:fld>
            <a:endParaRPr lang="en-US" dirty="0"/>
          </a:p>
        </p:txBody>
      </p:sp>
    </p:spTree>
    <p:extLst>
      <p:ext uri="{BB962C8B-B14F-4D97-AF65-F5344CB8AC3E}">
        <p14:creationId xmlns:p14="http://schemas.microsoft.com/office/powerpoint/2010/main" val="3539077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07741-187F-6313-D1E1-3996ACE1C37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6F1DC3C-5A8D-60D9-7ABD-8D28F5DC804E}"/>
              </a:ext>
            </a:extLst>
          </p:cNvPr>
          <p:cNvSpPr>
            <a:spLocks noGrp="1"/>
          </p:cNvSpPr>
          <p:nvPr>
            <p:ph type="dt" sz="half" idx="10"/>
          </p:nvPr>
        </p:nvSpPr>
        <p:spPr/>
        <p:txBody>
          <a:bodyPr/>
          <a:lstStyle/>
          <a:p>
            <a:fld id="{4EA63CA0-9B33-2547-A777-CA99C11D9698}" type="datetimeFigureOut">
              <a:rPr lang="en-US" smtClean="0"/>
              <a:t>9/15/2025</a:t>
            </a:fld>
            <a:endParaRPr lang="en-US" dirty="0"/>
          </a:p>
        </p:txBody>
      </p:sp>
      <p:sp>
        <p:nvSpPr>
          <p:cNvPr id="4" name="Footer Placeholder 3">
            <a:extLst>
              <a:ext uri="{FF2B5EF4-FFF2-40B4-BE49-F238E27FC236}">
                <a16:creationId xmlns:a16="http://schemas.microsoft.com/office/drawing/2014/main" id="{E14F03B3-99E7-DDFA-5D9E-18BFC2F1740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EFB4725-6EBE-F775-2117-F5D4A5AF0CEE}"/>
              </a:ext>
            </a:extLst>
          </p:cNvPr>
          <p:cNvSpPr>
            <a:spLocks noGrp="1"/>
          </p:cNvSpPr>
          <p:nvPr>
            <p:ph type="sldNum" sz="quarter" idx="12"/>
          </p:nvPr>
        </p:nvSpPr>
        <p:spPr/>
        <p:txBody>
          <a:bodyPr/>
          <a:lstStyle/>
          <a:p>
            <a:fld id="{700E9709-502A-AD43-B4F1-601D502E97DD}" type="slidenum">
              <a:rPr lang="en-US" smtClean="0"/>
              <a:t>‹#›</a:t>
            </a:fld>
            <a:endParaRPr lang="en-US" dirty="0"/>
          </a:p>
        </p:txBody>
      </p:sp>
    </p:spTree>
    <p:extLst>
      <p:ext uri="{BB962C8B-B14F-4D97-AF65-F5344CB8AC3E}">
        <p14:creationId xmlns:p14="http://schemas.microsoft.com/office/powerpoint/2010/main" val="2059564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E968C9-DBBA-2A9F-EF11-66590AE5A34A}"/>
              </a:ext>
            </a:extLst>
          </p:cNvPr>
          <p:cNvSpPr>
            <a:spLocks noGrp="1"/>
          </p:cNvSpPr>
          <p:nvPr>
            <p:ph type="dt" sz="half" idx="10"/>
          </p:nvPr>
        </p:nvSpPr>
        <p:spPr/>
        <p:txBody>
          <a:bodyPr/>
          <a:lstStyle/>
          <a:p>
            <a:fld id="{4EA63CA0-9B33-2547-A777-CA99C11D9698}" type="datetimeFigureOut">
              <a:rPr lang="en-US" smtClean="0"/>
              <a:t>9/15/2025</a:t>
            </a:fld>
            <a:endParaRPr lang="en-US" dirty="0"/>
          </a:p>
        </p:txBody>
      </p:sp>
      <p:sp>
        <p:nvSpPr>
          <p:cNvPr id="3" name="Footer Placeholder 2">
            <a:extLst>
              <a:ext uri="{FF2B5EF4-FFF2-40B4-BE49-F238E27FC236}">
                <a16:creationId xmlns:a16="http://schemas.microsoft.com/office/drawing/2014/main" id="{8646A31F-0489-2E50-417E-875A395F380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94E3429-985E-56FC-8910-F8AF7BE998E9}"/>
              </a:ext>
            </a:extLst>
          </p:cNvPr>
          <p:cNvSpPr>
            <a:spLocks noGrp="1"/>
          </p:cNvSpPr>
          <p:nvPr>
            <p:ph type="sldNum" sz="quarter" idx="12"/>
          </p:nvPr>
        </p:nvSpPr>
        <p:spPr/>
        <p:txBody>
          <a:bodyPr/>
          <a:lstStyle/>
          <a:p>
            <a:fld id="{700E9709-502A-AD43-B4F1-601D502E97DD}" type="slidenum">
              <a:rPr lang="en-US" smtClean="0"/>
              <a:t>‹#›</a:t>
            </a:fld>
            <a:endParaRPr lang="en-US" dirty="0"/>
          </a:p>
        </p:txBody>
      </p:sp>
    </p:spTree>
    <p:extLst>
      <p:ext uri="{BB962C8B-B14F-4D97-AF65-F5344CB8AC3E}">
        <p14:creationId xmlns:p14="http://schemas.microsoft.com/office/powerpoint/2010/main" val="1824227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2AF20-0C23-99D2-347B-BCF96B388EB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5E87C29-22FC-C11D-36FC-9C131CED85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638F584-9EFB-149B-FA51-A7F55A8AB0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247F107-0745-41AE-8A36-A0C7A7FD57CA}"/>
              </a:ext>
            </a:extLst>
          </p:cNvPr>
          <p:cNvSpPr>
            <a:spLocks noGrp="1"/>
          </p:cNvSpPr>
          <p:nvPr>
            <p:ph type="dt" sz="half" idx="10"/>
          </p:nvPr>
        </p:nvSpPr>
        <p:spPr/>
        <p:txBody>
          <a:bodyPr/>
          <a:lstStyle/>
          <a:p>
            <a:fld id="{4EA63CA0-9B33-2547-A777-CA99C11D9698}" type="datetimeFigureOut">
              <a:rPr lang="en-US" smtClean="0"/>
              <a:t>9/15/2025</a:t>
            </a:fld>
            <a:endParaRPr lang="en-US" dirty="0"/>
          </a:p>
        </p:txBody>
      </p:sp>
      <p:sp>
        <p:nvSpPr>
          <p:cNvPr id="6" name="Footer Placeholder 5">
            <a:extLst>
              <a:ext uri="{FF2B5EF4-FFF2-40B4-BE49-F238E27FC236}">
                <a16:creationId xmlns:a16="http://schemas.microsoft.com/office/drawing/2014/main" id="{E2DC6FC7-BDE7-61FA-06A6-3B2EB4269C9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7485E9F-35B5-4E54-BCDA-9079E3DDD782}"/>
              </a:ext>
            </a:extLst>
          </p:cNvPr>
          <p:cNvSpPr>
            <a:spLocks noGrp="1"/>
          </p:cNvSpPr>
          <p:nvPr>
            <p:ph type="sldNum" sz="quarter" idx="12"/>
          </p:nvPr>
        </p:nvSpPr>
        <p:spPr/>
        <p:txBody>
          <a:bodyPr/>
          <a:lstStyle/>
          <a:p>
            <a:fld id="{700E9709-502A-AD43-B4F1-601D502E97DD}" type="slidenum">
              <a:rPr lang="en-US" smtClean="0"/>
              <a:t>‹#›</a:t>
            </a:fld>
            <a:endParaRPr lang="en-US" dirty="0"/>
          </a:p>
        </p:txBody>
      </p:sp>
    </p:spTree>
    <p:extLst>
      <p:ext uri="{BB962C8B-B14F-4D97-AF65-F5344CB8AC3E}">
        <p14:creationId xmlns:p14="http://schemas.microsoft.com/office/powerpoint/2010/main" val="2242549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46E17-4D47-F5D0-7DE8-E2DBBF8207E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F5A999E-C2E4-3FE2-91F2-5BE4400B74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E31A008F-7407-7081-726B-2A71239F7A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AF104A3-4E47-9846-1528-FE4374E107E2}"/>
              </a:ext>
            </a:extLst>
          </p:cNvPr>
          <p:cNvSpPr>
            <a:spLocks noGrp="1"/>
          </p:cNvSpPr>
          <p:nvPr>
            <p:ph type="dt" sz="half" idx="10"/>
          </p:nvPr>
        </p:nvSpPr>
        <p:spPr/>
        <p:txBody>
          <a:bodyPr/>
          <a:lstStyle/>
          <a:p>
            <a:fld id="{4EA63CA0-9B33-2547-A777-CA99C11D9698}" type="datetimeFigureOut">
              <a:rPr lang="en-US" smtClean="0"/>
              <a:t>9/15/2025</a:t>
            </a:fld>
            <a:endParaRPr lang="en-US" dirty="0"/>
          </a:p>
        </p:txBody>
      </p:sp>
      <p:sp>
        <p:nvSpPr>
          <p:cNvPr id="6" name="Footer Placeholder 5">
            <a:extLst>
              <a:ext uri="{FF2B5EF4-FFF2-40B4-BE49-F238E27FC236}">
                <a16:creationId xmlns:a16="http://schemas.microsoft.com/office/drawing/2014/main" id="{6EEF1695-A62C-5D3B-319D-1C1B14780A2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3C03A8B-5FAC-D952-10C4-16FBCAB25D66}"/>
              </a:ext>
            </a:extLst>
          </p:cNvPr>
          <p:cNvSpPr>
            <a:spLocks noGrp="1"/>
          </p:cNvSpPr>
          <p:nvPr>
            <p:ph type="sldNum" sz="quarter" idx="12"/>
          </p:nvPr>
        </p:nvSpPr>
        <p:spPr/>
        <p:txBody>
          <a:bodyPr/>
          <a:lstStyle/>
          <a:p>
            <a:fld id="{700E9709-502A-AD43-B4F1-601D502E97DD}" type="slidenum">
              <a:rPr lang="en-US" smtClean="0"/>
              <a:t>‹#›</a:t>
            </a:fld>
            <a:endParaRPr lang="en-US" dirty="0"/>
          </a:p>
        </p:txBody>
      </p:sp>
    </p:spTree>
    <p:extLst>
      <p:ext uri="{BB962C8B-B14F-4D97-AF65-F5344CB8AC3E}">
        <p14:creationId xmlns:p14="http://schemas.microsoft.com/office/powerpoint/2010/main" val="1996611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2ECED-7DC9-52F9-ABFF-C585B6AA91E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8BC8580-4632-E89C-B729-823208B0E30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0D1FC1D-885F-FA86-14DB-E62FECB0F8E4}"/>
              </a:ext>
            </a:extLst>
          </p:cNvPr>
          <p:cNvSpPr>
            <a:spLocks noGrp="1"/>
          </p:cNvSpPr>
          <p:nvPr>
            <p:ph type="dt" sz="half" idx="10"/>
          </p:nvPr>
        </p:nvSpPr>
        <p:spPr/>
        <p:txBody>
          <a:bodyPr/>
          <a:lstStyle/>
          <a:p>
            <a:fld id="{4EA63CA0-9B33-2547-A777-CA99C11D9698}" type="datetimeFigureOut">
              <a:rPr lang="en-US" smtClean="0"/>
              <a:t>9/15/2025</a:t>
            </a:fld>
            <a:endParaRPr lang="en-US" dirty="0"/>
          </a:p>
        </p:txBody>
      </p:sp>
      <p:sp>
        <p:nvSpPr>
          <p:cNvPr id="5" name="Footer Placeholder 4">
            <a:extLst>
              <a:ext uri="{FF2B5EF4-FFF2-40B4-BE49-F238E27FC236}">
                <a16:creationId xmlns:a16="http://schemas.microsoft.com/office/drawing/2014/main" id="{01E77F2E-F715-163D-0CD2-94363A86FD6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EDEAE6-A7D5-32C7-D55E-1AE930E18C0B}"/>
              </a:ext>
            </a:extLst>
          </p:cNvPr>
          <p:cNvSpPr>
            <a:spLocks noGrp="1"/>
          </p:cNvSpPr>
          <p:nvPr>
            <p:ph type="sldNum" sz="quarter" idx="12"/>
          </p:nvPr>
        </p:nvSpPr>
        <p:spPr/>
        <p:txBody>
          <a:bodyPr/>
          <a:lstStyle/>
          <a:p>
            <a:fld id="{700E9709-502A-AD43-B4F1-601D502E97DD}" type="slidenum">
              <a:rPr lang="en-US" smtClean="0"/>
              <a:t>‹#›</a:t>
            </a:fld>
            <a:endParaRPr lang="en-US" dirty="0"/>
          </a:p>
        </p:txBody>
      </p:sp>
    </p:spTree>
    <p:extLst>
      <p:ext uri="{BB962C8B-B14F-4D97-AF65-F5344CB8AC3E}">
        <p14:creationId xmlns:p14="http://schemas.microsoft.com/office/powerpoint/2010/main" val="533898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2437F-D74B-5FFC-B018-FA61C13303E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63CD000-53A1-05D0-AA49-22DF9DACC03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13597BF-0811-1D69-9BD2-4667AA7B6FFB}"/>
              </a:ext>
            </a:extLst>
          </p:cNvPr>
          <p:cNvSpPr>
            <a:spLocks noGrp="1"/>
          </p:cNvSpPr>
          <p:nvPr>
            <p:ph type="dt" sz="half" idx="10"/>
          </p:nvPr>
        </p:nvSpPr>
        <p:spPr/>
        <p:txBody>
          <a:bodyPr/>
          <a:lstStyle/>
          <a:p>
            <a:fld id="{4EA63CA0-9B33-2547-A777-CA99C11D9698}" type="datetimeFigureOut">
              <a:rPr lang="en-US" smtClean="0"/>
              <a:t>9/15/2025</a:t>
            </a:fld>
            <a:endParaRPr lang="en-US" dirty="0"/>
          </a:p>
        </p:txBody>
      </p:sp>
      <p:sp>
        <p:nvSpPr>
          <p:cNvPr id="5" name="Footer Placeholder 4">
            <a:extLst>
              <a:ext uri="{FF2B5EF4-FFF2-40B4-BE49-F238E27FC236}">
                <a16:creationId xmlns:a16="http://schemas.microsoft.com/office/drawing/2014/main" id="{F9208901-181D-9603-64D4-7CC858B4A5D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94BEFC-7A35-1D48-E233-68EBA8A0FA1D}"/>
              </a:ext>
            </a:extLst>
          </p:cNvPr>
          <p:cNvSpPr>
            <a:spLocks noGrp="1"/>
          </p:cNvSpPr>
          <p:nvPr>
            <p:ph type="sldNum" sz="quarter" idx="12"/>
          </p:nvPr>
        </p:nvSpPr>
        <p:spPr/>
        <p:txBody>
          <a:bodyPr/>
          <a:lstStyle/>
          <a:p>
            <a:fld id="{700E9709-502A-AD43-B4F1-601D502E97DD}" type="slidenum">
              <a:rPr lang="en-US" smtClean="0"/>
              <a:t>‹#›</a:t>
            </a:fld>
            <a:endParaRPr lang="en-US" dirty="0"/>
          </a:p>
        </p:txBody>
      </p:sp>
    </p:spTree>
    <p:extLst>
      <p:ext uri="{BB962C8B-B14F-4D97-AF65-F5344CB8AC3E}">
        <p14:creationId xmlns:p14="http://schemas.microsoft.com/office/powerpoint/2010/main" val="2172463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2AA1D2-DD0F-AD4D-B42E-A933602902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0DFD254-C81B-12FA-E510-093D2CD1E5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60A0A0E-D182-D663-C9A6-BA640AAAC5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A63CA0-9B33-2547-A777-CA99C11D9698}" type="datetimeFigureOut">
              <a:rPr lang="en-US" smtClean="0"/>
              <a:t>9/15/2025</a:t>
            </a:fld>
            <a:endParaRPr lang="en-US" dirty="0"/>
          </a:p>
        </p:txBody>
      </p:sp>
      <p:sp>
        <p:nvSpPr>
          <p:cNvPr id="5" name="Footer Placeholder 4">
            <a:extLst>
              <a:ext uri="{FF2B5EF4-FFF2-40B4-BE49-F238E27FC236}">
                <a16:creationId xmlns:a16="http://schemas.microsoft.com/office/drawing/2014/main" id="{82A19EFD-1987-06F2-0D5F-0116CA77C6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7E437FB8-D7E2-E687-D1EA-DEED084A05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0E9709-502A-AD43-B4F1-601D502E97DD}" type="slidenum">
              <a:rPr lang="en-US" smtClean="0"/>
              <a:t>‹#›</a:t>
            </a:fld>
            <a:endParaRPr lang="en-US" dirty="0"/>
          </a:p>
        </p:txBody>
      </p:sp>
    </p:spTree>
    <p:extLst>
      <p:ext uri="{BB962C8B-B14F-4D97-AF65-F5344CB8AC3E}">
        <p14:creationId xmlns:p14="http://schemas.microsoft.com/office/powerpoint/2010/main" val="3263902306"/>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2.png"/><Relationship Id="rId7"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oleObject" Target="../embeddings/oleObject2.bin"/><Relationship Id="rId11" Type="http://schemas.openxmlformats.org/officeDocument/2006/relationships/image" Target="../media/image6.emf"/><Relationship Id="rId5" Type="http://schemas.openxmlformats.org/officeDocument/2006/relationships/image" Target="../media/image3.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5.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10.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9.png"/><Relationship Id="rId4" Type="http://schemas.openxmlformats.org/officeDocument/2006/relationships/image" Target="../media/image8.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oleObject" Target="../embeddings/oleObject8.bin"/><Relationship Id="rId4" Type="http://schemas.openxmlformats.org/officeDocument/2006/relationships/image" Target="../media/image11.emf"/></Relationships>
</file>

<file path=ppt/slides/_rels/slide1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wmf"/><Relationship Id="rId5" Type="http://schemas.openxmlformats.org/officeDocument/2006/relationships/oleObject" Target="../embeddings/oleObject13.bin"/><Relationship Id="rId4" Type="http://schemas.openxmlformats.org/officeDocument/2006/relationships/image" Target="../media/image16.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4.bin"/><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oleObject" Target="../embeddings/oleObject15.bin"/></Relationships>
</file>

<file path=ppt/slides/_rels/slide1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oleObject" Target="../embeddings/oleObject16.bin"/></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oleObject" Target="../embeddings/oleObject17.bin"/><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250.png"/><Relationship Id="rId7" Type="http://schemas.openxmlformats.org/officeDocument/2006/relationships/image" Target="../media/image28.w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oleObject" Target="../embeddings/oleObject19.bin"/><Relationship Id="rId5" Type="http://schemas.openxmlformats.org/officeDocument/2006/relationships/image" Target="../media/image27.wmf"/><Relationship Id="rId4" Type="http://schemas.openxmlformats.org/officeDocument/2006/relationships/oleObject" Target="../embeddings/oleObject18.bin"/><Relationship Id="rId9" Type="http://schemas.openxmlformats.org/officeDocument/2006/relationships/image" Target="../media/image29.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1.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3.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 Id="rId5" Type="http://schemas.openxmlformats.org/officeDocument/2006/relationships/image" Target="../media/image39.wmf"/><Relationship Id="rId4" Type="http://schemas.openxmlformats.org/officeDocument/2006/relationships/oleObject" Target="../embeddings/oleObject25.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26.bin"/><Relationship Id="rId1" Type="http://schemas.openxmlformats.org/officeDocument/2006/relationships/slideLayout" Target="../slideLayouts/slideLayout2.xml"/><Relationship Id="rId5" Type="http://schemas.openxmlformats.org/officeDocument/2006/relationships/image" Target="../media/image41.emf"/><Relationship Id="rId4" Type="http://schemas.openxmlformats.org/officeDocument/2006/relationships/oleObject" Target="../embeddings/oleObject27.bin"/></Relationships>
</file>

<file path=ppt/slides/_rels/slide33.xml.rels><?xml version="1.0" encoding="UTF-8" standalone="yes"?>
<Relationships xmlns="http://schemas.openxmlformats.org/package/2006/relationships"><Relationship Id="rId3" Type="http://schemas.openxmlformats.org/officeDocument/2006/relationships/image" Target="../media/image42.emf"/><Relationship Id="rId7" Type="http://schemas.openxmlformats.org/officeDocument/2006/relationships/image" Target="../media/image44.wmf"/><Relationship Id="rId2"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30.bin"/><Relationship Id="rId5" Type="http://schemas.openxmlformats.org/officeDocument/2006/relationships/image" Target="../media/image43.wmf"/><Relationship Id="rId4" Type="http://schemas.openxmlformats.org/officeDocument/2006/relationships/oleObject" Target="../embeddings/oleObject29.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1.bin"/><Relationship Id="rId7"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6.wmf"/><Relationship Id="rId5" Type="http://schemas.openxmlformats.org/officeDocument/2006/relationships/oleObject" Target="../embeddings/oleObject32.bin"/><Relationship Id="rId4" Type="http://schemas.openxmlformats.org/officeDocument/2006/relationships/image" Target="../media/image45.wmf"/></Relationships>
</file>

<file path=ppt/slides/_rels/slide36.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oleObject" Target="../embeddings/oleObject33.bin"/><Relationship Id="rId1" Type="http://schemas.openxmlformats.org/officeDocument/2006/relationships/slideLayout" Target="../slideLayouts/slideLayout2.xml"/><Relationship Id="rId5" Type="http://schemas.openxmlformats.org/officeDocument/2006/relationships/image" Target="../media/image49.emf"/><Relationship Id="rId4" Type="http://schemas.openxmlformats.org/officeDocument/2006/relationships/oleObject" Target="../embeddings/oleObject34.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0.emf"/></Relationships>
</file>

<file path=ppt/slides/_rels/slide3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 name="Title 1">
            <a:extLst>
              <a:ext uri="{FF2B5EF4-FFF2-40B4-BE49-F238E27FC236}">
                <a16:creationId xmlns:a16="http://schemas.microsoft.com/office/drawing/2014/main" id="{BE38CE36-BFBF-9F74-0D23-4412B72280F3}"/>
              </a:ext>
            </a:extLst>
          </p:cNvPr>
          <p:cNvSpPr>
            <a:spLocks noGrp="1"/>
          </p:cNvSpPr>
          <p:nvPr>
            <p:ph type="ctrTitle"/>
          </p:nvPr>
        </p:nvSpPr>
        <p:spPr>
          <a:xfrm>
            <a:off x="1070516" y="1741337"/>
            <a:ext cx="10928195" cy="2387918"/>
          </a:xfrm>
        </p:spPr>
        <p:txBody>
          <a:bodyPr anchor="b">
            <a:normAutofit/>
          </a:bodyPr>
          <a:lstStyle/>
          <a:p>
            <a:r>
              <a:rPr lang="en-US" sz="5200" dirty="0">
                <a:solidFill>
                  <a:schemeClr val="tx2"/>
                </a:solidFill>
              </a:rPr>
              <a:t>Introduction to Multivariate Statistics</a:t>
            </a:r>
            <a:br>
              <a:rPr lang="en-US" sz="5200" dirty="0">
                <a:solidFill>
                  <a:schemeClr val="tx2"/>
                </a:solidFill>
              </a:rPr>
            </a:br>
            <a:r>
              <a:rPr lang="en-US" sz="5200" dirty="0">
                <a:solidFill>
                  <a:schemeClr val="tx2"/>
                </a:solidFill>
              </a:rPr>
              <a:t>DATA 366</a:t>
            </a:r>
          </a:p>
        </p:txBody>
      </p:sp>
      <p:sp>
        <p:nvSpPr>
          <p:cNvPr id="3" name="Subtitle 2">
            <a:extLst>
              <a:ext uri="{FF2B5EF4-FFF2-40B4-BE49-F238E27FC236}">
                <a16:creationId xmlns:a16="http://schemas.microsoft.com/office/drawing/2014/main" id="{3BF05301-448C-A717-DF3F-F95C657A1812}"/>
              </a:ext>
            </a:extLst>
          </p:cNvPr>
          <p:cNvSpPr>
            <a:spLocks noGrp="1"/>
          </p:cNvSpPr>
          <p:nvPr>
            <p:ph type="subTitle" idx="1"/>
          </p:nvPr>
        </p:nvSpPr>
        <p:spPr>
          <a:xfrm>
            <a:off x="2725505" y="4404732"/>
            <a:ext cx="6740685" cy="1282390"/>
          </a:xfrm>
        </p:spPr>
        <p:txBody>
          <a:bodyPr>
            <a:normAutofit/>
          </a:bodyPr>
          <a:lstStyle/>
          <a:p>
            <a:r>
              <a:rPr lang="en-US" sz="2400" b="1" dirty="0">
                <a:solidFill>
                  <a:schemeClr val="tx2"/>
                </a:solidFill>
              </a:rPr>
              <a:t>       Week 2: Matrix Algebra </a:t>
            </a:r>
            <a:endParaRPr lang="en-US" b="1" dirty="0">
              <a:solidFill>
                <a:schemeClr val="tx2"/>
              </a:solidFill>
            </a:endParaRPr>
          </a:p>
          <a:p>
            <a:r>
              <a:rPr lang="en-US" dirty="0">
                <a:solidFill>
                  <a:schemeClr val="tx2"/>
                </a:solidFill>
              </a:rPr>
              <a:t>          Dr. Zakir</a:t>
            </a:r>
          </a:p>
        </p:txBody>
      </p:sp>
      <p:grpSp>
        <p:nvGrpSpPr>
          <p:cNvPr id="25" name="Group 24">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26" name="Freeform: Shape 12">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13">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14">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15">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31" name="Freeform: Shape 18">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32840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5352-2260-A26E-7BBA-B168C0B6CB6F}"/>
              </a:ext>
            </a:extLst>
          </p:cNvPr>
          <p:cNvSpPr>
            <a:spLocks noGrp="1"/>
          </p:cNvSpPr>
          <p:nvPr>
            <p:ph type="title"/>
          </p:nvPr>
        </p:nvSpPr>
        <p:spPr>
          <a:xfrm>
            <a:off x="223024" y="365126"/>
            <a:ext cx="11745952" cy="683746"/>
          </a:xfrm>
        </p:spPr>
        <p:txBody>
          <a:bodyPr>
            <a:normAutofit/>
          </a:bodyPr>
          <a:lstStyle/>
          <a:p>
            <a:pPr algn="ctr"/>
            <a:r>
              <a:rPr lang="en-US" sz="3000" dirty="0">
                <a:latin typeface="Segoe UI" panose="020B0502040204020203" pitchFamily="34" charset="0"/>
                <a:cs typeface="Segoe UI" panose="020B0502040204020203" pitchFamily="34" charset="0"/>
              </a:rPr>
              <a:t>Matrix Algebra Review</a:t>
            </a:r>
          </a:p>
        </p:txBody>
      </p:sp>
      <p:sp>
        <p:nvSpPr>
          <p:cNvPr id="3" name="Content Placeholder 2">
            <a:extLst>
              <a:ext uri="{FF2B5EF4-FFF2-40B4-BE49-F238E27FC236}">
                <a16:creationId xmlns:a16="http://schemas.microsoft.com/office/drawing/2014/main" id="{60D9AADC-3434-81BD-3088-7C8C9EF4419E}"/>
              </a:ext>
            </a:extLst>
          </p:cNvPr>
          <p:cNvSpPr>
            <a:spLocks noGrp="1"/>
          </p:cNvSpPr>
          <p:nvPr>
            <p:ph idx="1"/>
          </p:nvPr>
        </p:nvSpPr>
        <p:spPr>
          <a:xfrm>
            <a:off x="223024" y="1223010"/>
            <a:ext cx="11864898" cy="5534628"/>
          </a:xfrm>
        </p:spPr>
        <p:txBody>
          <a:bodyPr>
            <a:normAutofit fontScale="92500" lnSpcReduction="10000"/>
          </a:bodyPr>
          <a:lstStyle/>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Vector</a:t>
            </a:r>
          </a:p>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Length of a Vector</a:t>
            </a:r>
          </a:p>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Projection of a Vector on Another Vector</a:t>
            </a:r>
          </a:p>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Angle between Two Vectors</a:t>
            </a:r>
          </a:p>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Inner Product of Two Vectors</a:t>
            </a:r>
          </a:p>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Linearly Dependent Vectors</a:t>
            </a:r>
          </a:p>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Matrices</a:t>
            </a:r>
          </a:p>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Eigenvalues and Eigenvectors of a Matrix</a:t>
            </a:r>
          </a:p>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Spectral Decomposition of a Matrix</a:t>
            </a:r>
          </a:p>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Positive Definite Matrix</a:t>
            </a:r>
          </a:p>
          <a:p>
            <a:pPr>
              <a:lnSpc>
                <a:spcPct val="150000"/>
              </a:lnSpc>
            </a:pPr>
            <a:endParaRPr lang="en-US" sz="1800"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endParaRPr lang="en-US" sz="2800" b="1" dirty="0"/>
          </a:p>
          <a:p>
            <a:endParaRPr lang="en-US" b="1"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228870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0A9BB-61E8-87EE-9CDB-727FF97CB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63FFE-4F3E-E9E7-3AF2-13F9177CCE04}"/>
              </a:ext>
            </a:extLst>
          </p:cNvPr>
          <p:cNvSpPr>
            <a:spLocks noGrp="1"/>
          </p:cNvSpPr>
          <p:nvPr>
            <p:ph type="title"/>
          </p:nvPr>
        </p:nvSpPr>
        <p:spPr>
          <a:xfrm>
            <a:off x="223024" y="365126"/>
            <a:ext cx="11745952" cy="683746"/>
          </a:xfrm>
        </p:spPr>
        <p:txBody>
          <a:bodyPr>
            <a:normAutofit/>
          </a:bodyPr>
          <a:lstStyle/>
          <a:p>
            <a:pPr algn="ctr"/>
            <a:r>
              <a:rPr lang="en-US" sz="3000" dirty="0">
                <a:latin typeface="Segoe UI" panose="020B0502040204020203" pitchFamily="34" charset="0"/>
                <a:cs typeface="Segoe UI" panose="020B0502040204020203" pitchFamily="34" charset="0"/>
              </a:rPr>
              <a:t>Matrix Algebra Review</a:t>
            </a:r>
          </a:p>
        </p:txBody>
      </p:sp>
      <p:sp>
        <p:nvSpPr>
          <p:cNvPr id="3" name="Content Placeholder 2">
            <a:extLst>
              <a:ext uri="{FF2B5EF4-FFF2-40B4-BE49-F238E27FC236}">
                <a16:creationId xmlns:a16="http://schemas.microsoft.com/office/drawing/2014/main" id="{942ECB97-A3F8-4BFF-3C0D-5287456A8212}"/>
              </a:ext>
            </a:extLst>
          </p:cNvPr>
          <p:cNvSpPr>
            <a:spLocks noGrp="1"/>
          </p:cNvSpPr>
          <p:nvPr>
            <p:ph idx="1"/>
          </p:nvPr>
        </p:nvSpPr>
        <p:spPr>
          <a:xfrm>
            <a:off x="223024" y="1223010"/>
            <a:ext cx="11864898" cy="5534628"/>
          </a:xfrm>
        </p:spPr>
        <p:txBody>
          <a:bodyPr>
            <a:normAutofit lnSpcReduction="10000"/>
          </a:bodyPr>
          <a:lstStyle/>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Length of a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Angle between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Inner Product of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Linearly Dependent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Projection of a Vector on Another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Matrices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Eigenvalues and Eigenvectors of a 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Spectral Decomposition of a 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Positive Definite Matrix</a:t>
            </a:r>
          </a:p>
          <a:p>
            <a:pPr>
              <a:lnSpc>
                <a:spcPct val="150000"/>
              </a:lnSpc>
            </a:pPr>
            <a:endParaRPr lang="en-US" sz="1800"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endParaRPr lang="en-US" sz="2800" b="1" dirty="0"/>
          </a:p>
          <a:p>
            <a:endParaRPr lang="en-US" b="1"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3443555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1796A-DE32-0477-CD1C-CB7B7E1AF1AE}"/>
              </a:ext>
            </a:extLst>
          </p:cNvPr>
          <p:cNvSpPr>
            <a:spLocks noGrp="1"/>
          </p:cNvSpPr>
          <p:nvPr>
            <p:ph type="title"/>
          </p:nvPr>
        </p:nvSpPr>
        <p:spPr>
          <a:xfrm>
            <a:off x="838200" y="215153"/>
            <a:ext cx="10515600" cy="735107"/>
          </a:xfrm>
        </p:spPr>
        <p:txBody>
          <a:bodyPr>
            <a:normAutofit/>
          </a:bodyPr>
          <a:lstStyle/>
          <a:p>
            <a:pPr algn="ctr"/>
            <a:r>
              <a:rPr lang="en-US" dirty="0">
                <a:latin typeface="Segoe UI" panose="020B0502040204020203" pitchFamily="34" charset="0"/>
                <a:cs typeface="Segoe UI" panose="020B0502040204020203" pitchFamily="34" charset="0"/>
              </a:rPr>
              <a:t>Vectors: A Particular Type of Matrix</a:t>
            </a:r>
          </a:p>
        </p:txBody>
      </p:sp>
      <p:sp>
        <p:nvSpPr>
          <p:cNvPr id="3" name="Content Placeholder 2">
            <a:extLst>
              <a:ext uri="{FF2B5EF4-FFF2-40B4-BE49-F238E27FC236}">
                <a16:creationId xmlns:a16="http://schemas.microsoft.com/office/drawing/2014/main" id="{928087F3-7807-3C8B-A0EC-EA47B5D18D80}"/>
              </a:ext>
            </a:extLst>
          </p:cNvPr>
          <p:cNvSpPr>
            <a:spLocks noGrp="1"/>
          </p:cNvSpPr>
          <p:nvPr>
            <p:ph idx="1"/>
          </p:nvPr>
        </p:nvSpPr>
        <p:spPr>
          <a:xfrm>
            <a:off x="259976" y="1201271"/>
            <a:ext cx="11698942" cy="5441576"/>
          </a:xfrm>
        </p:spPr>
        <p:txBody>
          <a:bodyPr>
            <a:normAutofit/>
          </a:bodyPr>
          <a:lstStyle/>
          <a:p>
            <a:pPr>
              <a:buFont typeface="Wingdings" panose="05000000000000000000" pitchFamily="2" charset="2"/>
              <a:buChar char="v"/>
            </a:pPr>
            <a:r>
              <a:rPr lang="en-US" sz="2200" b="1" dirty="0">
                <a:latin typeface="Segoe UI" panose="020B0502040204020203" pitchFamily="34" charset="0"/>
                <a:cs typeface="Segoe UI" panose="020B0502040204020203" pitchFamily="34" charset="0"/>
              </a:rPr>
              <a:t>Vectors</a:t>
            </a:r>
            <a:r>
              <a:rPr lang="en-US" sz="2200" dirty="0">
                <a:latin typeface="Segoe UI" panose="020B0502040204020203" pitchFamily="34" charset="0"/>
                <a:cs typeface="Segoe UI" panose="020B0502040204020203" pitchFamily="34" charset="0"/>
              </a:rPr>
              <a:t> are matrices that have a single row  or column </a:t>
            </a: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A vector of order r ✕ 1 is a </a:t>
            </a:r>
            <a:r>
              <a:rPr lang="en-US" sz="2200" b="1" dirty="0">
                <a:latin typeface="Segoe UI" panose="020B0502040204020203" pitchFamily="34" charset="0"/>
                <a:cs typeface="Segoe UI" panose="020B0502040204020203" pitchFamily="34" charset="0"/>
              </a:rPr>
              <a:t>column vector </a:t>
            </a: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A vector of order 1 ✕ c is a </a:t>
            </a:r>
            <a:r>
              <a:rPr lang="en-US" sz="2200" b="1" dirty="0">
                <a:latin typeface="Segoe UI" panose="020B0502040204020203" pitchFamily="34" charset="0"/>
                <a:cs typeface="Segoe UI" panose="020B0502040204020203" pitchFamily="34" charset="0"/>
              </a:rPr>
              <a:t>row vector </a:t>
            </a: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Vectors are usually denoted by a lower-case bold letter as column vectors.</a:t>
            </a:r>
          </a:p>
        </p:txBody>
      </p:sp>
      <p:pic>
        <p:nvPicPr>
          <p:cNvPr id="4" name="Picture 3">
            <a:extLst>
              <a:ext uri="{FF2B5EF4-FFF2-40B4-BE49-F238E27FC236}">
                <a16:creationId xmlns:a16="http://schemas.microsoft.com/office/drawing/2014/main" id="{42ADAC78-E5A1-B955-A097-22C2F84E7324}"/>
              </a:ext>
            </a:extLst>
          </p:cNvPr>
          <p:cNvPicPr>
            <a:picLocks noChangeAspect="1"/>
          </p:cNvPicPr>
          <p:nvPr/>
        </p:nvPicPr>
        <p:blipFill>
          <a:blip r:embed="rId3"/>
          <a:stretch>
            <a:fillRect/>
          </a:stretch>
        </p:blipFill>
        <p:spPr>
          <a:xfrm>
            <a:off x="475129" y="3137841"/>
            <a:ext cx="10884390" cy="3020912"/>
          </a:xfrm>
          <a:prstGeom prst="rect">
            <a:avLst/>
          </a:prstGeom>
        </p:spPr>
      </p:pic>
    </p:spTree>
    <p:extLst>
      <p:ext uri="{BB962C8B-B14F-4D97-AF65-F5344CB8AC3E}">
        <p14:creationId xmlns:p14="http://schemas.microsoft.com/office/powerpoint/2010/main" val="640950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1D069-62C4-9312-7917-CD0D5C648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F193F-A0BE-8CC3-CF85-130EEC8B22A9}"/>
              </a:ext>
            </a:extLst>
          </p:cNvPr>
          <p:cNvSpPr>
            <a:spLocks noGrp="1"/>
          </p:cNvSpPr>
          <p:nvPr>
            <p:ph type="title"/>
          </p:nvPr>
        </p:nvSpPr>
        <p:spPr>
          <a:xfrm>
            <a:off x="223024" y="365126"/>
            <a:ext cx="11745952" cy="683746"/>
          </a:xfrm>
        </p:spPr>
        <p:txBody>
          <a:bodyPr>
            <a:normAutofit/>
          </a:bodyPr>
          <a:lstStyle/>
          <a:p>
            <a:pPr algn="ctr"/>
            <a:r>
              <a:rPr lang="en-US" sz="3000" dirty="0">
                <a:latin typeface="Segoe UI" panose="020B0502040204020203" pitchFamily="34" charset="0"/>
                <a:cs typeface="Segoe UI" panose="020B0502040204020203" pitchFamily="34" charset="0"/>
              </a:rPr>
              <a:t>Matrix Algebra Review</a:t>
            </a:r>
          </a:p>
        </p:txBody>
      </p:sp>
      <p:sp>
        <p:nvSpPr>
          <p:cNvPr id="3" name="Content Placeholder 2">
            <a:extLst>
              <a:ext uri="{FF2B5EF4-FFF2-40B4-BE49-F238E27FC236}">
                <a16:creationId xmlns:a16="http://schemas.microsoft.com/office/drawing/2014/main" id="{F74DA085-92FA-EABE-52AC-F57A886AF015}"/>
              </a:ext>
            </a:extLst>
          </p:cNvPr>
          <p:cNvSpPr>
            <a:spLocks noGrp="1"/>
          </p:cNvSpPr>
          <p:nvPr>
            <p:ph idx="1"/>
          </p:nvPr>
        </p:nvSpPr>
        <p:spPr>
          <a:xfrm>
            <a:off x="223024" y="1223010"/>
            <a:ext cx="11864898" cy="5534628"/>
          </a:xfrm>
        </p:spPr>
        <p:txBody>
          <a:bodyPr>
            <a:normAutofit lnSpcReduction="10000"/>
          </a:bodyPr>
          <a:lstStyle/>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Vector</a:t>
            </a:r>
          </a:p>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Length of a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Angle between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Inner Product of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Linearly Dependent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Projection of a Vector on Another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Matrices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Eigenvalues and Eigenvectors of a 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Spectral Decomposition of a 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Positive Definite Matrix</a:t>
            </a:r>
          </a:p>
          <a:p>
            <a:pPr>
              <a:lnSpc>
                <a:spcPct val="150000"/>
              </a:lnSpc>
            </a:pPr>
            <a:endParaRPr lang="en-US" sz="1800"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endParaRPr lang="en-US" sz="2800" b="1" dirty="0"/>
          </a:p>
          <a:p>
            <a:endParaRPr lang="en-US" b="1"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2298715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0FE15-4A68-FC9B-3C92-5DD4847E2D8A}"/>
              </a:ext>
            </a:extLst>
          </p:cNvPr>
          <p:cNvSpPr>
            <a:spLocks noGrp="1"/>
          </p:cNvSpPr>
          <p:nvPr>
            <p:ph type="title"/>
          </p:nvPr>
        </p:nvSpPr>
        <p:spPr>
          <a:xfrm>
            <a:off x="838200" y="116541"/>
            <a:ext cx="10515600" cy="1138519"/>
          </a:xfrm>
        </p:spPr>
        <p:txBody>
          <a:bodyPr>
            <a:normAutofit fontScale="90000"/>
          </a:bodyPr>
          <a:lstStyle/>
          <a:p>
            <a:pPr algn="ct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Length/Norm of a Vector</a:t>
            </a:r>
            <a:br>
              <a:rPr lang="en-US" dirty="0">
                <a:latin typeface="Segoe UI" panose="020B0502040204020203" pitchFamily="34" charset="0"/>
                <a:cs typeface="Segoe UI" panose="020B0502040204020203" pitchFamily="34" charset="0"/>
              </a:rPr>
            </a:br>
            <a:endParaRPr lang="en-US" dirty="0"/>
          </a:p>
        </p:txBody>
      </p:sp>
      <p:sp>
        <p:nvSpPr>
          <p:cNvPr id="3" name="Content Placeholder 2">
            <a:extLst>
              <a:ext uri="{FF2B5EF4-FFF2-40B4-BE49-F238E27FC236}">
                <a16:creationId xmlns:a16="http://schemas.microsoft.com/office/drawing/2014/main" id="{A1768955-DC66-1284-0ADE-66ABC23C5D4E}"/>
              </a:ext>
            </a:extLst>
          </p:cNvPr>
          <p:cNvSpPr>
            <a:spLocks noGrp="1"/>
          </p:cNvSpPr>
          <p:nvPr>
            <p:ph idx="1"/>
          </p:nvPr>
        </p:nvSpPr>
        <p:spPr>
          <a:xfrm>
            <a:off x="251012" y="1183341"/>
            <a:ext cx="6974541" cy="4993622"/>
          </a:xfrm>
        </p:spPr>
        <p:txBody>
          <a:bodyPr/>
          <a:lstStyle/>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To find the </a:t>
            </a:r>
            <a:r>
              <a:rPr lang="en-US" sz="2200" b="1" dirty="0">
                <a:latin typeface="Segoe UI" panose="020B0502040204020203" pitchFamily="34" charset="0"/>
                <a:cs typeface="Segoe UI" panose="020B0502040204020203" pitchFamily="34" charset="0"/>
              </a:rPr>
              <a:t>length (magnitude)</a:t>
            </a:r>
            <a:r>
              <a:rPr lang="en-US" sz="2200" dirty="0">
                <a:latin typeface="Segoe UI" panose="020B0502040204020203" pitchFamily="34" charset="0"/>
                <a:cs typeface="Segoe UI" panose="020B0502040204020203" pitchFamily="34" charset="0"/>
              </a:rPr>
              <a:t> of the vector    , we use the formula</a:t>
            </a:r>
          </a:p>
          <a:p>
            <a:endParaRPr lang="en-US" dirty="0"/>
          </a:p>
          <a:p>
            <a:endParaRPr lang="en-US" dirty="0"/>
          </a:p>
        </p:txBody>
      </p:sp>
      <p:pic>
        <p:nvPicPr>
          <p:cNvPr id="4" name="Picture 3">
            <a:extLst>
              <a:ext uri="{FF2B5EF4-FFF2-40B4-BE49-F238E27FC236}">
                <a16:creationId xmlns:a16="http://schemas.microsoft.com/office/drawing/2014/main" id="{8429D6F2-74AF-9640-7705-BBE6481C51EC}"/>
              </a:ext>
            </a:extLst>
          </p:cNvPr>
          <p:cNvPicPr>
            <a:picLocks noChangeAspect="1"/>
          </p:cNvPicPr>
          <p:nvPr/>
        </p:nvPicPr>
        <p:blipFill>
          <a:blip r:embed="rId3"/>
          <a:stretch>
            <a:fillRect/>
          </a:stretch>
        </p:blipFill>
        <p:spPr>
          <a:xfrm>
            <a:off x="7098500" y="959403"/>
            <a:ext cx="5003854" cy="5434051"/>
          </a:xfrm>
          <a:prstGeom prst="rect">
            <a:avLst/>
          </a:prstGeom>
        </p:spPr>
      </p:pic>
      <p:graphicFrame>
        <p:nvGraphicFramePr>
          <p:cNvPr id="6" name="Object 5">
            <a:extLst>
              <a:ext uri="{FF2B5EF4-FFF2-40B4-BE49-F238E27FC236}">
                <a16:creationId xmlns:a16="http://schemas.microsoft.com/office/drawing/2014/main" id="{7F308BA9-01E1-9EB0-0EE2-F069108A0A34}"/>
              </a:ext>
            </a:extLst>
          </p:cNvPr>
          <p:cNvGraphicFramePr>
            <a:graphicFrameLocks noChangeAspect="1"/>
          </p:cNvGraphicFramePr>
          <p:nvPr>
            <p:extLst>
              <p:ext uri="{D42A27DB-BD31-4B8C-83A1-F6EECF244321}">
                <p14:modId xmlns:p14="http://schemas.microsoft.com/office/powerpoint/2010/main" val="2794483868"/>
              </p:ext>
            </p:extLst>
          </p:nvPr>
        </p:nvGraphicFramePr>
        <p:xfrm>
          <a:off x="891988" y="3550845"/>
          <a:ext cx="4365625" cy="738188"/>
        </p:xfrm>
        <a:graphic>
          <a:graphicData uri="http://schemas.openxmlformats.org/presentationml/2006/ole">
            <mc:AlternateContent xmlns:mc="http://schemas.openxmlformats.org/markup-compatibility/2006">
              <mc:Choice xmlns:v="urn:schemas-microsoft-com:vml" Requires="v">
                <p:oleObj name="Equation" r:id="rId4" imgW="1726920" imgH="291960" progId="Equation.DSMT4">
                  <p:embed/>
                </p:oleObj>
              </mc:Choice>
              <mc:Fallback>
                <p:oleObj name="Equation" r:id="rId4" imgW="1726920" imgH="291960" progId="Equation.DSMT4">
                  <p:embed/>
                  <p:pic>
                    <p:nvPicPr>
                      <p:cNvPr id="0" name=""/>
                      <p:cNvPicPr/>
                      <p:nvPr/>
                    </p:nvPicPr>
                    <p:blipFill>
                      <a:blip r:embed="rId5"/>
                      <a:stretch>
                        <a:fillRect/>
                      </a:stretch>
                    </p:blipFill>
                    <p:spPr>
                      <a:xfrm>
                        <a:off x="891988" y="3550845"/>
                        <a:ext cx="4365625" cy="738188"/>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9DABB10B-DE26-B1E8-2CE0-B2BBCF3F0987}"/>
              </a:ext>
            </a:extLst>
          </p:cNvPr>
          <p:cNvGraphicFramePr>
            <a:graphicFrameLocks noChangeAspect="1"/>
          </p:cNvGraphicFramePr>
          <p:nvPr>
            <p:extLst>
              <p:ext uri="{D42A27DB-BD31-4B8C-83A1-F6EECF244321}">
                <p14:modId xmlns:p14="http://schemas.microsoft.com/office/powerpoint/2010/main" val="2606028270"/>
              </p:ext>
            </p:extLst>
          </p:nvPr>
        </p:nvGraphicFramePr>
        <p:xfrm>
          <a:off x="1697404" y="2018186"/>
          <a:ext cx="2545697" cy="1204047"/>
        </p:xfrm>
        <a:graphic>
          <a:graphicData uri="http://schemas.openxmlformats.org/presentationml/2006/ole">
            <mc:AlternateContent xmlns:mc="http://schemas.openxmlformats.org/markup-compatibility/2006">
              <mc:Choice xmlns:v="urn:schemas-microsoft-com:vml" Requires="v">
                <p:oleObj name="Equation" r:id="rId6" imgW="1057824" imgH="500555" progId="Equation.DSMT4">
                  <p:embed/>
                </p:oleObj>
              </mc:Choice>
              <mc:Fallback>
                <p:oleObj name="Equation" r:id="rId6" imgW="1057824" imgH="500555" progId="Equation.DSMT4">
                  <p:embed/>
                  <p:pic>
                    <p:nvPicPr>
                      <p:cNvPr id="0" name=""/>
                      <p:cNvPicPr/>
                      <p:nvPr/>
                    </p:nvPicPr>
                    <p:blipFill>
                      <a:blip r:embed="rId7"/>
                      <a:stretch>
                        <a:fillRect/>
                      </a:stretch>
                    </p:blipFill>
                    <p:spPr>
                      <a:xfrm>
                        <a:off x="1697404" y="2018186"/>
                        <a:ext cx="2545697" cy="1204047"/>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278A3696-AD8B-4AC9-2C37-FC510FF7799B}"/>
              </a:ext>
            </a:extLst>
          </p:cNvPr>
          <p:cNvGraphicFramePr>
            <a:graphicFrameLocks noChangeAspect="1"/>
          </p:cNvGraphicFramePr>
          <p:nvPr>
            <p:extLst>
              <p:ext uri="{D42A27DB-BD31-4B8C-83A1-F6EECF244321}">
                <p14:modId xmlns:p14="http://schemas.microsoft.com/office/powerpoint/2010/main" val="1875574113"/>
              </p:ext>
            </p:extLst>
          </p:nvPr>
        </p:nvGraphicFramePr>
        <p:xfrm>
          <a:off x="6166685" y="1088050"/>
          <a:ext cx="366522" cy="513972"/>
        </p:xfrm>
        <a:graphic>
          <a:graphicData uri="http://schemas.openxmlformats.org/presentationml/2006/ole">
            <mc:AlternateContent xmlns:mc="http://schemas.openxmlformats.org/markup-compatibility/2006">
              <mc:Choice xmlns:v="urn:schemas-microsoft-com:vml" Requires="v">
                <p:oleObj name="Equation" r:id="rId8" imgW="138886" imgH="194310" progId="Equation.DSMT4">
                  <p:embed/>
                </p:oleObj>
              </mc:Choice>
              <mc:Fallback>
                <p:oleObj name="Equation" r:id="rId8" imgW="138886" imgH="194310" progId="Equation.DSMT4">
                  <p:embed/>
                  <p:pic>
                    <p:nvPicPr>
                      <p:cNvPr id="0" name=""/>
                      <p:cNvPicPr/>
                      <p:nvPr/>
                    </p:nvPicPr>
                    <p:blipFill>
                      <a:blip r:embed="rId9"/>
                      <a:stretch>
                        <a:fillRect/>
                      </a:stretch>
                    </p:blipFill>
                    <p:spPr>
                      <a:xfrm>
                        <a:off x="6166685" y="1088050"/>
                        <a:ext cx="366522" cy="513972"/>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A6D7CA6C-31C8-D0D6-6D29-138CF7E75BEF}"/>
              </a:ext>
            </a:extLst>
          </p:cNvPr>
          <p:cNvGraphicFramePr>
            <a:graphicFrameLocks noChangeAspect="1"/>
          </p:cNvGraphicFramePr>
          <p:nvPr>
            <p:extLst>
              <p:ext uri="{D42A27DB-BD31-4B8C-83A1-F6EECF244321}">
                <p14:modId xmlns:p14="http://schemas.microsoft.com/office/powerpoint/2010/main" val="918101683"/>
              </p:ext>
            </p:extLst>
          </p:nvPr>
        </p:nvGraphicFramePr>
        <p:xfrm>
          <a:off x="1504523" y="4750715"/>
          <a:ext cx="2931459" cy="1210236"/>
        </p:xfrm>
        <a:graphic>
          <a:graphicData uri="http://schemas.openxmlformats.org/presentationml/2006/ole">
            <mc:AlternateContent xmlns:mc="http://schemas.openxmlformats.org/markup-compatibility/2006">
              <mc:Choice xmlns:v="urn:schemas-microsoft-com:vml" Requires="v">
                <p:oleObj name="Equation" r:id="rId10" imgW="1210914" imgH="500555" progId="Equation.DSMT4">
                  <p:embed/>
                </p:oleObj>
              </mc:Choice>
              <mc:Fallback>
                <p:oleObj name="Equation" r:id="rId10" imgW="1210914" imgH="500555" progId="Equation.DSMT4">
                  <p:embed/>
                  <p:pic>
                    <p:nvPicPr>
                      <p:cNvPr id="0" name=""/>
                      <p:cNvPicPr/>
                      <p:nvPr/>
                    </p:nvPicPr>
                    <p:blipFill>
                      <a:blip r:embed="rId11"/>
                      <a:stretch>
                        <a:fillRect/>
                      </a:stretch>
                    </p:blipFill>
                    <p:spPr>
                      <a:xfrm>
                        <a:off x="1504523" y="4750715"/>
                        <a:ext cx="2931459" cy="1210236"/>
                      </a:xfrm>
                      <a:prstGeom prst="rect">
                        <a:avLst/>
                      </a:prstGeom>
                    </p:spPr>
                  </p:pic>
                </p:oleObj>
              </mc:Fallback>
            </mc:AlternateContent>
          </a:graphicData>
        </a:graphic>
      </p:graphicFrame>
    </p:spTree>
    <p:extLst>
      <p:ext uri="{BB962C8B-B14F-4D97-AF65-F5344CB8AC3E}">
        <p14:creationId xmlns:p14="http://schemas.microsoft.com/office/powerpoint/2010/main" val="7697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E7C4D-05DA-2CB2-2DF8-274DC42763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B9562-6EEB-FE39-3731-C110BDB4D04D}"/>
              </a:ext>
            </a:extLst>
          </p:cNvPr>
          <p:cNvSpPr>
            <a:spLocks noGrp="1"/>
          </p:cNvSpPr>
          <p:nvPr>
            <p:ph type="title"/>
          </p:nvPr>
        </p:nvSpPr>
        <p:spPr>
          <a:xfrm>
            <a:off x="223024" y="365126"/>
            <a:ext cx="11745952" cy="683746"/>
          </a:xfrm>
        </p:spPr>
        <p:txBody>
          <a:bodyPr>
            <a:normAutofit/>
          </a:bodyPr>
          <a:lstStyle/>
          <a:p>
            <a:pPr algn="ctr"/>
            <a:r>
              <a:rPr lang="en-US" sz="3000" dirty="0">
                <a:latin typeface="Segoe UI" panose="020B0502040204020203" pitchFamily="34" charset="0"/>
                <a:cs typeface="Segoe UI" panose="020B0502040204020203" pitchFamily="34" charset="0"/>
              </a:rPr>
              <a:t>Matrix Algebra Review</a:t>
            </a:r>
          </a:p>
        </p:txBody>
      </p:sp>
      <p:sp>
        <p:nvSpPr>
          <p:cNvPr id="3" name="Content Placeholder 2">
            <a:extLst>
              <a:ext uri="{FF2B5EF4-FFF2-40B4-BE49-F238E27FC236}">
                <a16:creationId xmlns:a16="http://schemas.microsoft.com/office/drawing/2014/main" id="{0389632E-DC4A-1436-521C-4672AFCBAC1B}"/>
              </a:ext>
            </a:extLst>
          </p:cNvPr>
          <p:cNvSpPr>
            <a:spLocks noGrp="1"/>
          </p:cNvSpPr>
          <p:nvPr>
            <p:ph idx="1"/>
          </p:nvPr>
        </p:nvSpPr>
        <p:spPr>
          <a:xfrm>
            <a:off x="223024" y="1223010"/>
            <a:ext cx="11864898" cy="5534628"/>
          </a:xfrm>
        </p:spPr>
        <p:txBody>
          <a:bodyPr>
            <a:normAutofit fontScale="92500" lnSpcReduction="10000"/>
          </a:bodyPr>
          <a:lstStyle/>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Length of a Vector</a:t>
            </a:r>
          </a:p>
          <a:p>
            <a:pPr>
              <a:lnSpc>
                <a:spcPct val="150000"/>
              </a:lnSpc>
              <a:buFont typeface="Wingdings" panose="05000000000000000000" pitchFamily="2" charset="2"/>
              <a:buChar char="v"/>
            </a:pPr>
            <a:r>
              <a:rPr lang="en-US" sz="2100" dirty="0">
                <a:latin typeface="Segoe UI" panose="020B0502040204020203" pitchFamily="34" charset="0"/>
                <a:cs typeface="Segoe UI" panose="020B0502040204020203" pitchFamily="34" charset="0"/>
              </a:rPr>
              <a:t>Projection of a Vector on Another Vector</a:t>
            </a:r>
          </a:p>
          <a:p>
            <a:pPr>
              <a:lnSpc>
                <a:spcPct val="150000"/>
              </a:lnSpc>
              <a:buFont typeface="Wingdings" panose="05000000000000000000" pitchFamily="2" charset="2"/>
              <a:buChar char="v"/>
            </a:pPr>
            <a:r>
              <a:rPr lang="en-US" sz="2100" dirty="0">
                <a:solidFill>
                  <a:schemeClr val="bg1">
                    <a:lumMod val="65000"/>
                  </a:schemeClr>
                </a:solidFill>
                <a:latin typeface="Segoe UI" panose="020B0502040204020203" pitchFamily="34" charset="0"/>
                <a:cs typeface="Segoe UI" panose="020B0502040204020203" pitchFamily="34" charset="0"/>
              </a:rPr>
              <a:t>Angle between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Inner Product of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Linearly Dependent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Matrices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Eigenvalues and Eigenvectors of a 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Spectral Decomposition of a 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Positive Definite Matrix</a:t>
            </a:r>
          </a:p>
          <a:p>
            <a:pPr>
              <a:lnSpc>
                <a:spcPct val="150000"/>
              </a:lnSpc>
            </a:pPr>
            <a:endParaRPr lang="en-US" sz="1800"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endParaRPr lang="en-US" sz="2800" b="1" dirty="0"/>
          </a:p>
          <a:p>
            <a:endParaRPr lang="en-US" b="1"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3196110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19808-4705-F3D6-D2C8-2C6C32AE6631}"/>
              </a:ext>
            </a:extLst>
          </p:cNvPr>
          <p:cNvSpPr>
            <a:spLocks noGrp="1"/>
          </p:cNvSpPr>
          <p:nvPr>
            <p:ph type="title"/>
          </p:nvPr>
        </p:nvSpPr>
        <p:spPr>
          <a:xfrm>
            <a:off x="838200" y="365126"/>
            <a:ext cx="10515600" cy="593342"/>
          </a:xfrm>
        </p:spPr>
        <p:txBody>
          <a:bodyPr>
            <a:normAutofit fontScale="90000"/>
          </a:bodyPr>
          <a:lstStyle/>
          <a:p>
            <a:pPr algn="ctr"/>
            <a:r>
              <a:rPr lang="en-US" dirty="0">
                <a:latin typeface="Segoe UI" panose="020B0502040204020203" pitchFamily="34" charset="0"/>
                <a:cs typeface="Segoe UI" panose="020B0502040204020203" pitchFamily="34" charset="0"/>
              </a:rPr>
              <a:t>Vector Projection </a:t>
            </a:r>
          </a:p>
        </p:txBody>
      </p:sp>
      <p:sp>
        <p:nvSpPr>
          <p:cNvPr id="3" name="Content Placeholder 2">
            <a:extLst>
              <a:ext uri="{FF2B5EF4-FFF2-40B4-BE49-F238E27FC236}">
                <a16:creationId xmlns:a16="http://schemas.microsoft.com/office/drawing/2014/main" id="{C4C303EF-6902-067E-E214-89049DC76BCD}"/>
              </a:ext>
            </a:extLst>
          </p:cNvPr>
          <p:cNvSpPr>
            <a:spLocks noGrp="1"/>
          </p:cNvSpPr>
          <p:nvPr>
            <p:ph idx="1"/>
          </p:nvPr>
        </p:nvSpPr>
        <p:spPr>
          <a:xfrm>
            <a:off x="308472" y="1253331"/>
            <a:ext cx="11655846" cy="2955112"/>
          </a:xfrm>
        </p:spPr>
        <p:txBody>
          <a:bodyPr>
            <a:normAutofit/>
          </a:bodyPr>
          <a:lstStyle/>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The shadow of a vector over another vector. </a:t>
            </a: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It allows you to determine how one vector influences another in a specific direction. </a:t>
            </a: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The projection vector is obtained by multiplying the vector with the Cos of the angle between the two vectors. </a:t>
            </a:r>
          </a:p>
        </p:txBody>
      </p:sp>
      <p:pic>
        <p:nvPicPr>
          <p:cNvPr id="5" name="Picture 4">
            <a:extLst>
              <a:ext uri="{FF2B5EF4-FFF2-40B4-BE49-F238E27FC236}">
                <a16:creationId xmlns:a16="http://schemas.microsoft.com/office/drawing/2014/main" id="{876C3BED-668A-F3E3-1FE5-50068D51EFC4}"/>
              </a:ext>
            </a:extLst>
          </p:cNvPr>
          <p:cNvPicPr>
            <a:picLocks noChangeAspect="1"/>
          </p:cNvPicPr>
          <p:nvPr/>
        </p:nvPicPr>
        <p:blipFill>
          <a:blip r:embed="rId2"/>
          <a:stretch>
            <a:fillRect/>
          </a:stretch>
        </p:blipFill>
        <p:spPr>
          <a:xfrm>
            <a:off x="4574290" y="4324127"/>
            <a:ext cx="3043420" cy="2389085"/>
          </a:xfrm>
          <a:prstGeom prst="rect">
            <a:avLst/>
          </a:prstGeom>
        </p:spPr>
      </p:pic>
    </p:spTree>
    <p:extLst>
      <p:ext uri="{BB962C8B-B14F-4D97-AF65-F5344CB8AC3E}">
        <p14:creationId xmlns:p14="http://schemas.microsoft.com/office/powerpoint/2010/main" val="632282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C0DAB-F3E0-AFE1-31A7-20B8AAE4D676}"/>
              </a:ext>
            </a:extLst>
          </p:cNvPr>
          <p:cNvSpPr>
            <a:spLocks noGrp="1"/>
          </p:cNvSpPr>
          <p:nvPr>
            <p:ph type="title"/>
          </p:nvPr>
        </p:nvSpPr>
        <p:spPr>
          <a:xfrm>
            <a:off x="838200" y="277907"/>
            <a:ext cx="10515600" cy="762000"/>
          </a:xfrm>
        </p:spPr>
        <p:txBody>
          <a:bodyPr>
            <a:normAutofit fontScale="90000"/>
          </a:bodyPr>
          <a:lstStyle/>
          <a:p>
            <a:pPr algn="ct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Angle between Two Vectors</a:t>
            </a:r>
            <a:br>
              <a:rPr lang="en-US" dirty="0">
                <a:latin typeface="Segoe UI" panose="020B0502040204020203" pitchFamily="34" charset="0"/>
                <a:cs typeface="Segoe UI" panose="020B0502040204020203" pitchFamily="34" charset="0"/>
              </a:rPr>
            </a:br>
            <a:endParaRPr lang="en-US" dirty="0"/>
          </a:p>
        </p:txBody>
      </p:sp>
      <p:graphicFrame>
        <p:nvGraphicFramePr>
          <p:cNvPr id="4" name="Object 3">
            <a:extLst>
              <a:ext uri="{FF2B5EF4-FFF2-40B4-BE49-F238E27FC236}">
                <a16:creationId xmlns:a16="http://schemas.microsoft.com/office/drawing/2014/main" id="{FB85E41C-E34F-9497-FB56-6A14BD47F4CD}"/>
              </a:ext>
            </a:extLst>
          </p:cNvPr>
          <p:cNvGraphicFramePr>
            <a:graphicFrameLocks noChangeAspect="1"/>
          </p:cNvGraphicFramePr>
          <p:nvPr>
            <p:extLst>
              <p:ext uri="{D42A27DB-BD31-4B8C-83A1-F6EECF244321}">
                <p14:modId xmlns:p14="http://schemas.microsoft.com/office/powerpoint/2010/main" val="3934789861"/>
              </p:ext>
            </p:extLst>
          </p:nvPr>
        </p:nvGraphicFramePr>
        <p:xfrm>
          <a:off x="709613" y="1644650"/>
          <a:ext cx="5233987" cy="1635125"/>
        </p:xfrm>
        <a:graphic>
          <a:graphicData uri="http://schemas.openxmlformats.org/presentationml/2006/ole">
            <mc:AlternateContent xmlns:mc="http://schemas.openxmlformats.org/markup-compatibility/2006">
              <mc:Choice xmlns:v="urn:schemas-microsoft-com:vml" Requires="v">
                <p:oleObj name="Equation" r:id="rId3" imgW="3416040" imgH="1066680" progId="Equation.DSMT4">
                  <p:embed/>
                </p:oleObj>
              </mc:Choice>
              <mc:Fallback>
                <p:oleObj name="Equation" r:id="rId3" imgW="3416040" imgH="1066680" progId="Equation.DSMT4">
                  <p:embed/>
                  <p:pic>
                    <p:nvPicPr>
                      <p:cNvPr id="0" name=""/>
                      <p:cNvPicPr/>
                      <p:nvPr/>
                    </p:nvPicPr>
                    <p:blipFill>
                      <a:blip r:embed="rId4"/>
                      <a:stretch>
                        <a:fillRect/>
                      </a:stretch>
                    </p:blipFill>
                    <p:spPr>
                      <a:xfrm>
                        <a:off x="709613" y="1644650"/>
                        <a:ext cx="5233987" cy="1635125"/>
                      </a:xfrm>
                      <a:prstGeom prst="rect">
                        <a:avLst/>
                      </a:prstGeom>
                    </p:spPr>
                  </p:pic>
                </p:oleObj>
              </mc:Fallback>
            </mc:AlternateContent>
          </a:graphicData>
        </a:graphic>
      </p:graphicFrame>
      <p:pic>
        <p:nvPicPr>
          <p:cNvPr id="1028" name="Picture 4" descr="seo images">
            <a:extLst>
              <a:ext uri="{FF2B5EF4-FFF2-40B4-BE49-F238E27FC236}">
                <a16:creationId xmlns:a16="http://schemas.microsoft.com/office/drawing/2014/main" id="{022BF9EB-52E3-F4D4-AEA9-DCCA2B0DDA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2777" y="1264023"/>
            <a:ext cx="3810000" cy="512588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Object 5">
            <a:extLst>
              <a:ext uri="{FF2B5EF4-FFF2-40B4-BE49-F238E27FC236}">
                <a16:creationId xmlns:a16="http://schemas.microsoft.com/office/drawing/2014/main" id="{66A81016-CBE7-7451-BFFB-2F4A57CBCAE8}"/>
              </a:ext>
            </a:extLst>
          </p:cNvPr>
          <p:cNvGraphicFramePr>
            <a:graphicFrameLocks noChangeAspect="1"/>
          </p:cNvGraphicFramePr>
          <p:nvPr>
            <p:extLst>
              <p:ext uri="{D42A27DB-BD31-4B8C-83A1-F6EECF244321}">
                <p14:modId xmlns:p14="http://schemas.microsoft.com/office/powerpoint/2010/main" val="2780305848"/>
              </p:ext>
            </p:extLst>
          </p:nvPr>
        </p:nvGraphicFramePr>
        <p:xfrm>
          <a:off x="747807" y="4543703"/>
          <a:ext cx="6060888" cy="870977"/>
        </p:xfrm>
        <a:graphic>
          <a:graphicData uri="http://schemas.openxmlformats.org/presentationml/2006/ole">
            <mc:AlternateContent xmlns:mc="http://schemas.openxmlformats.org/markup-compatibility/2006">
              <mc:Choice xmlns:v="urn:schemas-microsoft-com:vml" Requires="v">
                <p:oleObj name="Equation" r:id="rId6" imgW="3479652" imgH="500555" progId="Equation.DSMT4">
                  <p:embed/>
                </p:oleObj>
              </mc:Choice>
              <mc:Fallback>
                <p:oleObj name="Equation" r:id="rId6" imgW="3479652" imgH="500555" progId="Equation.DSMT4">
                  <p:embed/>
                  <p:pic>
                    <p:nvPicPr>
                      <p:cNvPr id="0" name=""/>
                      <p:cNvPicPr/>
                      <p:nvPr/>
                    </p:nvPicPr>
                    <p:blipFill>
                      <a:blip r:embed="rId7"/>
                      <a:stretch>
                        <a:fillRect/>
                      </a:stretch>
                    </p:blipFill>
                    <p:spPr>
                      <a:xfrm>
                        <a:off x="747807" y="4543703"/>
                        <a:ext cx="6060888" cy="870977"/>
                      </a:xfrm>
                      <a:prstGeom prst="rect">
                        <a:avLst/>
                      </a:prstGeom>
                    </p:spPr>
                  </p:pic>
                </p:oleObj>
              </mc:Fallback>
            </mc:AlternateContent>
          </a:graphicData>
        </a:graphic>
      </p:graphicFrame>
    </p:spTree>
    <p:extLst>
      <p:ext uri="{BB962C8B-B14F-4D97-AF65-F5344CB8AC3E}">
        <p14:creationId xmlns:p14="http://schemas.microsoft.com/office/powerpoint/2010/main" val="1551900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E34AC-D3B1-7678-6E25-3DB16FA3688C}"/>
              </a:ext>
            </a:extLst>
          </p:cNvPr>
          <p:cNvSpPr>
            <a:spLocks noGrp="1"/>
          </p:cNvSpPr>
          <p:nvPr>
            <p:ph type="title"/>
          </p:nvPr>
        </p:nvSpPr>
        <p:spPr>
          <a:xfrm>
            <a:off x="838200" y="134471"/>
            <a:ext cx="10515600" cy="779929"/>
          </a:xfrm>
        </p:spPr>
        <p:txBody>
          <a:bodyPr>
            <a:normAutofit/>
          </a:bodyPr>
          <a:lstStyle/>
          <a:p>
            <a:pPr algn="ctr"/>
            <a:r>
              <a:rPr lang="en-US" dirty="0"/>
              <a:t>Properties of dot product</a:t>
            </a:r>
          </a:p>
        </p:txBody>
      </p:sp>
      <p:sp>
        <p:nvSpPr>
          <p:cNvPr id="3" name="Content Placeholder 2">
            <a:extLst>
              <a:ext uri="{FF2B5EF4-FFF2-40B4-BE49-F238E27FC236}">
                <a16:creationId xmlns:a16="http://schemas.microsoft.com/office/drawing/2014/main" id="{F81B8240-F6F1-DA06-A62B-44418116E4FE}"/>
              </a:ext>
            </a:extLst>
          </p:cNvPr>
          <p:cNvSpPr>
            <a:spLocks noGrp="1"/>
          </p:cNvSpPr>
          <p:nvPr>
            <p:ph idx="1"/>
          </p:nvPr>
        </p:nvSpPr>
        <p:spPr>
          <a:xfrm>
            <a:off x="197224" y="986118"/>
            <a:ext cx="11815482" cy="5190845"/>
          </a:xfrm>
        </p:spPr>
        <p:txBody>
          <a:bodyPr/>
          <a:lstStyle/>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Commutative Property</a:t>
            </a:r>
          </a:p>
          <a:p>
            <a:pPr lvl="1">
              <a:buFont typeface="Wingdings" panose="05000000000000000000" pitchFamily="2" charset="2"/>
              <a:buChar char="Ø"/>
            </a:pPr>
            <a:r>
              <a:rPr lang="en-US" sz="1800" dirty="0">
                <a:latin typeface="Segoe UI" panose="020B0502040204020203" pitchFamily="34" charset="0"/>
                <a:cs typeface="Segoe UI" panose="020B0502040204020203" pitchFamily="34" charset="0"/>
              </a:rPr>
              <a:t>The order of the vectors in a dot product does not affect the result. </a:t>
            </a:r>
          </a:p>
          <a:p>
            <a:endParaRPr lang="en-US" dirty="0"/>
          </a:p>
          <a:p>
            <a:endParaRPr lang="en-US" dirty="0"/>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Distributive Property:</a:t>
            </a:r>
          </a:p>
          <a:p>
            <a:pPr lvl="1">
              <a:buFont typeface="Wingdings" panose="05000000000000000000" pitchFamily="2" charset="2"/>
              <a:buChar char="Ø"/>
            </a:pPr>
            <a:r>
              <a:rPr lang="en-US" sz="1800" dirty="0">
                <a:latin typeface="Segoe UI" panose="020B0502040204020203" pitchFamily="34" charset="0"/>
                <a:cs typeface="Segoe UI" panose="020B0502040204020203" pitchFamily="34" charset="0"/>
              </a:rPr>
              <a:t>The dot product of one vector with the sum of two other vectors is the same as the sum of the dot products of the first vector with each of the other two. </a:t>
            </a:r>
          </a:p>
          <a:p>
            <a:pPr marL="0" indent="0">
              <a:buNone/>
            </a:pPr>
            <a:endParaRPr lang="en-US" sz="2200" dirty="0">
              <a:latin typeface="Segoe UI" panose="020B0502040204020203" pitchFamily="34" charset="0"/>
              <a:cs typeface="Segoe UI" panose="020B0502040204020203" pitchFamily="34" charset="0"/>
            </a:endParaRPr>
          </a:p>
          <a:p>
            <a:pPr marL="0" indent="0">
              <a:buNone/>
            </a:pPr>
            <a:endParaRPr lang="en-US" sz="2200" dirty="0">
              <a:latin typeface="Segoe UI" panose="020B0502040204020203" pitchFamily="34" charset="0"/>
              <a:cs typeface="Segoe UI" panose="020B0502040204020203" pitchFamily="34" charset="0"/>
            </a:endParaRPr>
          </a:p>
          <a:p>
            <a:pPr marL="0" indent="0">
              <a:buNone/>
            </a:pPr>
            <a:endParaRPr lang="en-US" sz="2200" dirty="0">
              <a:latin typeface="Segoe UI" panose="020B0502040204020203" pitchFamily="34" charset="0"/>
              <a:cs typeface="Segoe UI" panose="020B0502040204020203" pitchFamily="34" charset="0"/>
            </a:endParaRPr>
          </a:p>
          <a:p>
            <a:pPr marL="0" indent="0">
              <a:buNone/>
            </a:pPr>
            <a:endParaRPr lang="en-US" sz="2200" dirty="0">
              <a:latin typeface="Segoe UI" panose="020B0502040204020203" pitchFamily="34" charset="0"/>
              <a:cs typeface="Segoe UI" panose="020B0502040204020203" pitchFamily="34" charset="0"/>
            </a:endParaRPr>
          </a:p>
          <a:p>
            <a:endParaRPr lang="en-US" dirty="0"/>
          </a:p>
          <a:p>
            <a:endParaRPr lang="en-US" dirty="0"/>
          </a:p>
        </p:txBody>
      </p:sp>
      <p:graphicFrame>
        <p:nvGraphicFramePr>
          <p:cNvPr id="4" name="Object 3">
            <a:extLst>
              <a:ext uri="{FF2B5EF4-FFF2-40B4-BE49-F238E27FC236}">
                <a16:creationId xmlns:a16="http://schemas.microsoft.com/office/drawing/2014/main" id="{EDD8376E-7C36-38F9-B02F-63EB34C28C90}"/>
              </a:ext>
            </a:extLst>
          </p:cNvPr>
          <p:cNvGraphicFramePr>
            <a:graphicFrameLocks noChangeAspect="1"/>
          </p:cNvGraphicFramePr>
          <p:nvPr>
            <p:extLst>
              <p:ext uri="{D42A27DB-BD31-4B8C-83A1-F6EECF244321}">
                <p14:modId xmlns:p14="http://schemas.microsoft.com/office/powerpoint/2010/main" val="1142022880"/>
              </p:ext>
            </p:extLst>
          </p:nvPr>
        </p:nvGraphicFramePr>
        <p:xfrm>
          <a:off x="4652664" y="1930587"/>
          <a:ext cx="1799739" cy="650875"/>
        </p:xfrm>
        <a:graphic>
          <a:graphicData uri="http://schemas.openxmlformats.org/presentationml/2006/ole">
            <mc:AlternateContent xmlns:mc="http://schemas.openxmlformats.org/markup-compatibility/2006">
              <mc:Choice xmlns:v="urn:schemas-microsoft-com:vml" Requires="v">
                <p:oleObj name="Equation" r:id="rId3" imgW="654186" imgH="236089" progId="Equation.DSMT4">
                  <p:embed/>
                </p:oleObj>
              </mc:Choice>
              <mc:Fallback>
                <p:oleObj name="Equation" r:id="rId3" imgW="654186" imgH="236089" progId="Equation.DSMT4">
                  <p:embed/>
                  <p:pic>
                    <p:nvPicPr>
                      <p:cNvPr id="0" name=""/>
                      <p:cNvPicPr/>
                      <p:nvPr/>
                    </p:nvPicPr>
                    <p:blipFill>
                      <a:blip r:embed="rId4"/>
                      <a:stretch>
                        <a:fillRect/>
                      </a:stretch>
                    </p:blipFill>
                    <p:spPr>
                      <a:xfrm>
                        <a:off x="4652664" y="1930587"/>
                        <a:ext cx="1799739" cy="650875"/>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A9D6AA10-6719-762D-2B46-C12C29455EA5}"/>
              </a:ext>
            </a:extLst>
          </p:cNvPr>
          <p:cNvGraphicFramePr>
            <a:graphicFrameLocks noChangeAspect="1"/>
          </p:cNvGraphicFramePr>
          <p:nvPr>
            <p:extLst>
              <p:ext uri="{D42A27DB-BD31-4B8C-83A1-F6EECF244321}">
                <p14:modId xmlns:p14="http://schemas.microsoft.com/office/powerpoint/2010/main" val="2607819531"/>
              </p:ext>
            </p:extLst>
          </p:nvPr>
        </p:nvGraphicFramePr>
        <p:xfrm>
          <a:off x="3122906" y="4827681"/>
          <a:ext cx="5946188" cy="746474"/>
        </p:xfrm>
        <a:graphic>
          <a:graphicData uri="http://schemas.openxmlformats.org/presentationml/2006/ole">
            <mc:AlternateContent xmlns:mc="http://schemas.openxmlformats.org/markup-compatibility/2006">
              <mc:Choice xmlns:v="urn:schemas-microsoft-com:vml" Requires="v">
                <p:oleObj name="Equation" r:id="rId5" imgW="2213104" imgH="277867" progId="Equation.DSMT4">
                  <p:embed/>
                </p:oleObj>
              </mc:Choice>
              <mc:Fallback>
                <p:oleObj name="Equation" r:id="rId5" imgW="2213104" imgH="277867" progId="Equation.DSMT4">
                  <p:embed/>
                  <p:pic>
                    <p:nvPicPr>
                      <p:cNvPr id="0" name=""/>
                      <p:cNvPicPr/>
                      <p:nvPr/>
                    </p:nvPicPr>
                    <p:blipFill>
                      <a:blip r:embed="rId6"/>
                      <a:stretch>
                        <a:fillRect/>
                      </a:stretch>
                    </p:blipFill>
                    <p:spPr>
                      <a:xfrm>
                        <a:off x="3122906" y="4827681"/>
                        <a:ext cx="5946188" cy="746474"/>
                      </a:xfrm>
                      <a:prstGeom prst="rect">
                        <a:avLst/>
                      </a:prstGeom>
                    </p:spPr>
                  </p:pic>
                </p:oleObj>
              </mc:Fallback>
            </mc:AlternateContent>
          </a:graphicData>
        </a:graphic>
      </p:graphicFrame>
    </p:spTree>
    <p:extLst>
      <p:ext uri="{BB962C8B-B14F-4D97-AF65-F5344CB8AC3E}">
        <p14:creationId xmlns:p14="http://schemas.microsoft.com/office/powerpoint/2010/main" val="3630212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D2D1A-F717-C64E-2324-6EF727A4EBCC}"/>
              </a:ext>
            </a:extLst>
          </p:cNvPr>
          <p:cNvSpPr>
            <a:spLocks noGrp="1"/>
          </p:cNvSpPr>
          <p:nvPr>
            <p:ph type="title"/>
          </p:nvPr>
        </p:nvSpPr>
        <p:spPr>
          <a:xfrm>
            <a:off x="838200" y="265974"/>
            <a:ext cx="10515600" cy="527241"/>
          </a:xfrm>
        </p:spPr>
        <p:txBody>
          <a:bodyPr>
            <a:normAutofit fontScale="90000"/>
          </a:bodyPr>
          <a:lstStyle/>
          <a:p>
            <a:pPr algn="ctr"/>
            <a:r>
              <a:rPr lang="en-US" dirty="0"/>
              <a:t>Properties of dot products</a:t>
            </a:r>
          </a:p>
        </p:txBody>
      </p:sp>
      <p:sp>
        <p:nvSpPr>
          <p:cNvPr id="3" name="Content Placeholder 2">
            <a:extLst>
              <a:ext uri="{FF2B5EF4-FFF2-40B4-BE49-F238E27FC236}">
                <a16:creationId xmlns:a16="http://schemas.microsoft.com/office/drawing/2014/main" id="{51430307-DB68-612B-FFC3-765BB5DD0F03}"/>
              </a:ext>
            </a:extLst>
          </p:cNvPr>
          <p:cNvSpPr>
            <a:spLocks noGrp="1"/>
          </p:cNvSpPr>
          <p:nvPr>
            <p:ph idx="1"/>
          </p:nvPr>
        </p:nvSpPr>
        <p:spPr>
          <a:xfrm>
            <a:off x="352539" y="980501"/>
            <a:ext cx="11523643" cy="5196462"/>
          </a:xfrm>
        </p:spPr>
        <p:txBody>
          <a:bodyPr>
            <a:normAutofit/>
          </a:bodyPr>
          <a:lstStyle/>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Associative Property with Scalar Multiplication:</a:t>
            </a: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Property of Magnitude (Self-Dot Product):</a:t>
            </a: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endParaRPr lang="en-US" b="1" dirty="0"/>
          </a:p>
          <a:p>
            <a:pPr>
              <a:buFont typeface="Wingdings" panose="05000000000000000000" pitchFamily="2" charset="2"/>
              <a:buChar char="v"/>
            </a:pPr>
            <a:r>
              <a:rPr lang="en-US" sz="2200" b="1" dirty="0">
                <a:latin typeface="Segoe UI" panose="020B0502040204020203" pitchFamily="34" charset="0"/>
                <a:cs typeface="Segoe UI" panose="020B0502040204020203" pitchFamily="34" charset="0"/>
              </a:rPr>
              <a:t>Orthogonality:</a:t>
            </a:r>
            <a:endParaRPr lang="en-US" sz="2200" dirty="0">
              <a:latin typeface="Segoe UI" panose="020B0502040204020203" pitchFamily="34" charset="0"/>
              <a:cs typeface="Segoe UI" panose="020B0502040204020203" pitchFamily="34" charset="0"/>
            </a:endParaRPr>
          </a:p>
          <a:p>
            <a:pPr lvl="1">
              <a:buFont typeface="Wingdings" panose="05000000000000000000" pitchFamily="2" charset="2"/>
              <a:buChar char="Ø"/>
            </a:pPr>
            <a:r>
              <a:rPr lang="en-US" sz="1800" dirty="0">
                <a:latin typeface="Segoe UI" panose="020B0502040204020203" pitchFamily="34" charset="0"/>
                <a:cs typeface="Segoe UI" panose="020B0502040204020203" pitchFamily="34" charset="0"/>
              </a:rPr>
              <a:t>If two non-zero vectors are orthogonal (perpendicular), their dot product is zero. </a:t>
            </a: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p:txBody>
      </p:sp>
      <p:graphicFrame>
        <p:nvGraphicFramePr>
          <p:cNvPr id="9" name="Object 8">
            <a:extLst>
              <a:ext uri="{FF2B5EF4-FFF2-40B4-BE49-F238E27FC236}">
                <a16:creationId xmlns:a16="http://schemas.microsoft.com/office/drawing/2014/main" id="{C10A4301-9D03-3D55-28E6-89BC0E676D21}"/>
              </a:ext>
            </a:extLst>
          </p:cNvPr>
          <p:cNvGraphicFramePr>
            <a:graphicFrameLocks noChangeAspect="1"/>
          </p:cNvGraphicFramePr>
          <p:nvPr>
            <p:extLst>
              <p:ext uri="{D42A27DB-BD31-4B8C-83A1-F6EECF244321}">
                <p14:modId xmlns:p14="http://schemas.microsoft.com/office/powerpoint/2010/main" val="3746447984"/>
              </p:ext>
            </p:extLst>
          </p:nvPr>
        </p:nvGraphicFramePr>
        <p:xfrm>
          <a:off x="2689880" y="1922854"/>
          <a:ext cx="7289633" cy="845947"/>
        </p:xfrm>
        <a:graphic>
          <a:graphicData uri="http://schemas.openxmlformats.org/presentationml/2006/ole">
            <mc:AlternateContent xmlns:mc="http://schemas.openxmlformats.org/markup-compatibility/2006">
              <mc:Choice xmlns:v="urn:schemas-microsoft-com:vml" Requires="v">
                <p:oleObj name="Equation" r:id="rId2" imgW="2393814" imgH="277867" progId="Equation.DSMT4">
                  <p:embed/>
                </p:oleObj>
              </mc:Choice>
              <mc:Fallback>
                <p:oleObj name="Equation" r:id="rId2" imgW="2393814" imgH="277867" progId="Equation.DSMT4">
                  <p:embed/>
                  <p:pic>
                    <p:nvPicPr>
                      <p:cNvPr id="0" name=""/>
                      <p:cNvPicPr/>
                      <p:nvPr/>
                    </p:nvPicPr>
                    <p:blipFill>
                      <a:blip r:embed="rId3"/>
                      <a:stretch>
                        <a:fillRect/>
                      </a:stretch>
                    </p:blipFill>
                    <p:spPr>
                      <a:xfrm>
                        <a:off x="2689880" y="1922854"/>
                        <a:ext cx="7289633" cy="845947"/>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3392EEDB-9D22-E5DC-766F-117A04C61F85}"/>
              </a:ext>
            </a:extLst>
          </p:cNvPr>
          <p:cNvGraphicFramePr>
            <a:graphicFrameLocks noChangeAspect="1"/>
          </p:cNvGraphicFramePr>
          <p:nvPr>
            <p:extLst>
              <p:ext uri="{D42A27DB-BD31-4B8C-83A1-F6EECF244321}">
                <p14:modId xmlns:p14="http://schemas.microsoft.com/office/powerpoint/2010/main" val="327855290"/>
              </p:ext>
            </p:extLst>
          </p:nvPr>
        </p:nvGraphicFramePr>
        <p:xfrm>
          <a:off x="4172254" y="3980259"/>
          <a:ext cx="3012031" cy="985245"/>
        </p:xfrm>
        <a:graphic>
          <a:graphicData uri="http://schemas.openxmlformats.org/presentationml/2006/ole">
            <mc:AlternateContent xmlns:mc="http://schemas.openxmlformats.org/markup-compatibility/2006">
              <mc:Choice xmlns:v="urn:schemas-microsoft-com:vml" Requires="v">
                <p:oleObj name="Equation" r:id="rId4" imgW="848705" imgH="277867" progId="Equation.DSMT4">
                  <p:embed/>
                </p:oleObj>
              </mc:Choice>
              <mc:Fallback>
                <p:oleObj name="Equation" r:id="rId4" imgW="848705" imgH="277867" progId="Equation.DSMT4">
                  <p:embed/>
                  <p:pic>
                    <p:nvPicPr>
                      <p:cNvPr id="0" name=""/>
                      <p:cNvPicPr/>
                      <p:nvPr/>
                    </p:nvPicPr>
                    <p:blipFill>
                      <a:blip r:embed="rId5"/>
                      <a:stretch>
                        <a:fillRect/>
                      </a:stretch>
                    </p:blipFill>
                    <p:spPr>
                      <a:xfrm>
                        <a:off x="4172254" y="3980259"/>
                        <a:ext cx="3012031" cy="985245"/>
                      </a:xfrm>
                      <a:prstGeom prst="rect">
                        <a:avLst/>
                      </a:prstGeom>
                    </p:spPr>
                  </p:pic>
                </p:oleObj>
              </mc:Fallback>
            </mc:AlternateContent>
          </a:graphicData>
        </a:graphic>
      </p:graphicFrame>
    </p:spTree>
    <p:extLst>
      <p:ext uri="{BB962C8B-B14F-4D97-AF65-F5344CB8AC3E}">
        <p14:creationId xmlns:p14="http://schemas.microsoft.com/office/powerpoint/2010/main" val="2207745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1EF20-87D7-D187-9D7F-A5195CB1F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4F478-1A2D-8F4E-1CFA-B546222063DE}"/>
              </a:ext>
            </a:extLst>
          </p:cNvPr>
          <p:cNvSpPr>
            <a:spLocks noGrp="1"/>
          </p:cNvSpPr>
          <p:nvPr>
            <p:ph type="title"/>
          </p:nvPr>
        </p:nvSpPr>
        <p:spPr>
          <a:xfrm>
            <a:off x="223024" y="365126"/>
            <a:ext cx="11745952" cy="683746"/>
          </a:xfrm>
        </p:spPr>
        <p:txBody>
          <a:bodyPr>
            <a:normAutofit/>
          </a:bodyPr>
          <a:lstStyle/>
          <a:p>
            <a:pPr algn="ctr"/>
            <a:r>
              <a:rPr lang="en-US" sz="3000" dirty="0">
                <a:latin typeface="Segoe UI" panose="020B0502040204020203" pitchFamily="34" charset="0"/>
                <a:cs typeface="Segoe UI" panose="020B0502040204020203" pitchFamily="34" charset="0"/>
              </a:rPr>
              <a:t>Matrix Algebra Review</a:t>
            </a:r>
          </a:p>
        </p:txBody>
      </p:sp>
      <p:sp>
        <p:nvSpPr>
          <p:cNvPr id="3" name="Content Placeholder 2">
            <a:extLst>
              <a:ext uri="{FF2B5EF4-FFF2-40B4-BE49-F238E27FC236}">
                <a16:creationId xmlns:a16="http://schemas.microsoft.com/office/drawing/2014/main" id="{5D17B78D-BA8E-9ADA-4FFA-3B049A63E62D}"/>
              </a:ext>
            </a:extLst>
          </p:cNvPr>
          <p:cNvSpPr>
            <a:spLocks noGrp="1"/>
          </p:cNvSpPr>
          <p:nvPr>
            <p:ph idx="1"/>
          </p:nvPr>
        </p:nvSpPr>
        <p:spPr>
          <a:xfrm>
            <a:off x="223024" y="1223010"/>
            <a:ext cx="11864898" cy="5534628"/>
          </a:xfrm>
        </p:spPr>
        <p:txBody>
          <a:bodyPr>
            <a:normAutofit fontScale="92500" lnSpcReduction="10000"/>
          </a:bodyPr>
          <a:lstStyle/>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Length of a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Projection of a Vector on Another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Angle between Two Vectors</a:t>
            </a:r>
          </a:p>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Inner Product of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Linearly Dependent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Matrices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Eigenvalues and Eigenvectors of a 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Spectral Decomposition of a 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Positive Definite Matrix</a:t>
            </a:r>
          </a:p>
          <a:p>
            <a:pPr>
              <a:lnSpc>
                <a:spcPct val="150000"/>
              </a:lnSpc>
            </a:pPr>
            <a:endParaRPr lang="en-US" sz="1800"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endParaRPr lang="en-US" sz="2800" b="1" dirty="0"/>
          </a:p>
          <a:p>
            <a:endParaRPr lang="en-US" b="1"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1093883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CF701-D630-907F-5815-9E3AF8B76CC1}"/>
              </a:ext>
            </a:extLst>
          </p:cNvPr>
          <p:cNvSpPr>
            <a:spLocks noGrp="1"/>
          </p:cNvSpPr>
          <p:nvPr>
            <p:ph type="title"/>
          </p:nvPr>
        </p:nvSpPr>
        <p:spPr>
          <a:xfrm>
            <a:off x="838200" y="197225"/>
            <a:ext cx="10515600" cy="645458"/>
          </a:xfrm>
        </p:spPr>
        <p:txBody>
          <a:bodyPr>
            <a:normAutofit fontScale="90000"/>
          </a:bodyPr>
          <a:lstStyle/>
          <a:p>
            <a:pPr algn="ctr"/>
            <a:r>
              <a:rPr lang="en-US" dirty="0">
                <a:latin typeface="Segoe UI" panose="020B0502040204020203" pitchFamily="34" charset="0"/>
                <a:cs typeface="Segoe UI" panose="020B0502040204020203" pitchFamily="34" charset="0"/>
              </a:rPr>
              <a:t>Inner product</a:t>
            </a:r>
          </a:p>
        </p:txBody>
      </p:sp>
      <p:sp>
        <p:nvSpPr>
          <p:cNvPr id="3" name="Content Placeholder 2">
            <a:extLst>
              <a:ext uri="{FF2B5EF4-FFF2-40B4-BE49-F238E27FC236}">
                <a16:creationId xmlns:a16="http://schemas.microsoft.com/office/drawing/2014/main" id="{19A8BB64-A788-1F9F-C89B-DE0FC656DCEF}"/>
              </a:ext>
            </a:extLst>
          </p:cNvPr>
          <p:cNvSpPr>
            <a:spLocks noGrp="1"/>
          </p:cNvSpPr>
          <p:nvPr>
            <p:ph idx="1"/>
          </p:nvPr>
        </p:nvSpPr>
        <p:spPr>
          <a:xfrm>
            <a:off x="251012" y="1093694"/>
            <a:ext cx="11689976" cy="5665694"/>
          </a:xfrm>
        </p:spPr>
        <p:txBody>
          <a:bodyPr>
            <a:normAutofit/>
          </a:bodyPr>
          <a:lstStyle/>
          <a:p>
            <a:pPr algn="just">
              <a:buFont typeface="Wingdings" panose="05000000000000000000" pitchFamily="2" charset="2"/>
              <a:buChar char="v"/>
            </a:pPr>
            <a:r>
              <a:rPr lang="en-US" sz="2200" dirty="0">
                <a:latin typeface="Segoe UI" panose="020B0502040204020203" pitchFamily="34" charset="0"/>
                <a:cs typeface="Segoe UI" panose="020B0502040204020203" pitchFamily="34" charset="0"/>
              </a:rPr>
              <a:t>The generalization of the dot product to an arbitrary vector space is called an “inner product.”</a:t>
            </a: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400" dirty="0"/>
              <a:t>Let V be a vector space. An inner product on V is a rule that assigns to each pair v, w ∈ V a real number                    such that, for all u, v, w ∈ V and </a:t>
            </a:r>
            <a:r>
              <a:rPr lang="el-GR" sz="2400" dirty="0"/>
              <a:t>α ∈ </a:t>
            </a:r>
            <a:r>
              <a:rPr lang="en-US" sz="2400" dirty="0"/>
              <a:t>R</a:t>
            </a:r>
          </a:p>
          <a:p>
            <a:pPr algn="just">
              <a:buFont typeface="Wingdings" panose="05000000000000000000" pitchFamily="2" charset="2"/>
              <a:buChar char="v"/>
            </a:pPr>
            <a:endParaRPr lang="en-US" sz="24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p:txBody>
      </p:sp>
      <p:graphicFrame>
        <p:nvGraphicFramePr>
          <p:cNvPr id="4" name="Object 3">
            <a:extLst>
              <a:ext uri="{FF2B5EF4-FFF2-40B4-BE49-F238E27FC236}">
                <a16:creationId xmlns:a16="http://schemas.microsoft.com/office/drawing/2014/main" id="{47929D1E-8125-293C-2402-9F253CDCA150}"/>
              </a:ext>
            </a:extLst>
          </p:cNvPr>
          <p:cNvGraphicFramePr>
            <a:graphicFrameLocks noChangeAspect="1"/>
          </p:cNvGraphicFramePr>
          <p:nvPr>
            <p:extLst>
              <p:ext uri="{D42A27DB-BD31-4B8C-83A1-F6EECF244321}">
                <p14:modId xmlns:p14="http://schemas.microsoft.com/office/powerpoint/2010/main" val="3398964038"/>
              </p:ext>
            </p:extLst>
          </p:nvPr>
        </p:nvGraphicFramePr>
        <p:xfrm>
          <a:off x="925413" y="3365686"/>
          <a:ext cx="5762084" cy="1765393"/>
        </p:xfrm>
        <a:graphic>
          <a:graphicData uri="http://schemas.openxmlformats.org/presentationml/2006/ole">
            <mc:AlternateContent xmlns:mc="http://schemas.openxmlformats.org/markup-compatibility/2006">
              <mc:Choice xmlns:v="urn:schemas-microsoft-com:vml" Requires="v">
                <p:oleObj name="Equation" r:id="rId3" imgW="3632743" imgH="1112257" progId="Equation.DSMT4">
                  <p:embed/>
                </p:oleObj>
              </mc:Choice>
              <mc:Fallback>
                <p:oleObj name="Equation" r:id="rId3" imgW="3632743" imgH="1112257" progId="Equation.DSMT4">
                  <p:embed/>
                  <p:pic>
                    <p:nvPicPr>
                      <p:cNvPr id="0" name=""/>
                      <p:cNvPicPr/>
                      <p:nvPr/>
                    </p:nvPicPr>
                    <p:blipFill>
                      <a:blip r:embed="rId4"/>
                      <a:stretch>
                        <a:fillRect/>
                      </a:stretch>
                    </p:blipFill>
                    <p:spPr>
                      <a:xfrm>
                        <a:off x="925413" y="3365686"/>
                        <a:ext cx="5762084" cy="1765393"/>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F2078FD-F0BC-2BFE-359D-8AA919F4A5EB}"/>
              </a:ext>
            </a:extLst>
          </p:cNvPr>
          <p:cNvGraphicFramePr>
            <a:graphicFrameLocks noChangeAspect="1"/>
          </p:cNvGraphicFramePr>
          <p:nvPr>
            <p:extLst>
              <p:ext uri="{D42A27DB-BD31-4B8C-83A1-F6EECF244321}">
                <p14:modId xmlns:p14="http://schemas.microsoft.com/office/powerpoint/2010/main" val="2867076070"/>
              </p:ext>
            </p:extLst>
          </p:nvPr>
        </p:nvGraphicFramePr>
        <p:xfrm>
          <a:off x="2749828" y="2515068"/>
          <a:ext cx="927100" cy="617537"/>
        </p:xfrm>
        <a:graphic>
          <a:graphicData uri="http://schemas.openxmlformats.org/presentationml/2006/ole">
            <mc:AlternateContent xmlns:mc="http://schemas.openxmlformats.org/markup-compatibility/2006">
              <mc:Choice xmlns:v="urn:schemas-microsoft-com:vml" Requires="v">
                <p:oleObj name="Equation" r:id="rId5" imgW="380880" imgH="253800" progId="Equation.DSMT4">
                  <p:embed/>
                </p:oleObj>
              </mc:Choice>
              <mc:Fallback>
                <p:oleObj name="Equation" r:id="rId5" imgW="380880" imgH="253800" progId="Equation.DSMT4">
                  <p:embed/>
                  <p:pic>
                    <p:nvPicPr>
                      <p:cNvPr id="0" name=""/>
                      <p:cNvPicPr/>
                      <p:nvPr/>
                    </p:nvPicPr>
                    <p:blipFill>
                      <a:blip r:embed="rId6"/>
                      <a:stretch>
                        <a:fillRect/>
                      </a:stretch>
                    </p:blipFill>
                    <p:spPr>
                      <a:xfrm>
                        <a:off x="2749828" y="2515068"/>
                        <a:ext cx="927100" cy="617537"/>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15F037CD-9393-AB35-5537-1015DCD5A967}"/>
              </a:ext>
            </a:extLst>
          </p:cNvPr>
          <p:cNvPicPr>
            <a:picLocks noChangeAspect="1"/>
          </p:cNvPicPr>
          <p:nvPr/>
        </p:nvPicPr>
        <p:blipFill>
          <a:blip r:embed="rId7"/>
          <a:stretch>
            <a:fillRect/>
          </a:stretch>
        </p:blipFill>
        <p:spPr>
          <a:xfrm>
            <a:off x="3294063" y="5484524"/>
            <a:ext cx="7802064" cy="933580"/>
          </a:xfrm>
          <a:prstGeom prst="rect">
            <a:avLst/>
          </a:prstGeom>
        </p:spPr>
      </p:pic>
    </p:spTree>
    <p:extLst>
      <p:ext uri="{BB962C8B-B14F-4D97-AF65-F5344CB8AC3E}">
        <p14:creationId xmlns:p14="http://schemas.microsoft.com/office/powerpoint/2010/main" val="36805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8080B-9A66-7B00-028E-2E65D13ECC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F2D9C-5974-D706-89E6-182BF8C189E7}"/>
              </a:ext>
            </a:extLst>
          </p:cNvPr>
          <p:cNvSpPr>
            <a:spLocks noGrp="1"/>
          </p:cNvSpPr>
          <p:nvPr>
            <p:ph type="title"/>
          </p:nvPr>
        </p:nvSpPr>
        <p:spPr>
          <a:xfrm>
            <a:off x="223024" y="365126"/>
            <a:ext cx="11745952" cy="683746"/>
          </a:xfrm>
        </p:spPr>
        <p:txBody>
          <a:bodyPr>
            <a:normAutofit/>
          </a:bodyPr>
          <a:lstStyle/>
          <a:p>
            <a:pPr algn="ctr"/>
            <a:r>
              <a:rPr lang="en-US" sz="3000" dirty="0">
                <a:latin typeface="Segoe UI" panose="020B0502040204020203" pitchFamily="34" charset="0"/>
                <a:cs typeface="Segoe UI" panose="020B0502040204020203" pitchFamily="34" charset="0"/>
              </a:rPr>
              <a:t>Matrix Algebra Review</a:t>
            </a:r>
          </a:p>
        </p:txBody>
      </p:sp>
      <p:sp>
        <p:nvSpPr>
          <p:cNvPr id="3" name="Content Placeholder 2">
            <a:extLst>
              <a:ext uri="{FF2B5EF4-FFF2-40B4-BE49-F238E27FC236}">
                <a16:creationId xmlns:a16="http://schemas.microsoft.com/office/drawing/2014/main" id="{57AF25EB-370D-8E69-1B96-4E81A1FEF931}"/>
              </a:ext>
            </a:extLst>
          </p:cNvPr>
          <p:cNvSpPr>
            <a:spLocks noGrp="1"/>
          </p:cNvSpPr>
          <p:nvPr>
            <p:ph idx="1"/>
          </p:nvPr>
        </p:nvSpPr>
        <p:spPr>
          <a:xfrm>
            <a:off x="223024" y="1223010"/>
            <a:ext cx="11864898" cy="5534628"/>
          </a:xfrm>
        </p:spPr>
        <p:txBody>
          <a:bodyPr>
            <a:normAutofit fontScale="92500" lnSpcReduction="10000"/>
          </a:bodyPr>
          <a:lstStyle/>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Length of a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Projection of a Vector on Another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Angle between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Inner Product of Two Vectors</a:t>
            </a:r>
          </a:p>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Linearly Dependent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Matrices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Eigenvalues and Eigenvectors of a 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Spectral Decomposition of a 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Positive Definite Matrix</a:t>
            </a:r>
          </a:p>
          <a:p>
            <a:pPr>
              <a:lnSpc>
                <a:spcPct val="150000"/>
              </a:lnSpc>
            </a:pPr>
            <a:endParaRPr lang="en-US" sz="1800"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endParaRPr lang="en-US" sz="2800" b="1" dirty="0"/>
          </a:p>
          <a:p>
            <a:endParaRPr lang="en-US" b="1"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1849003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E9E2A-D437-5A16-2E23-094D46C889CE}"/>
              </a:ext>
            </a:extLst>
          </p:cNvPr>
          <p:cNvSpPr>
            <a:spLocks noGrp="1"/>
          </p:cNvSpPr>
          <p:nvPr>
            <p:ph type="title"/>
          </p:nvPr>
        </p:nvSpPr>
        <p:spPr>
          <a:xfrm>
            <a:off x="407623" y="365126"/>
            <a:ext cx="11468559" cy="659444"/>
          </a:xfrm>
        </p:spPr>
        <p:txBody>
          <a:bodyPr>
            <a:normAutofit fontScale="90000"/>
          </a:bodyPr>
          <a:lstStyle/>
          <a:p>
            <a:pPr algn="ct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Linearly Dependent Vectors</a:t>
            </a:r>
            <a:br>
              <a:rPr lang="en-US" dirty="0">
                <a:latin typeface="Segoe UI" panose="020B0502040204020203" pitchFamily="34" charset="0"/>
                <a:cs typeface="Segoe UI" panose="020B0502040204020203" pitchFamily="34" charset="0"/>
              </a:rPr>
            </a:br>
            <a:endParaRPr lang="en-US" dirty="0"/>
          </a:p>
        </p:txBody>
      </p:sp>
      <p:sp>
        <p:nvSpPr>
          <p:cNvPr id="3" name="Content Placeholder 2">
            <a:extLst>
              <a:ext uri="{FF2B5EF4-FFF2-40B4-BE49-F238E27FC236}">
                <a16:creationId xmlns:a16="http://schemas.microsoft.com/office/drawing/2014/main" id="{E6FD0C43-5FD7-0AB7-365E-77A66413F486}"/>
              </a:ext>
            </a:extLst>
          </p:cNvPr>
          <p:cNvSpPr>
            <a:spLocks noGrp="1"/>
          </p:cNvSpPr>
          <p:nvPr>
            <p:ph idx="1"/>
          </p:nvPr>
        </p:nvSpPr>
        <p:spPr>
          <a:xfrm>
            <a:off x="407623" y="1189822"/>
            <a:ext cx="11468559" cy="4987141"/>
          </a:xfrm>
        </p:spPr>
        <p:txBody>
          <a:bodyPr>
            <a:normAutofit/>
          </a:bodyPr>
          <a:lstStyle/>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200" dirty="0">
                <a:latin typeface="Segoe UI" panose="020B0502040204020203" pitchFamily="34" charset="0"/>
                <a:cs typeface="Segoe UI" panose="020B0502040204020203" pitchFamily="34" charset="0"/>
              </a:rPr>
              <a:t>Linearly dependent vectors are a set of vectors in which </a:t>
            </a:r>
            <a:r>
              <a:rPr lang="en-US" sz="2200" b="1" dirty="0">
                <a:latin typeface="Segoe UI" panose="020B0502040204020203" pitchFamily="34" charset="0"/>
                <a:cs typeface="Segoe UI" panose="020B0502040204020203" pitchFamily="34" charset="0"/>
              </a:rPr>
              <a:t>at least one vector </a:t>
            </a:r>
            <a:r>
              <a:rPr lang="en-US" sz="2200" dirty="0">
                <a:latin typeface="Segoe UI" panose="020B0502040204020203" pitchFamily="34" charset="0"/>
                <a:cs typeface="Segoe UI" panose="020B0502040204020203" pitchFamily="34" charset="0"/>
              </a:rPr>
              <a:t>can be written as a linear combination of the others.</a:t>
            </a:r>
          </a:p>
          <a:p>
            <a:pPr marL="0" indent="0" algn="just">
              <a:buNone/>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200" dirty="0">
                <a:latin typeface="Segoe UI" panose="020B0502040204020203" pitchFamily="34" charset="0"/>
                <a:cs typeface="Segoe UI" panose="020B0502040204020203" pitchFamily="34" charset="0"/>
              </a:rPr>
              <a:t>In other words, there exists a set of scalars, </a:t>
            </a:r>
            <a:r>
              <a:rPr lang="en-US" sz="2200" b="1" dirty="0">
                <a:latin typeface="Segoe UI" panose="020B0502040204020203" pitchFamily="34" charset="0"/>
                <a:cs typeface="Segoe UI" panose="020B0502040204020203" pitchFamily="34" charset="0"/>
              </a:rPr>
              <a:t>not all zero</a:t>
            </a:r>
            <a:r>
              <a:rPr lang="en-US" sz="2200" dirty="0">
                <a:latin typeface="Segoe UI" panose="020B0502040204020203" pitchFamily="34" charset="0"/>
                <a:cs typeface="Segoe UI" panose="020B0502040204020203" pitchFamily="34" charset="0"/>
              </a:rPr>
              <a:t>, such that a weighted sum of these vectors equals the zero vector. </a:t>
            </a: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Mathematically, a set of vectors {v</a:t>
            </a:r>
            <a:r>
              <a:rPr lang="en-US" sz="2200" baseline="-25000" dirty="0">
                <a:latin typeface="Segoe UI" panose="020B0502040204020203" pitchFamily="34" charset="0"/>
                <a:cs typeface="Segoe UI" panose="020B0502040204020203" pitchFamily="34" charset="0"/>
              </a:rPr>
              <a:t>1</a:t>
            </a:r>
            <a:r>
              <a:rPr lang="en-US" sz="2200" dirty="0">
                <a:latin typeface="Segoe UI" panose="020B0502040204020203" pitchFamily="34" charset="0"/>
                <a:cs typeface="Segoe UI" panose="020B0502040204020203" pitchFamily="34" charset="0"/>
              </a:rPr>
              <a:t>, v</a:t>
            </a:r>
            <a:r>
              <a:rPr lang="en-US" sz="2200" baseline="-25000" dirty="0">
                <a:latin typeface="Segoe UI" panose="020B0502040204020203" pitchFamily="34" charset="0"/>
                <a:cs typeface="Segoe UI" panose="020B0502040204020203" pitchFamily="34" charset="0"/>
              </a:rPr>
              <a:t>2</a:t>
            </a:r>
            <a:r>
              <a:rPr lang="en-US" sz="2200" dirty="0">
                <a:latin typeface="Segoe UI" panose="020B0502040204020203" pitchFamily="34" charset="0"/>
                <a:cs typeface="Segoe UI" panose="020B0502040204020203" pitchFamily="34" charset="0"/>
              </a:rPr>
              <a:t>, ..., </a:t>
            </a:r>
            <a:r>
              <a:rPr lang="en-US" sz="2200" dirty="0" err="1">
                <a:latin typeface="Segoe UI" panose="020B0502040204020203" pitchFamily="34" charset="0"/>
                <a:cs typeface="Segoe UI" panose="020B0502040204020203" pitchFamily="34" charset="0"/>
              </a:rPr>
              <a:t>v</a:t>
            </a:r>
            <a:r>
              <a:rPr lang="en-US" sz="2200" baseline="-25000" dirty="0" err="1">
                <a:latin typeface="Segoe UI" panose="020B0502040204020203" pitchFamily="34" charset="0"/>
                <a:cs typeface="Segoe UI" panose="020B0502040204020203" pitchFamily="34" charset="0"/>
              </a:rPr>
              <a:t>n</a:t>
            </a:r>
            <a:r>
              <a:rPr lang="en-US" sz="2200" dirty="0">
                <a:latin typeface="Segoe UI" panose="020B0502040204020203" pitchFamily="34" charset="0"/>
                <a:cs typeface="Segoe UI" panose="020B0502040204020203" pitchFamily="34" charset="0"/>
              </a:rPr>
              <a:t>} in a vector space is said to be linearly dependent if there exist scalars a</a:t>
            </a:r>
            <a:r>
              <a:rPr lang="en-US" sz="2200" baseline="-25000" dirty="0">
                <a:latin typeface="Segoe UI" panose="020B0502040204020203" pitchFamily="34" charset="0"/>
                <a:cs typeface="Segoe UI" panose="020B0502040204020203" pitchFamily="34" charset="0"/>
              </a:rPr>
              <a:t>1</a:t>
            </a:r>
            <a:r>
              <a:rPr lang="en-US" sz="2200" dirty="0">
                <a:latin typeface="Segoe UI" panose="020B0502040204020203" pitchFamily="34" charset="0"/>
                <a:cs typeface="Segoe UI" panose="020B0502040204020203" pitchFamily="34" charset="0"/>
              </a:rPr>
              <a:t>, a</a:t>
            </a:r>
            <a:r>
              <a:rPr lang="en-US" sz="2200" baseline="-25000" dirty="0">
                <a:latin typeface="Segoe UI" panose="020B0502040204020203" pitchFamily="34" charset="0"/>
                <a:cs typeface="Segoe UI" panose="020B0502040204020203" pitchFamily="34" charset="0"/>
              </a:rPr>
              <a:t>2</a:t>
            </a:r>
            <a:r>
              <a:rPr lang="en-US" sz="2200" dirty="0">
                <a:latin typeface="Segoe UI" panose="020B0502040204020203" pitchFamily="34" charset="0"/>
                <a:cs typeface="Segoe UI" panose="020B0502040204020203" pitchFamily="34" charset="0"/>
              </a:rPr>
              <a:t>, ..., a</a:t>
            </a:r>
            <a:r>
              <a:rPr lang="en-US" sz="2200" baseline="-25000" dirty="0">
                <a:latin typeface="Segoe UI" panose="020B0502040204020203" pitchFamily="34" charset="0"/>
                <a:cs typeface="Segoe UI" panose="020B0502040204020203" pitchFamily="34" charset="0"/>
              </a:rPr>
              <a:t>n</a:t>
            </a:r>
            <a:r>
              <a:rPr lang="en-US" sz="2200" dirty="0">
                <a:latin typeface="Segoe UI" panose="020B0502040204020203" pitchFamily="34" charset="0"/>
                <a:cs typeface="Segoe UI" panose="020B0502040204020203" pitchFamily="34" charset="0"/>
              </a:rPr>
              <a:t>, </a:t>
            </a:r>
            <a:r>
              <a:rPr lang="en-US" sz="2200" b="1" dirty="0">
                <a:latin typeface="Segoe UI" panose="020B0502040204020203" pitchFamily="34" charset="0"/>
                <a:cs typeface="Segoe UI" panose="020B0502040204020203" pitchFamily="34" charset="0"/>
              </a:rPr>
              <a:t>not all zero</a:t>
            </a:r>
            <a:r>
              <a:rPr lang="en-US" sz="2200" dirty="0">
                <a:latin typeface="Segoe UI" panose="020B0502040204020203" pitchFamily="34" charset="0"/>
                <a:cs typeface="Segoe UI" panose="020B0502040204020203" pitchFamily="34" charset="0"/>
              </a:rPr>
              <a:t>, such that:</a:t>
            </a:r>
          </a:p>
          <a:p>
            <a:pPr marL="457200" lvl="1" indent="0">
              <a:buNone/>
            </a:pPr>
            <a:r>
              <a:rPr lang="en-US" sz="1800" dirty="0">
                <a:latin typeface="Segoe UI" panose="020B0502040204020203" pitchFamily="34" charset="0"/>
                <a:cs typeface="Segoe UI" panose="020B0502040204020203" pitchFamily="34" charset="0"/>
              </a:rPr>
              <a:t>             </a:t>
            </a:r>
          </a:p>
          <a:p>
            <a:pPr marL="457200" lvl="1" indent="0">
              <a:buNone/>
            </a:pPr>
            <a:endParaRPr lang="en-US" sz="1800" dirty="0">
              <a:latin typeface="Segoe UI" panose="020B0502040204020203" pitchFamily="34" charset="0"/>
              <a:cs typeface="Segoe UI" panose="020B0502040204020203" pitchFamily="34" charset="0"/>
            </a:endParaRPr>
          </a:p>
          <a:p>
            <a:pPr marL="457200" lvl="1" indent="0">
              <a:buNone/>
            </a:pPr>
            <a:r>
              <a:rPr lang="en-US" sz="2200" dirty="0">
                <a:latin typeface="Segoe UI" panose="020B0502040204020203" pitchFamily="34" charset="0"/>
                <a:cs typeface="Segoe UI" panose="020B0502040204020203" pitchFamily="34" charset="0"/>
              </a:rPr>
              <a:t>                                         a</a:t>
            </a:r>
            <a:r>
              <a:rPr lang="en-US" sz="2200" baseline="-25000" dirty="0">
                <a:latin typeface="Segoe UI" panose="020B0502040204020203" pitchFamily="34" charset="0"/>
                <a:cs typeface="Segoe UI" panose="020B0502040204020203" pitchFamily="34" charset="0"/>
              </a:rPr>
              <a:t>1</a:t>
            </a:r>
            <a:r>
              <a:rPr lang="en-US" sz="2200" dirty="0">
                <a:latin typeface="Segoe UI" panose="020B0502040204020203" pitchFamily="34" charset="0"/>
                <a:cs typeface="Segoe UI" panose="020B0502040204020203" pitchFamily="34" charset="0"/>
              </a:rPr>
              <a:t>*v</a:t>
            </a:r>
            <a:r>
              <a:rPr lang="en-US" sz="2200" baseline="-25000" dirty="0">
                <a:latin typeface="Segoe UI" panose="020B0502040204020203" pitchFamily="34" charset="0"/>
                <a:cs typeface="Segoe UI" panose="020B0502040204020203" pitchFamily="34" charset="0"/>
              </a:rPr>
              <a:t>1</a:t>
            </a:r>
            <a:r>
              <a:rPr lang="en-US" sz="2200" dirty="0">
                <a:latin typeface="Segoe UI" panose="020B0502040204020203" pitchFamily="34" charset="0"/>
                <a:cs typeface="Segoe UI" panose="020B0502040204020203" pitchFamily="34" charset="0"/>
              </a:rPr>
              <a:t> + a</a:t>
            </a:r>
            <a:r>
              <a:rPr lang="en-US" sz="2200" baseline="-25000" dirty="0">
                <a:latin typeface="Segoe UI" panose="020B0502040204020203" pitchFamily="34" charset="0"/>
                <a:cs typeface="Segoe UI" panose="020B0502040204020203" pitchFamily="34" charset="0"/>
              </a:rPr>
              <a:t>2</a:t>
            </a:r>
            <a:r>
              <a:rPr lang="en-US" sz="2200" dirty="0">
                <a:latin typeface="Segoe UI" panose="020B0502040204020203" pitchFamily="34" charset="0"/>
                <a:cs typeface="Segoe UI" panose="020B0502040204020203" pitchFamily="34" charset="0"/>
              </a:rPr>
              <a:t>*v</a:t>
            </a:r>
            <a:r>
              <a:rPr lang="en-US" sz="2200" baseline="-25000" dirty="0">
                <a:latin typeface="Segoe UI" panose="020B0502040204020203" pitchFamily="34" charset="0"/>
                <a:cs typeface="Segoe UI" panose="020B0502040204020203" pitchFamily="34" charset="0"/>
              </a:rPr>
              <a:t>2</a:t>
            </a:r>
            <a:r>
              <a:rPr lang="en-US" sz="2200" dirty="0">
                <a:latin typeface="Segoe UI" panose="020B0502040204020203" pitchFamily="34" charset="0"/>
                <a:cs typeface="Segoe UI" panose="020B0502040204020203" pitchFamily="34" charset="0"/>
              </a:rPr>
              <a:t> + ... + a</a:t>
            </a:r>
            <a:r>
              <a:rPr lang="en-US" sz="2200" baseline="-25000" dirty="0">
                <a:latin typeface="Segoe UI" panose="020B0502040204020203" pitchFamily="34" charset="0"/>
                <a:cs typeface="Segoe UI" panose="020B0502040204020203" pitchFamily="34" charset="0"/>
              </a:rPr>
              <a:t>n</a:t>
            </a:r>
            <a:r>
              <a:rPr lang="en-US" sz="2200" dirty="0">
                <a:latin typeface="Segoe UI" panose="020B0502040204020203" pitchFamily="34" charset="0"/>
                <a:cs typeface="Segoe UI" panose="020B0502040204020203" pitchFamily="34" charset="0"/>
              </a:rPr>
              <a:t>*</a:t>
            </a:r>
            <a:r>
              <a:rPr lang="en-US" sz="2200" dirty="0" err="1">
                <a:latin typeface="Segoe UI" panose="020B0502040204020203" pitchFamily="34" charset="0"/>
                <a:cs typeface="Segoe UI" panose="020B0502040204020203" pitchFamily="34" charset="0"/>
              </a:rPr>
              <a:t>v</a:t>
            </a:r>
            <a:r>
              <a:rPr lang="en-US" sz="2200" baseline="-25000" dirty="0" err="1">
                <a:latin typeface="Segoe UI" panose="020B0502040204020203" pitchFamily="34" charset="0"/>
                <a:cs typeface="Segoe UI" panose="020B0502040204020203" pitchFamily="34" charset="0"/>
              </a:rPr>
              <a:t>n</a:t>
            </a:r>
            <a:r>
              <a:rPr lang="en-US" sz="2200" dirty="0">
                <a:latin typeface="Segoe UI" panose="020B0502040204020203" pitchFamily="34" charset="0"/>
                <a:cs typeface="Segoe UI" panose="020B0502040204020203" pitchFamily="34" charset="0"/>
              </a:rPr>
              <a:t> = 0</a:t>
            </a: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84877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7C289-D3F7-1637-0F45-FAA7894FC3A6}"/>
              </a:ext>
            </a:extLst>
          </p:cNvPr>
          <p:cNvSpPr>
            <a:spLocks noGrp="1"/>
          </p:cNvSpPr>
          <p:nvPr>
            <p:ph type="title"/>
          </p:nvPr>
        </p:nvSpPr>
        <p:spPr>
          <a:xfrm>
            <a:off x="838200" y="242047"/>
            <a:ext cx="10515600" cy="681319"/>
          </a:xfrm>
        </p:spPr>
        <p:txBody>
          <a:bodyPr>
            <a:normAutofit fontScale="90000"/>
          </a:bodyPr>
          <a:lstStyle/>
          <a:p>
            <a:pPr algn="ctr"/>
            <a:br>
              <a:rPr lang="en-US" dirty="0"/>
            </a:br>
            <a:r>
              <a:rPr lang="en-US" dirty="0">
                <a:latin typeface="Segoe UI" panose="020B0502040204020203" pitchFamily="34" charset="0"/>
                <a:cs typeface="Segoe UI" panose="020B0502040204020203" pitchFamily="34" charset="0"/>
              </a:rPr>
              <a:t>Examples of Linear Dependence</a:t>
            </a:r>
            <a:br>
              <a:rPr lang="en-US" dirty="0"/>
            </a:br>
            <a:endParaRPr lang="en-US" dirty="0"/>
          </a:p>
        </p:txBody>
      </p:sp>
      <p:sp>
        <p:nvSpPr>
          <p:cNvPr id="3" name="Content Placeholder 2">
            <a:extLst>
              <a:ext uri="{FF2B5EF4-FFF2-40B4-BE49-F238E27FC236}">
                <a16:creationId xmlns:a16="http://schemas.microsoft.com/office/drawing/2014/main" id="{652D64BA-C882-3B11-67E4-0A4420FF3A9A}"/>
              </a:ext>
            </a:extLst>
          </p:cNvPr>
          <p:cNvSpPr>
            <a:spLocks noGrp="1"/>
          </p:cNvSpPr>
          <p:nvPr>
            <p:ph idx="1"/>
          </p:nvPr>
        </p:nvSpPr>
        <p:spPr>
          <a:xfrm>
            <a:off x="233081" y="1066800"/>
            <a:ext cx="11743765" cy="5110163"/>
          </a:xfrm>
        </p:spPr>
        <p:txBody>
          <a:bodyPr/>
          <a:lstStyle/>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Consider the vectors v</a:t>
            </a:r>
            <a:r>
              <a:rPr lang="en-US" sz="2200" baseline="-25000" dirty="0">
                <a:latin typeface="Segoe UI" panose="020B0502040204020203" pitchFamily="34" charset="0"/>
                <a:cs typeface="Segoe UI" panose="020B0502040204020203" pitchFamily="34" charset="0"/>
              </a:rPr>
              <a:t>1</a:t>
            </a:r>
            <a:r>
              <a:rPr lang="en-US" sz="2200" dirty="0">
                <a:latin typeface="Segoe UI" panose="020B0502040204020203" pitchFamily="34" charset="0"/>
                <a:cs typeface="Segoe UI" panose="020B0502040204020203" pitchFamily="34" charset="0"/>
              </a:rPr>
              <a:t>  and v</a:t>
            </a:r>
            <a:r>
              <a:rPr lang="en-US" sz="2200" baseline="-25000" dirty="0">
                <a:latin typeface="Segoe UI" panose="020B0502040204020203" pitchFamily="34" charset="0"/>
                <a:cs typeface="Segoe UI" panose="020B0502040204020203" pitchFamily="34" charset="0"/>
              </a:rPr>
              <a:t>2 </a:t>
            </a:r>
            <a:r>
              <a:rPr lang="en-US" sz="2200" dirty="0">
                <a:latin typeface="Segoe UI" panose="020B0502040204020203" pitchFamily="34" charset="0"/>
                <a:cs typeface="Segoe UI" panose="020B0502040204020203" pitchFamily="34" charset="0"/>
              </a:rPr>
              <a:t> in R</a:t>
            </a:r>
            <a:r>
              <a:rPr lang="en-US" sz="2200" baseline="30000" dirty="0">
                <a:latin typeface="Segoe UI" panose="020B0502040204020203" pitchFamily="34" charset="0"/>
                <a:cs typeface="Segoe UI" panose="020B0502040204020203" pitchFamily="34" charset="0"/>
              </a:rPr>
              <a:t>2</a:t>
            </a:r>
            <a:r>
              <a:rPr lang="en-US" sz="2200" dirty="0">
                <a:latin typeface="Segoe UI" panose="020B0502040204020203" pitchFamily="34" charset="0"/>
                <a:cs typeface="Segoe UI" panose="020B0502040204020203" pitchFamily="34" charset="0"/>
              </a:rPr>
              <a:t>. We can see that v</a:t>
            </a:r>
            <a:r>
              <a:rPr lang="en-US" sz="2200" baseline="-25000" dirty="0">
                <a:latin typeface="Segoe UI" panose="020B0502040204020203" pitchFamily="34" charset="0"/>
                <a:cs typeface="Segoe UI" panose="020B0502040204020203" pitchFamily="34" charset="0"/>
              </a:rPr>
              <a:t>2 </a:t>
            </a:r>
            <a:r>
              <a:rPr lang="en-US" sz="2200" dirty="0">
                <a:latin typeface="Segoe UI" panose="020B0502040204020203" pitchFamily="34" charset="0"/>
                <a:cs typeface="Segoe UI" panose="020B0502040204020203" pitchFamily="34" charset="0"/>
              </a:rPr>
              <a:t>is just twice v</a:t>
            </a:r>
            <a:r>
              <a:rPr lang="en-US" sz="2200" baseline="-25000" dirty="0">
                <a:latin typeface="Segoe UI" panose="020B0502040204020203" pitchFamily="34" charset="0"/>
                <a:cs typeface="Segoe UI" panose="020B0502040204020203" pitchFamily="34" charset="0"/>
              </a:rPr>
              <a:t>1</a:t>
            </a:r>
            <a:r>
              <a:rPr lang="en-US" sz="2200" dirty="0">
                <a:latin typeface="Segoe UI" panose="020B0502040204020203" pitchFamily="34" charset="0"/>
                <a:cs typeface="Segoe UI" panose="020B0502040204020203" pitchFamily="34" charset="0"/>
              </a:rPr>
              <a:t>. Therefore, they are linearly dependent since 2*v</a:t>
            </a:r>
            <a:r>
              <a:rPr lang="en-US" sz="2200" baseline="-25000" dirty="0">
                <a:latin typeface="Segoe UI" panose="020B0502040204020203" pitchFamily="34" charset="0"/>
                <a:cs typeface="Segoe UI" panose="020B0502040204020203" pitchFamily="34" charset="0"/>
              </a:rPr>
              <a:t>1</a:t>
            </a:r>
            <a:r>
              <a:rPr lang="en-US" sz="2200" dirty="0">
                <a:latin typeface="Segoe UI" panose="020B0502040204020203" pitchFamily="34" charset="0"/>
                <a:cs typeface="Segoe UI" panose="020B0502040204020203" pitchFamily="34" charset="0"/>
              </a:rPr>
              <a:t> - v</a:t>
            </a:r>
            <a:r>
              <a:rPr lang="en-US" sz="2200" baseline="-25000" dirty="0">
                <a:latin typeface="Segoe UI" panose="020B0502040204020203" pitchFamily="34" charset="0"/>
                <a:cs typeface="Segoe UI" panose="020B0502040204020203" pitchFamily="34" charset="0"/>
              </a:rPr>
              <a:t>2</a:t>
            </a:r>
            <a:r>
              <a:rPr lang="en-US" sz="2200" dirty="0">
                <a:latin typeface="Segoe UI" panose="020B0502040204020203" pitchFamily="34" charset="0"/>
                <a:cs typeface="Segoe UI" panose="020B0502040204020203" pitchFamily="34" charset="0"/>
              </a:rPr>
              <a:t> = 0.</a:t>
            </a: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As another example, in R</a:t>
            </a:r>
            <a:r>
              <a:rPr lang="en-US" sz="2200" baseline="30000" dirty="0">
                <a:latin typeface="Segoe UI" panose="020B0502040204020203" pitchFamily="34" charset="0"/>
                <a:cs typeface="Segoe UI" panose="020B0502040204020203" pitchFamily="34" charset="0"/>
              </a:rPr>
              <a:t>3</a:t>
            </a:r>
            <a:r>
              <a:rPr lang="en-US" sz="2200" dirty="0">
                <a:latin typeface="Segoe UI" panose="020B0502040204020203" pitchFamily="34" charset="0"/>
                <a:cs typeface="Segoe UI" panose="020B0502040204020203" pitchFamily="34" charset="0"/>
              </a:rPr>
              <a:t>, the vectors v</a:t>
            </a:r>
            <a:r>
              <a:rPr lang="en-US" sz="2200" baseline="-25000" dirty="0">
                <a:latin typeface="Segoe UI" panose="020B0502040204020203" pitchFamily="34" charset="0"/>
                <a:cs typeface="Segoe UI" panose="020B0502040204020203" pitchFamily="34" charset="0"/>
              </a:rPr>
              <a:t>1</a:t>
            </a:r>
            <a:r>
              <a:rPr lang="en-US" sz="2200" dirty="0">
                <a:latin typeface="Segoe UI" panose="020B0502040204020203" pitchFamily="34" charset="0"/>
                <a:cs typeface="Segoe UI" panose="020B0502040204020203" pitchFamily="34" charset="0"/>
              </a:rPr>
              <a:t> , v</a:t>
            </a:r>
            <a:r>
              <a:rPr lang="en-US" sz="2200" baseline="-25000" dirty="0">
                <a:latin typeface="Segoe UI" panose="020B0502040204020203" pitchFamily="34" charset="0"/>
                <a:cs typeface="Segoe UI" panose="020B0502040204020203" pitchFamily="34" charset="0"/>
              </a:rPr>
              <a:t>2</a:t>
            </a:r>
            <a:r>
              <a:rPr lang="en-US" sz="2200" dirty="0">
                <a:latin typeface="Segoe UI" panose="020B0502040204020203" pitchFamily="34" charset="0"/>
                <a:cs typeface="Segoe UI" panose="020B0502040204020203" pitchFamily="34" charset="0"/>
              </a:rPr>
              <a:t> , and v</a:t>
            </a:r>
            <a:r>
              <a:rPr lang="en-US" sz="2200" baseline="-25000" dirty="0">
                <a:latin typeface="Segoe UI" panose="020B0502040204020203" pitchFamily="34" charset="0"/>
                <a:cs typeface="Segoe UI" panose="020B0502040204020203" pitchFamily="34" charset="0"/>
              </a:rPr>
              <a:t>3</a:t>
            </a:r>
            <a:r>
              <a:rPr lang="en-US" sz="2200" dirty="0">
                <a:latin typeface="Segoe UI" panose="020B0502040204020203" pitchFamily="34" charset="0"/>
                <a:cs typeface="Segoe UI" panose="020B0502040204020203" pitchFamily="34" charset="0"/>
              </a:rPr>
              <a:t> are linearly dependent because v</a:t>
            </a:r>
            <a:r>
              <a:rPr lang="en-US" sz="2200" baseline="-25000" dirty="0">
                <a:latin typeface="Segoe UI" panose="020B0502040204020203" pitchFamily="34" charset="0"/>
                <a:cs typeface="Segoe UI" panose="020B0502040204020203" pitchFamily="34" charset="0"/>
              </a:rPr>
              <a:t>1</a:t>
            </a:r>
            <a:r>
              <a:rPr lang="en-US" sz="2200" dirty="0">
                <a:latin typeface="Segoe UI" panose="020B0502040204020203" pitchFamily="34" charset="0"/>
                <a:cs typeface="Segoe UI" panose="020B0502040204020203" pitchFamily="34" charset="0"/>
              </a:rPr>
              <a:t> + v</a:t>
            </a:r>
            <a:r>
              <a:rPr lang="en-US" sz="2200" baseline="-25000" dirty="0">
                <a:latin typeface="Segoe UI" panose="020B0502040204020203" pitchFamily="34" charset="0"/>
                <a:cs typeface="Segoe UI" panose="020B0502040204020203" pitchFamily="34" charset="0"/>
              </a:rPr>
              <a:t>2</a:t>
            </a:r>
            <a:r>
              <a:rPr lang="en-US" sz="2200" dirty="0">
                <a:latin typeface="Segoe UI" panose="020B0502040204020203" pitchFamily="34" charset="0"/>
                <a:cs typeface="Segoe UI" panose="020B0502040204020203" pitchFamily="34" charset="0"/>
              </a:rPr>
              <a:t> - v</a:t>
            </a:r>
            <a:r>
              <a:rPr lang="en-US" sz="2200" baseline="-25000" dirty="0">
                <a:latin typeface="Segoe UI" panose="020B0502040204020203" pitchFamily="34" charset="0"/>
                <a:cs typeface="Segoe UI" panose="020B0502040204020203" pitchFamily="34" charset="0"/>
              </a:rPr>
              <a:t>3</a:t>
            </a:r>
            <a:r>
              <a:rPr lang="en-US" sz="2200" dirty="0">
                <a:latin typeface="Segoe UI" panose="020B0502040204020203" pitchFamily="34" charset="0"/>
                <a:cs typeface="Segoe UI" panose="020B0502040204020203" pitchFamily="34" charset="0"/>
              </a:rPr>
              <a:t> = 0.</a:t>
            </a:r>
          </a:p>
          <a:p>
            <a:endParaRPr lang="en-US" dirty="0"/>
          </a:p>
        </p:txBody>
      </p:sp>
      <p:graphicFrame>
        <p:nvGraphicFramePr>
          <p:cNvPr id="4" name="Object 3">
            <a:extLst>
              <a:ext uri="{FF2B5EF4-FFF2-40B4-BE49-F238E27FC236}">
                <a16:creationId xmlns:a16="http://schemas.microsoft.com/office/drawing/2014/main" id="{AF813B77-C5C0-F9DA-4B2C-B4963D5CC377}"/>
              </a:ext>
            </a:extLst>
          </p:cNvPr>
          <p:cNvGraphicFramePr>
            <a:graphicFrameLocks noChangeAspect="1"/>
          </p:cNvGraphicFramePr>
          <p:nvPr>
            <p:extLst>
              <p:ext uri="{D42A27DB-BD31-4B8C-83A1-F6EECF244321}">
                <p14:modId xmlns:p14="http://schemas.microsoft.com/office/powerpoint/2010/main" val="1186323484"/>
              </p:ext>
            </p:extLst>
          </p:nvPr>
        </p:nvGraphicFramePr>
        <p:xfrm>
          <a:off x="4704896" y="2026024"/>
          <a:ext cx="2096235" cy="827462"/>
        </p:xfrm>
        <a:graphic>
          <a:graphicData uri="http://schemas.openxmlformats.org/presentationml/2006/ole">
            <mc:AlternateContent xmlns:mc="http://schemas.openxmlformats.org/markup-compatibility/2006">
              <mc:Choice xmlns:v="urn:schemas-microsoft-com:vml" Requires="v">
                <p:oleObj name="Equation" r:id="rId2" imgW="1266548" imgH="500555" progId="Equation.DSMT4">
                  <p:embed/>
                </p:oleObj>
              </mc:Choice>
              <mc:Fallback>
                <p:oleObj name="Equation" r:id="rId2" imgW="1266548" imgH="500555" progId="Equation.DSMT4">
                  <p:embed/>
                  <p:pic>
                    <p:nvPicPr>
                      <p:cNvPr id="0" name=""/>
                      <p:cNvPicPr/>
                      <p:nvPr/>
                    </p:nvPicPr>
                    <p:blipFill>
                      <a:blip r:embed="rId3"/>
                      <a:stretch>
                        <a:fillRect/>
                      </a:stretch>
                    </p:blipFill>
                    <p:spPr>
                      <a:xfrm>
                        <a:off x="4704896" y="2026024"/>
                        <a:ext cx="2096235" cy="827462"/>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3BF2DD85-7D8D-8C48-42F9-D1B524391A8F}"/>
              </a:ext>
            </a:extLst>
          </p:cNvPr>
          <p:cNvGraphicFramePr>
            <a:graphicFrameLocks noChangeAspect="1"/>
          </p:cNvGraphicFramePr>
          <p:nvPr>
            <p:extLst>
              <p:ext uri="{D42A27DB-BD31-4B8C-83A1-F6EECF244321}">
                <p14:modId xmlns:p14="http://schemas.microsoft.com/office/powerpoint/2010/main" val="4037753582"/>
              </p:ext>
            </p:extLst>
          </p:nvPr>
        </p:nvGraphicFramePr>
        <p:xfrm>
          <a:off x="4114800" y="4449337"/>
          <a:ext cx="3539046" cy="1252082"/>
        </p:xfrm>
        <a:graphic>
          <a:graphicData uri="http://schemas.openxmlformats.org/presentationml/2006/ole">
            <mc:AlternateContent xmlns:mc="http://schemas.openxmlformats.org/markup-compatibility/2006">
              <mc:Choice xmlns:v="urn:schemas-microsoft-com:vml" Requires="v">
                <p:oleObj name="Equation" r:id="rId4" imgW="2198900" imgH="778422" progId="Equation.DSMT4">
                  <p:embed/>
                </p:oleObj>
              </mc:Choice>
              <mc:Fallback>
                <p:oleObj name="Equation" r:id="rId4" imgW="2198900" imgH="778422" progId="Equation.DSMT4">
                  <p:embed/>
                  <p:pic>
                    <p:nvPicPr>
                      <p:cNvPr id="0" name=""/>
                      <p:cNvPicPr/>
                      <p:nvPr/>
                    </p:nvPicPr>
                    <p:blipFill>
                      <a:blip r:embed="rId5"/>
                      <a:stretch>
                        <a:fillRect/>
                      </a:stretch>
                    </p:blipFill>
                    <p:spPr>
                      <a:xfrm>
                        <a:off x="4114800" y="4449337"/>
                        <a:ext cx="3539046" cy="1252082"/>
                      </a:xfrm>
                      <a:prstGeom prst="rect">
                        <a:avLst/>
                      </a:prstGeom>
                    </p:spPr>
                  </p:pic>
                </p:oleObj>
              </mc:Fallback>
            </mc:AlternateContent>
          </a:graphicData>
        </a:graphic>
      </p:graphicFrame>
    </p:spTree>
    <p:extLst>
      <p:ext uri="{BB962C8B-B14F-4D97-AF65-F5344CB8AC3E}">
        <p14:creationId xmlns:p14="http://schemas.microsoft.com/office/powerpoint/2010/main" val="2895971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5BF7-B178-1044-BBFC-3F99A5B8F8E0}"/>
              </a:ext>
            </a:extLst>
          </p:cNvPr>
          <p:cNvSpPr>
            <a:spLocks noGrp="1"/>
          </p:cNvSpPr>
          <p:nvPr>
            <p:ph type="title"/>
          </p:nvPr>
        </p:nvSpPr>
        <p:spPr>
          <a:xfrm>
            <a:off x="838200" y="308472"/>
            <a:ext cx="10515600" cy="495760"/>
          </a:xfrm>
        </p:spPr>
        <p:txBody>
          <a:bodyPr>
            <a:normAutofit fontScale="90000"/>
          </a:bodyPr>
          <a:lstStyle/>
          <a:p>
            <a:pPr algn="ct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Significance of Linear Dependence</a:t>
            </a:r>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3E68D3E6-448F-61B6-2456-E3D2A226B3EF}"/>
              </a:ext>
            </a:extLst>
          </p:cNvPr>
          <p:cNvSpPr>
            <a:spLocks noGrp="1"/>
          </p:cNvSpPr>
          <p:nvPr>
            <p:ph idx="1"/>
          </p:nvPr>
        </p:nvSpPr>
        <p:spPr>
          <a:xfrm>
            <a:off x="352539" y="977152"/>
            <a:ext cx="11525696" cy="5728447"/>
          </a:xfrm>
        </p:spPr>
        <p:txBody>
          <a:bodyPr>
            <a:normAutofit/>
          </a:bodyPr>
          <a:lstStyle/>
          <a:p>
            <a:pPr algn="just">
              <a:buFont typeface="Wingdings" panose="05000000000000000000" pitchFamily="2" charset="2"/>
              <a:buChar char="v"/>
            </a:pPr>
            <a:r>
              <a:rPr lang="en-US" sz="2200" b="1" dirty="0">
                <a:latin typeface="Segoe UI" panose="020B0502040204020203" pitchFamily="34" charset="0"/>
                <a:cs typeface="Segoe UI" panose="020B0502040204020203" pitchFamily="34" charset="0"/>
              </a:rPr>
              <a:t>Span:</a:t>
            </a:r>
            <a:r>
              <a:rPr lang="en-US" sz="2200" dirty="0">
                <a:latin typeface="Segoe UI" panose="020B0502040204020203" pitchFamily="34" charset="0"/>
                <a:cs typeface="Segoe UI" panose="020B0502040204020203" pitchFamily="34" charset="0"/>
              </a:rPr>
              <a:t> If a set of vectors is linearly dependent, it means that the vectors do not all contribute to expanding the span of the space. </a:t>
            </a:r>
          </a:p>
          <a:p>
            <a:pPr>
              <a:buFont typeface="Wingdings" panose="05000000000000000000" pitchFamily="2" charset="2"/>
              <a:buChar char="v"/>
            </a:pPr>
            <a:endParaRPr lang="en-US" sz="2200" b="1"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200" b="1"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200" b="1"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200" b="1" dirty="0">
                <a:latin typeface="Segoe UI" panose="020B0502040204020203" pitchFamily="34" charset="0"/>
                <a:cs typeface="Segoe UI" panose="020B0502040204020203" pitchFamily="34" charset="0"/>
              </a:rPr>
              <a:t>Dimension:</a:t>
            </a:r>
            <a:r>
              <a:rPr lang="en-US" sz="2200" dirty="0">
                <a:latin typeface="Segoe UI" panose="020B0502040204020203" pitchFamily="34" charset="0"/>
                <a:cs typeface="Segoe UI" panose="020B0502040204020203" pitchFamily="34" charset="0"/>
              </a:rPr>
              <a:t> In a vector space, the maximum number of linearly independent vectors equals the dimension of the space. V</a:t>
            </a:r>
            <a:r>
              <a:rPr lang="en-US" sz="2200" baseline="-25000" dirty="0">
                <a:latin typeface="Segoe UI" panose="020B0502040204020203" pitchFamily="34" charset="0"/>
                <a:cs typeface="Segoe UI" panose="020B0502040204020203" pitchFamily="34" charset="0"/>
              </a:rPr>
              <a:t>1</a:t>
            </a:r>
            <a:r>
              <a:rPr lang="en-US" sz="2200" dirty="0">
                <a:latin typeface="Segoe UI" panose="020B0502040204020203" pitchFamily="34" charset="0"/>
                <a:cs typeface="Segoe UI" panose="020B0502040204020203" pitchFamily="34" charset="0"/>
              </a:rPr>
              <a:t> and V</a:t>
            </a:r>
            <a:r>
              <a:rPr lang="en-US" sz="2200" baseline="-25000" dirty="0">
                <a:latin typeface="Segoe UI" panose="020B0502040204020203" pitchFamily="34" charset="0"/>
                <a:cs typeface="Segoe UI" panose="020B0502040204020203" pitchFamily="34" charset="0"/>
              </a:rPr>
              <a:t>2</a:t>
            </a:r>
            <a:r>
              <a:rPr lang="en-US" sz="2200" dirty="0">
                <a:latin typeface="Segoe UI" panose="020B0502040204020203" pitchFamily="34" charset="0"/>
                <a:cs typeface="Segoe UI" panose="020B0502040204020203" pitchFamily="34" charset="0"/>
              </a:rPr>
              <a:t> are independent and </a:t>
            </a:r>
            <a:r>
              <a:rPr lang="en-US" sz="2200" b="1" dirty="0">
                <a:latin typeface="Segoe UI" panose="020B0502040204020203" pitchFamily="34" charset="0"/>
                <a:cs typeface="Segoe UI" panose="020B0502040204020203" pitchFamily="34" charset="0"/>
              </a:rPr>
              <a:t>dimension=2</a:t>
            </a:r>
            <a:r>
              <a:rPr lang="en-US" sz="2200" dirty="0">
                <a:latin typeface="Segoe UI" panose="020B0502040204020203" pitchFamily="34" charset="0"/>
                <a:cs typeface="Segoe UI" panose="020B0502040204020203" pitchFamily="34" charset="0"/>
              </a:rPr>
              <a:t>.</a:t>
            </a:r>
          </a:p>
          <a:p>
            <a:pPr algn="just">
              <a:buFont typeface="Wingdings" panose="05000000000000000000" pitchFamily="2" charset="2"/>
              <a:buChar char="v"/>
            </a:pPr>
            <a:endParaRPr lang="en-US" sz="2200" b="1"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200" b="1" dirty="0">
                <a:latin typeface="Segoe UI" panose="020B0502040204020203" pitchFamily="34" charset="0"/>
                <a:cs typeface="Segoe UI" panose="020B0502040204020203" pitchFamily="34" charset="0"/>
              </a:rPr>
              <a:t>Basis:</a:t>
            </a:r>
            <a:r>
              <a:rPr lang="en-US" sz="2200" dirty="0">
                <a:latin typeface="Segoe UI" panose="020B0502040204020203" pitchFamily="34" charset="0"/>
                <a:cs typeface="Segoe UI" panose="020B0502040204020203" pitchFamily="34" charset="0"/>
              </a:rPr>
              <a:t> A set of linearly independent vectors that span the entire space. Linearly dependent vectors cannot form a basis because they are not all needed to span the space.</a:t>
            </a: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p:txBody>
      </p:sp>
      <p:graphicFrame>
        <p:nvGraphicFramePr>
          <p:cNvPr id="5" name="Object 4">
            <a:extLst>
              <a:ext uri="{FF2B5EF4-FFF2-40B4-BE49-F238E27FC236}">
                <a16:creationId xmlns:a16="http://schemas.microsoft.com/office/drawing/2014/main" id="{6BFC6080-A0EA-E85C-8188-2D48AF1C15DB}"/>
              </a:ext>
            </a:extLst>
          </p:cNvPr>
          <p:cNvGraphicFramePr>
            <a:graphicFrameLocks noChangeAspect="1"/>
          </p:cNvGraphicFramePr>
          <p:nvPr>
            <p:extLst>
              <p:ext uri="{D42A27DB-BD31-4B8C-83A1-F6EECF244321}">
                <p14:modId xmlns:p14="http://schemas.microsoft.com/office/powerpoint/2010/main" val="2738959856"/>
              </p:ext>
            </p:extLst>
          </p:nvPr>
        </p:nvGraphicFramePr>
        <p:xfrm>
          <a:off x="4170786" y="1819829"/>
          <a:ext cx="2990001" cy="1057835"/>
        </p:xfrm>
        <a:graphic>
          <a:graphicData uri="http://schemas.openxmlformats.org/presentationml/2006/ole">
            <mc:AlternateContent xmlns:mc="http://schemas.openxmlformats.org/markup-compatibility/2006">
              <mc:Choice xmlns:v="urn:schemas-microsoft-com:vml" Requires="v">
                <p:oleObj name="Equation" r:id="rId2" imgW="2198900" imgH="778422" progId="Equation.DSMT4">
                  <p:embed/>
                </p:oleObj>
              </mc:Choice>
              <mc:Fallback>
                <p:oleObj name="Equation" r:id="rId2" imgW="2198900" imgH="778422" progId="Equation.DSMT4">
                  <p:embed/>
                  <p:pic>
                    <p:nvPicPr>
                      <p:cNvPr id="5" name="Object 4">
                        <a:extLst>
                          <a:ext uri="{FF2B5EF4-FFF2-40B4-BE49-F238E27FC236}">
                            <a16:creationId xmlns:a16="http://schemas.microsoft.com/office/drawing/2014/main" id="{3BF2DD85-7D8D-8C48-42F9-D1B524391A8F}"/>
                          </a:ext>
                        </a:extLst>
                      </p:cNvPr>
                      <p:cNvPicPr/>
                      <p:nvPr/>
                    </p:nvPicPr>
                    <p:blipFill>
                      <a:blip r:embed="rId3"/>
                      <a:stretch>
                        <a:fillRect/>
                      </a:stretch>
                    </p:blipFill>
                    <p:spPr>
                      <a:xfrm>
                        <a:off x="4170786" y="1819829"/>
                        <a:ext cx="2990001" cy="1057835"/>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7458F52B-C952-988A-ABCC-51FA187B6E90}"/>
              </a:ext>
            </a:extLst>
          </p:cNvPr>
          <p:cNvGraphicFramePr>
            <a:graphicFrameLocks noChangeAspect="1"/>
          </p:cNvGraphicFramePr>
          <p:nvPr>
            <p:extLst>
              <p:ext uri="{D42A27DB-BD31-4B8C-83A1-F6EECF244321}">
                <p14:modId xmlns:p14="http://schemas.microsoft.com/office/powerpoint/2010/main" val="2192494853"/>
              </p:ext>
            </p:extLst>
          </p:nvPr>
        </p:nvGraphicFramePr>
        <p:xfrm>
          <a:off x="5401645" y="5293397"/>
          <a:ext cx="1097767" cy="1156983"/>
        </p:xfrm>
        <a:graphic>
          <a:graphicData uri="http://schemas.openxmlformats.org/presentationml/2006/ole">
            <mc:AlternateContent xmlns:mc="http://schemas.openxmlformats.org/markup-compatibility/2006">
              <mc:Choice xmlns:v="urn:schemas-microsoft-com:vml" Requires="v">
                <p:oleObj name="Equation" r:id="rId4" imgW="765452" imgH="806406" progId="Equation.DSMT4">
                  <p:embed/>
                </p:oleObj>
              </mc:Choice>
              <mc:Fallback>
                <p:oleObj name="Equation" r:id="rId4" imgW="765452" imgH="806406" progId="Equation.DSMT4">
                  <p:embed/>
                  <p:pic>
                    <p:nvPicPr>
                      <p:cNvPr id="0" name=""/>
                      <p:cNvPicPr/>
                      <p:nvPr/>
                    </p:nvPicPr>
                    <p:blipFill>
                      <a:blip r:embed="rId5"/>
                      <a:stretch>
                        <a:fillRect/>
                      </a:stretch>
                    </p:blipFill>
                    <p:spPr>
                      <a:xfrm>
                        <a:off x="5401645" y="5293397"/>
                        <a:ext cx="1097767" cy="1156983"/>
                      </a:xfrm>
                      <a:prstGeom prst="rect">
                        <a:avLst/>
                      </a:prstGeom>
                    </p:spPr>
                  </p:pic>
                </p:oleObj>
              </mc:Fallback>
            </mc:AlternateContent>
          </a:graphicData>
        </a:graphic>
      </p:graphicFrame>
    </p:spTree>
    <p:extLst>
      <p:ext uri="{BB962C8B-B14F-4D97-AF65-F5344CB8AC3E}">
        <p14:creationId xmlns:p14="http://schemas.microsoft.com/office/powerpoint/2010/main" val="1482704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1727-D1FE-7AAA-908A-4C610359B18D}"/>
              </a:ext>
            </a:extLst>
          </p:cNvPr>
          <p:cNvSpPr>
            <a:spLocks noGrp="1"/>
          </p:cNvSpPr>
          <p:nvPr>
            <p:ph type="title"/>
          </p:nvPr>
        </p:nvSpPr>
        <p:spPr>
          <a:xfrm>
            <a:off x="838200" y="208723"/>
            <a:ext cx="10515600" cy="755374"/>
          </a:xfrm>
        </p:spPr>
        <p:txBody>
          <a:bodyPr>
            <a:normAutofit/>
          </a:bodyPr>
          <a:lstStyle/>
          <a:p>
            <a:pPr algn="ctr"/>
            <a:r>
              <a:rPr lang="en-US" dirty="0">
                <a:latin typeface="Segoe UI" panose="020B0502040204020203" pitchFamily="34" charset="0"/>
                <a:cs typeface="Segoe UI" panose="020B0502040204020203" pitchFamily="34" charset="0"/>
              </a:rPr>
              <a:t>Understand Span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6FCC86C-F962-1598-A82F-A5757452C512}"/>
                  </a:ext>
                </a:extLst>
              </p:cNvPr>
              <p:cNvSpPr>
                <a:spLocks noGrp="1"/>
              </p:cNvSpPr>
              <p:nvPr>
                <p:ph idx="1"/>
              </p:nvPr>
            </p:nvSpPr>
            <p:spPr>
              <a:xfrm>
                <a:off x="298173" y="964097"/>
                <a:ext cx="11598965" cy="5685180"/>
              </a:xfrm>
            </p:spPr>
            <p:txBody>
              <a:bodyPr>
                <a:noAutofit/>
              </a:bodyPr>
              <a:lstStyle/>
              <a:p>
                <a:pPr algn="just">
                  <a:buFont typeface="Wingdings" panose="05000000000000000000" pitchFamily="2" charset="2"/>
                  <a:buChar char="v"/>
                </a:pPr>
                <a:r>
                  <a:rPr lang="en-US" sz="2200" dirty="0">
                    <a:latin typeface="Segoe UI" panose="020B0502040204020203" pitchFamily="34" charset="0"/>
                    <a:cs typeface="Segoe UI" panose="020B0502040204020203" pitchFamily="34" charset="0"/>
                  </a:rPr>
                  <a:t>Span(v) is the set of all linear combinations of v, aka the multiples, including (2,2), (3,3),(-2,-2 and so on. In this case Span(v), marked in pink:</a:t>
                </a: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200" dirty="0">
                    <a:latin typeface="Segoe UI" panose="020B0502040204020203" pitchFamily="34" charset="0"/>
                    <a:cs typeface="Segoe UI" panose="020B0502040204020203" pitchFamily="34" charset="0"/>
                  </a:rPr>
                  <a:t>Linear combinations of  </a:t>
                </a:r>
                <a14:m>
                  <m:oMath xmlns:m="http://schemas.openxmlformats.org/officeDocument/2006/math">
                    <m:r>
                      <a:rPr lang="en-US" sz="2200" b="1" i="1">
                        <a:latin typeface="Cambria Math" panose="02040503050406030204" pitchFamily="18" charset="0"/>
                      </a:rPr>
                      <m:t>𝒂</m:t>
                    </m:r>
                    <m:r>
                      <a:rPr lang="en-US" sz="2200" b="1">
                        <a:latin typeface="Cambria Math" panose="02040503050406030204" pitchFamily="18" charset="0"/>
                      </a:rPr>
                      <m:t>𝐯</m:t>
                    </m:r>
                    <m:r>
                      <a:rPr lang="en-US" sz="2200" b="1">
                        <a:latin typeface="Cambria Math" panose="02040503050406030204" pitchFamily="18" charset="0"/>
                      </a:rPr>
                      <m:t>+</m:t>
                    </m:r>
                    <m:r>
                      <a:rPr lang="en-US" sz="2200" b="1" i="1">
                        <a:latin typeface="Cambria Math" panose="02040503050406030204" pitchFamily="18" charset="0"/>
                      </a:rPr>
                      <m:t>𝒃</m:t>
                    </m:r>
                    <m:r>
                      <a:rPr lang="en-US" sz="2200" b="1">
                        <a:latin typeface="Cambria Math" panose="02040503050406030204" pitchFamily="18" charset="0"/>
                      </a:rPr>
                      <m:t>𝐰</m:t>
                    </m:r>
                  </m:oMath>
                </a14:m>
                <a:r>
                  <a:rPr lang="en-US" sz="2200" b="1" dirty="0">
                    <a:latin typeface="Segoe UI" panose="020B0502040204020203" pitchFamily="34" charset="0"/>
                    <a:cs typeface="Segoe UI" panose="020B0502040204020203" pitchFamily="34" charset="0"/>
                  </a:rPr>
                  <a:t>=0 </a:t>
                </a:r>
                <a:r>
                  <a:rPr lang="en-US" sz="2200" dirty="0">
                    <a:latin typeface="Segoe UI" panose="020B0502040204020203" pitchFamily="34" charset="0"/>
                    <a:cs typeface="Segoe UI" panose="020B0502040204020203" pitchFamily="34" charset="0"/>
                  </a:rPr>
                  <a:t>produce different vectors in 2D space. These combinations form the entire 2D plane because </a:t>
                </a:r>
                <a14:m>
                  <m:oMath xmlns:m="http://schemas.openxmlformats.org/officeDocument/2006/math">
                    <m:r>
                      <a:rPr lang="en-US" sz="2200" b="1" i="1">
                        <a:latin typeface="Cambria Math" panose="02040503050406030204" pitchFamily="18" charset="0"/>
                      </a:rPr>
                      <m:t>𝒗</m:t>
                    </m:r>
                  </m:oMath>
                </a14:m>
                <a:r>
                  <a:rPr lang="en-US" sz="2200" b="1" dirty="0">
                    <a:latin typeface="Segoe UI" panose="020B0502040204020203" pitchFamily="34" charset="0"/>
                    <a:cs typeface="Segoe UI" panose="020B0502040204020203" pitchFamily="34" charset="0"/>
                  </a:rPr>
                  <a:t> </a:t>
                </a:r>
                <a:r>
                  <a:rPr lang="en-US" sz="2200" dirty="0">
                    <a:latin typeface="Segoe UI" panose="020B0502040204020203" pitchFamily="34" charset="0"/>
                    <a:cs typeface="Segoe UI" panose="020B0502040204020203" pitchFamily="34" charset="0"/>
                  </a:rPr>
                  <a:t>and </a:t>
                </a:r>
                <a14:m>
                  <m:oMath xmlns:m="http://schemas.openxmlformats.org/officeDocument/2006/math">
                    <m:r>
                      <a:rPr lang="en-US" sz="2200" b="1" i="1">
                        <a:latin typeface="Cambria Math" panose="02040503050406030204" pitchFamily="18" charset="0"/>
                      </a:rPr>
                      <m:t>𝒘</m:t>
                    </m:r>
                  </m:oMath>
                </a14:m>
                <a:r>
                  <a:rPr lang="en-US" sz="2200" dirty="0">
                    <a:latin typeface="Segoe UI" panose="020B0502040204020203" pitchFamily="34" charset="0"/>
                    <a:cs typeface="Segoe UI" panose="020B0502040204020203" pitchFamily="34" charset="0"/>
                  </a:rPr>
                  <a:t> are linearly independent.</a:t>
                </a: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p:txBody>
          </p:sp>
        </mc:Choice>
        <mc:Fallback>
          <p:sp>
            <p:nvSpPr>
              <p:cNvPr id="3" name="Content Placeholder 2">
                <a:extLst>
                  <a:ext uri="{FF2B5EF4-FFF2-40B4-BE49-F238E27FC236}">
                    <a16:creationId xmlns:a16="http://schemas.microsoft.com/office/drawing/2014/main" id="{76FCC86C-F962-1598-A82F-A5757452C512}"/>
                  </a:ext>
                </a:extLst>
              </p:cNvPr>
              <p:cNvSpPr>
                <a:spLocks noGrp="1" noRot="1" noChangeAspect="1" noMove="1" noResize="1" noEditPoints="1" noAdjustHandles="1" noChangeArrowheads="1" noChangeShapeType="1" noTextEdit="1"/>
              </p:cNvSpPr>
              <p:nvPr>
                <p:ph idx="1"/>
              </p:nvPr>
            </p:nvSpPr>
            <p:spPr>
              <a:xfrm>
                <a:off x="298173" y="964097"/>
                <a:ext cx="11598965" cy="5685180"/>
              </a:xfrm>
              <a:blipFill>
                <a:blip r:embed="rId3"/>
                <a:stretch>
                  <a:fillRect l="-578" t="-1286" r="-683" b="-2787"/>
                </a:stretch>
              </a:blipFill>
            </p:spPr>
            <p:txBody>
              <a:bodyPr/>
              <a:lstStyle/>
              <a:p>
                <a:r>
                  <a:rPr lang="en-US">
                    <a:noFill/>
                  </a:rPr>
                  <a:t> </a:t>
                </a:r>
              </a:p>
            </p:txBody>
          </p:sp>
        </mc:Fallback>
      </mc:AlternateContent>
      <p:pic>
        <p:nvPicPr>
          <p:cNvPr id="1026" name="Picture 2">
            <a:extLst>
              <a:ext uri="{FF2B5EF4-FFF2-40B4-BE49-F238E27FC236}">
                <a16:creationId xmlns:a16="http://schemas.microsoft.com/office/drawing/2014/main" id="{E72769BF-0B18-CC6A-0B01-3CA521E4BD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6699" y="1839908"/>
            <a:ext cx="3581148" cy="33594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Object 3">
            <a:extLst>
              <a:ext uri="{FF2B5EF4-FFF2-40B4-BE49-F238E27FC236}">
                <a16:creationId xmlns:a16="http://schemas.microsoft.com/office/drawing/2014/main" id="{44052FA2-CAA3-8928-550F-55A6E357D2E2}"/>
              </a:ext>
            </a:extLst>
          </p:cNvPr>
          <p:cNvGraphicFramePr>
            <a:graphicFrameLocks noChangeAspect="1"/>
          </p:cNvGraphicFramePr>
          <p:nvPr>
            <p:extLst>
              <p:ext uri="{D42A27DB-BD31-4B8C-83A1-F6EECF244321}">
                <p14:modId xmlns:p14="http://schemas.microsoft.com/office/powerpoint/2010/main" val="1126256603"/>
              </p:ext>
            </p:extLst>
          </p:nvPr>
        </p:nvGraphicFramePr>
        <p:xfrm>
          <a:off x="385763" y="2947988"/>
          <a:ext cx="960437" cy="960437"/>
        </p:xfrm>
        <a:graphic>
          <a:graphicData uri="http://schemas.openxmlformats.org/presentationml/2006/ole">
            <mc:AlternateContent xmlns:mc="http://schemas.openxmlformats.org/markup-compatibility/2006">
              <mc:Choice xmlns:v="urn:schemas-microsoft-com:vml" Requires="v">
                <p:oleObj name="Equation" r:id="rId5" imgW="457200" imgH="457200" progId="Equation.DSMT4">
                  <p:embed/>
                </p:oleObj>
              </mc:Choice>
              <mc:Fallback>
                <p:oleObj name="Equation" r:id="rId5" imgW="457200" imgH="457200" progId="Equation.DSMT4">
                  <p:embed/>
                  <p:pic>
                    <p:nvPicPr>
                      <p:cNvPr id="0" name=""/>
                      <p:cNvPicPr/>
                      <p:nvPr/>
                    </p:nvPicPr>
                    <p:blipFill>
                      <a:blip r:embed="rId6"/>
                      <a:stretch>
                        <a:fillRect/>
                      </a:stretch>
                    </p:blipFill>
                    <p:spPr>
                      <a:xfrm>
                        <a:off x="385763" y="2947988"/>
                        <a:ext cx="960437" cy="960437"/>
                      </a:xfrm>
                      <a:prstGeom prst="rect">
                        <a:avLst/>
                      </a:prstGeom>
                    </p:spPr>
                  </p:pic>
                </p:oleObj>
              </mc:Fallback>
            </mc:AlternateContent>
          </a:graphicData>
        </a:graphic>
      </p:graphicFrame>
      <p:pic>
        <p:nvPicPr>
          <p:cNvPr id="1028" name="Picture 4">
            <a:extLst>
              <a:ext uri="{FF2B5EF4-FFF2-40B4-BE49-F238E27FC236}">
                <a16:creationId xmlns:a16="http://schemas.microsoft.com/office/drawing/2014/main" id="{C1DDE152-013C-1923-5ADB-E8AEA247794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48347" y="1956456"/>
            <a:ext cx="6036381" cy="3541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216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1C40B-2DF3-2461-49F2-B1E5A723B22C}"/>
              </a:ext>
            </a:extLst>
          </p:cNvPr>
          <p:cNvSpPr>
            <a:spLocks noGrp="1"/>
          </p:cNvSpPr>
          <p:nvPr>
            <p:ph type="title"/>
          </p:nvPr>
        </p:nvSpPr>
        <p:spPr>
          <a:xfrm>
            <a:off x="838200" y="170329"/>
            <a:ext cx="10515600" cy="851647"/>
          </a:xfrm>
        </p:spPr>
        <p:txBody>
          <a:bodyPr>
            <a:normAutofit/>
          </a:bodyPr>
          <a:lstStyle/>
          <a:p>
            <a:pPr algn="ctr"/>
            <a:r>
              <a:rPr lang="en-US" dirty="0"/>
              <a:t>Basis and Span</a:t>
            </a:r>
          </a:p>
        </p:txBody>
      </p:sp>
      <p:sp>
        <p:nvSpPr>
          <p:cNvPr id="3" name="Content Placeholder 2">
            <a:extLst>
              <a:ext uri="{FF2B5EF4-FFF2-40B4-BE49-F238E27FC236}">
                <a16:creationId xmlns:a16="http://schemas.microsoft.com/office/drawing/2014/main" id="{FDE50971-2807-552F-6B25-EC2387031BF0}"/>
              </a:ext>
            </a:extLst>
          </p:cNvPr>
          <p:cNvSpPr>
            <a:spLocks noGrp="1"/>
          </p:cNvSpPr>
          <p:nvPr>
            <p:ph idx="1"/>
          </p:nvPr>
        </p:nvSpPr>
        <p:spPr>
          <a:xfrm>
            <a:off x="251012" y="1021976"/>
            <a:ext cx="11689976" cy="5585012"/>
          </a:xfrm>
        </p:spPr>
        <p:txBody>
          <a:bodyPr>
            <a:normAutofit/>
          </a:bodyPr>
          <a:lstStyle/>
          <a:p>
            <a:pPr>
              <a:buFont typeface="Wingdings" panose="05000000000000000000" pitchFamily="2" charset="2"/>
              <a:buChar char="v"/>
            </a:pPr>
            <a:endParaRPr lang="en-US" sz="2400" baseline="300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400" baseline="30000" dirty="0">
                <a:latin typeface="Segoe UI" panose="020B0502040204020203" pitchFamily="34" charset="0"/>
                <a:cs typeface="Segoe UI" panose="020B0502040204020203" pitchFamily="34" charset="0"/>
              </a:rPr>
              <a:t>Which of the following are basis for a 2D plane(n=2)</a:t>
            </a:r>
          </a:p>
          <a:p>
            <a:pPr marL="0" indent="0">
              <a:buNone/>
            </a:pPr>
            <a:endParaRPr lang="en-US" sz="2400" baseline="300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400" baseline="30000" dirty="0">
                <a:latin typeface="Segoe UI" panose="020B0502040204020203" pitchFamily="34" charset="0"/>
                <a:cs typeface="Segoe UI" panose="020B0502040204020203" pitchFamily="34" charset="0"/>
              </a:rPr>
              <a:t>Basis(Linear Independent): (A), (C) and (E) </a:t>
            </a:r>
          </a:p>
          <a:p>
            <a:pPr>
              <a:buFont typeface="Wingdings" panose="05000000000000000000" pitchFamily="2" charset="2"/>
              <a:buChar char="v"/>
            </a:pPr>
            <a:endParaRPr lang="en-US" sz="2400" baseline="300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400" baseline="30000" dirty="0">
                <a:latin typeface="Segoe UI" panose="020B0502040204020203" pitchFamily="34" charset="0"/>
                <a:cs typeface="Segoe UI" panose="020B0502040204020203" pitchFamily="34" charset="0"/>
              </a:rPr>
              <a:t>If v₁ and v₂ are linearly independent, their span is all of ℝ² (the whole 2D plane).</a:t>
            </a:r>
          </a:p>
          <a:p>
            <a:pPr>
              <a:buFont typeface="Wingdings" panose="05000000000000000000" pitchFamily="2" charset="2"/>
              <a:buChar char="v"/>
            </a:pPr>
            <a:endParaRPr lang="en-US" sz="2400" baseline="300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400" baseline="30000" dirty="0">
                <a:latin typeface="Segoe UI" panose="020B0502040204020203" pitchFamily="34" charset="0"/>
                <a:cs typeface="Segoe UI" panose="020B0502040204020203" pitchFamily="34" charset="0"/>
              </a:rPr>
              <a:t>If they’re linearly dependent, their span is just a line.</a:t>
            </a:r>
          </a:p>
          <a:p>
            <a:pPr>
              <a:buFont typeface="Wingdings" panose="05000000000000000000" pitchFamily="2" charset="2"/>
              <a:buChar char="v"/>
            </a:pPr>
            <a:endParaRPr lang="en-US" sz="2400" baseline="300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400" baseline="300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400" baseline="300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400" baseline="300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400" baseline="300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400" baseline="300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400" baseline="300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400" baseline="300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400" baseline="30000" dirty="0">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A30BF261-2AF4-490F-5A5C-8D6A928995DF}"/>
              </a:ext>
            </a:extLst>
          </p:cNvPr>
          <p:cNvPicPr>
            <a:picLocks noChangeAspect="1"/>
          </p:cNvPicPr>
          <p:nvPr/>
        </p:nvPicPr>
        <p:blipFill>
          <a:blip r:embed="rId2"/>
          <a:stretch>
            <a:fillRect/>
          </a:stretch>
        </p:blipFill>
        <p:spPr>
          <a:xfrm>
            <a:off x="3067765" y="4603446"/>
            <a:ext cx="6372070" cy="1582201"/>
          </a:xfrm>
          <a:prstGeom prst="rect">
            <a:avLst/>
          </a:prstGeom>
        </p:spPr>
      </p:pic>
    </p:spTree>
    <p:extLst>
      <p:ext uri="{BB962C8B-B14F-4D97-AF65-F5344CB8AC3E}">
        <p14:creationId xmlns:p14="http://schemas.microsoft.com/office/powerpoint/2010/main" val="34154311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F4922-9570-AE48-D490-3EC2117D6F02}"/>
              </a:ext>
            </a:extLst>
          </p:cNvPr>
          <p:cNvSpPr>
            <a:spLocks noGrp="1"/>
          </p:cNvSpPr>
          <p:nvPr>
            <p:ph type="title"/>
          </p:nvPr>
        </p:nvSpPr>
        <p:spPr>
          <a:xfrm>
            <a:off x="838200" y="188259"/>
            <a:ext cx="10515600" cy="833717"/>
          </a:xfrm>
        </p:spPr>
        <p:txBody>
          <a:bodyPr>
            <a:normAutofit fontScale="90000"/>
          </a:bodyPr>
          <a:lstStyle/>
          <a:p>
            <a:pPr algn="ct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Span: Example</a:t>
            </a:r>
            <a:br>
              <a:rPr lang="en-US" dirty="0">
                <a:latin typeface="Segoe UI" panose="020B0502040204020203" pitchFamily="34" charset="0"/>
                <a:cs typeface="Segoe UI" panose="020B0502040204020203" pitchFamily="34" charset="0"/>
              </a:rPr>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3D9C9E-245F-375D-6CD6-92946967EC28}"/>
                  </a:ext>
                </a:extLst>
              </p:cNvPr>
              <p:cNvSpPr>
                <a:spLocks noGrp="1"/>
              </p:cNvSpPr>
              <p:nvPr>
                <p:ph idx="1"/>
              </p:nvPr>
            </p:nvSpPr>
            <p:spPr>
              <a:xfrm>
                <a:off x="242047" y="1165412"/>
                <a:ext cx="11779624" cy="5011551"/>
              </a:xfrm>
            </p:spPr>
            <p:txBody>
              <a:bodyPr>
                <a:normAutofit/>
              </a:bodyPr>
              <a:lstStyle/>
              <a:p>
                <a:pPr>
                  <a:buFont typeface="Wingdings" panose="05000000000000000000" pitchFamily="2" charset="2"/>
                  <a:buChar char="v"/>
                </a:pPr>
                <a:r>
                  <a:rPr lang="en-US" sz="2400" dirty="0">
                    <a:latin typeface="Segoe UI" panose="020B0502040204020203" pitchFamily="34" charset="0"/>
                    <a:cs typeface="Segoe UI" panose="020B0502040204020203" pitchFamily="34" charset="0"/>
                  </a:rPr>
                  <a:t>The </a:t>
                </a:r>
                <a:r>
                  <a:rPr lang="en-US" sz="2400" b="1" dirty="0">
                    <a:latin typeface="Segoe UI" panose="020B0502040204020203" pitchFamily="34" charset="0"/>
                    <a:cs typeface="Segoe UI" panose="020B0502040204020203" pitchFamily="34" charset="0"/>
                  </a:rPr>
                  <a:t>span</a:t>
                </a:r>
                <a:r>
                  <a:rPr lang="en-US" sz="2400" dirty="0">
                    <a:latin typeface="Segoe UI" panose="020B0502040204020203" pitchFamily="34" charset="0"/>
                    <a:cs typeface="Segoe UI" panose="020B0502040204020203" pitchFamily="34" charset="0"/>
                  </a:rPr>
                  <a:t> of a set of vectors is the set of </a:t>
                </a:r>
                <a:r>
                  <a:rPr lang="en-US" sz="2400" b="1" dirty="0">
                    <a:latin typeface="Segoe UI" panose="020B0502040204020203" pitchFamily="34" charset="0"/>
                    <a:cs typeface="Segoe UI" panose="020B0502040204020203" pitchFamily="34" charset="0"/>
                  </a:rPr>
                  <a:t>all linear combinations</a:t>
                </a:r>
                <a:r>
                  <a:rPr lang="en-US" sz="2400" dirty="0">
                    <a:latin typeface="Segoe UI" panose="020B0502040204020203" pitchFamily="34" charset="0"/>
                    <a:cs typeface="Segoe UI" panose="020B0502040204020203" pitchFamily="34" charset="0"/>
                  </a:rPr>
                  <a:t> of those vectors.</a:t>
                </a:r>
              </a:p>
              <a:p>
                <a:pPr>
                  <a:buFont typeface="Wingdings" panose="05000000000000000000" pitchFamily="2" charset="2"/>
                  <a:buChar char="v"/>
                </a:pPr>
                <a14:m>
                  <m:oMath xmlns:m="http://schemas.openxmlformats.org/officeDocument/2006/math">
                    <m:r>
                      <m:rPr>
                        <m:nor/>
                      </m:rPr>
                      <a:rPr lang="en-US" sz="2400">
                        <a:latin typeface="Segoe UI" panose="020B0502040204020203" pitchFamily="34" charset="0"/>
                        <a:cs typeface="Segoe UI" panose="020B0502040204020203" pitchFamily="34" charset="0"/>
                      </a:rPr>
                      <m:t>Span</m:t>
                    </m:r>
                    <m:r>
                      <m:rPr>
                        <m:nor/>
                      </m:rPr>
                      <a:rPr lang="en-US" sz="2400">
                        <a:latin typeface="Segoe UI" panose="020B0502040204020203" pitchFamily="34" charset="0"/>
                        <a:cs typeface="Segoe UI" panose="020B0502040204020203" pitchFamily="34" charset="0"/>
                      </a:rPr>
                      <m:t>(</m:t>
                    </m:r>
                    <m:r>
                      <m:rPr>
                        <m:nor/>
                      </m:rPr>
                      <a:rPr lang="en-US" sz="2400">
                        <a:latin typeface="Segoe UI" panose="020B0502040204020203" pitchFamily="34" charset="0"/>
                        <a:cs typeface="Segoe UI" panose="020B0502040204020203" pitchFamily="34" charset="0"/>
                      </a:rPr>
                      <m:t>V</m:t>
                    </m:r>
                    <m:r>
                      <m:rPr>
                        <m:nor/>
                      </m:rPr>
                      <a:rPr lang="en-US" sz="2400" baseline="-25000">
                        <a:latin typeface="Segoe UI" panose="020B0502040204020203" pitchFamily="34" charset="0"/>
                        <a:cs typeface="Segoe UI" panose="020B0502040204020203" pitchFamily="34" charset="0"/>
                      </a:rPr>
                      <m:t>1</m:t>
                    </m:r>
                    <m:r>
                      <m:rPr>
                        <m:nor/>
                      </m:rPr>
                      <a:rPr lang="en-US" sz="2400">
                        <a:latin typeface="Segoe UI" panose="020B0502040204020203" pitchFamily="34" charset="0"/>
                        <a:cs typeface="Segoe UI" panose="020B0502040204020203" pitchFamily="34" charset="0"/>
                      </a:rPr>
                      <m:t>​</m:t>
                    </m:r>
                    <m:r>
                      <m:rPr>
                        <m:nor/>
                      </m:rPr>
                      <a:rPr lang="en-US" sz="2400">
                        <a:latin typeface="Segoe UI" panose="020B0502040204020203" pitchFamily="34" charset="0"/>
                        <a:cs typeface="Segoe UI" panose="020B0502040204020203" pitchFamily="34" charset="0"/>
                      </a:rPr>
                      <m:t>,</m:t>
                    </m:r>
                    <m:r>
                      <m:rPr>
                        <m:nor/>
                      </m:rPr>
                      <a:rPr lang="en-US" sz="2400">
                        <a:latin typeface="Segoe UI" panose="020B0502040204020203" pitchFamily="34" charset="0"/>
                        <a:cs typeface="Segoe UI" panose="020B0502040204020203" pitchFamily="34" charset="0"/>
                      </a:rPr>
                      <m:t>V</m:t>
                    </m:r>
                    <m:r>
                      <m:rPr>
                        <m:nor/>
                      </m:rPr>
                      <a:rPr lang="en-US" sz="2400" baseline="-25000">
                        <a:latin typeface="Segoe UI" panose="020B0502040204020203" pitchFamily="34" charset="0"/>
                        <a:cs typeface="Segoe UI" panose="020B0502040204020203" pitchFamily="34" charset="0"/>
                      </a:rPr>
                      <m:t>2</m:t>
                    </m:r>
                    <m:r>
                      <m:rPr>
                        <m:nor/>
                      </m:rPr>
                      <a:rPr lang="en-US" sz="2400">
                        <a:latin typeface="Segoe UI" panose="020B0502040204020203" pitchFamily="34" charset="0"/>
                        <a:cs typeface="Segoe UI" panose="020B0502040204020203" pitchFamily="34" charset="0"/>
                      </a:rPr>
                      <m:t>​</m:t>
                    </m:r>
                    <m:r>
                      <m:rPr>
                        <m:nor/>
                      </m:rPr>
                      <a:rPr lang="en-US" sz="2400">
                        <a:latin typeface="Segoe UI" panose="020B0502040204020203" pitchFamily="34" charset="0"/>
                        <a:cs typeface="Segoe UI" panose="020B0502040204020203" pitchFamily="34" charset="0"/>
                      </a:rPr>
                      <m:t>,</m:t>
                    </m:r>
                    <m:r>
                      <m:rPr>
                        <m:nor/>
                      </m:rPr>
                      <a:rPr lang="en-US" sz="2400">
                        <a:latin typeface="Segoe UI" panose="020B0502040204020203" pitchFamily="34" charset="0"/>
                        <a:cs typeface="Segoe UI" panose="020B0502040204020203" pitchFamily="34" charset="0"/>
                      </a:rPr>
                      <m:t>V</m:t>
                    </m:r>
                    <m:r>
                      <m:rPr>
                        <m:nor/>
                      </m:rPr>
                      <a:rPr lang="en-US" sz="2400" baseline="-25000">
                        <a:latin typeface="Segoe UI" panose="020B0502040204020203" pitchFamily="34" charset="0"/>
                        <a:cs typeface="Segoe UI" panose="020B0502040204020203" pitchFamily="34" charset="0"/>
                      </a:rPr>
                      <m:t>3</m:t>
                    </m:r>
                    <m:r>
                      <m:rPr>
                        <m:nor/>
                      </m:rPr>
                      <a:rPr lang="en-US" sz="2400">
                        <a:latin typeface="Segoe UI" panose="020B0502040204020203" pitchFamily="34" charset="0"/>
                        <a:cs typeface="Segoe UI" panose="020B0502040204020203" pitchFamily="34" charset="0"/>
                      </a:rPr>
                      <m:t>​</m:t>
                    </m:r>
                    <m:r>
                      <m:rPr>
                        <m:nor/>
                      </m:rPr>
                      <a:rPr lang="en-US" sz="2400">
                        <a:latin typeface="Segoe UI" panose="020B0502040204020203" pitchFamily="34" charset="0"/>
                        <a:cs typeface="Segoe UI" panose="020B0502040204020203" pitchFamily="34" charset="0"/>
                      </a:rPr>
                      <m:t>) = {</m:t>
                    </m:r>
                    <m:r>
                      <m:rPr>
                        <m:nor/>
                      </m:rPr>
                      <a:rPr lang="en-US" sz="2400">
                        <a:latin typeface="Segoe UI" panose="020B0502040204020203" pitchFamily="34" charset="0"/>
                        <a:cs typeface="Segoe UI" panose="020B0502040204020203" pitchFamily="34" charset="0"/>
                      </a:rPr>
                      <m:t>aV</m:t>
                    </m:r>
                    <m:r>
                      <m:rPr>
                        <m:nor/>
                      </m:rPr>
                      <a:rPr lang="en-US" sz="2400" baseline="-25000">
                        <a:latin typeface="Segoe UI" panose="020B0502040204020203" pitchFamily="34" charset="0"/>
                        <a:cs typeface="Segoe UI" panose="020B0502040204020203" pitchFamily="34" charset="0"/>
                      </a:rPr>
                      <m:t>1</m:t>
                    </m:r>
                    <m:r>
                      <m:rPr>
                        <m:nor/>
                      </m:rPr>
                      <a:rPr lang="en-US" sz="2400">
                        <a:latin typeface="Segoe UI" panose="020B0502040204020203" pitchFamily="34" charset="0"/>
                        <a:cs typeface="Segoe UI" panose="020B0502040204020203" pitchFamily="34" charset="0"/>
                      </a:rPr>
                      <m:t>​</m:t>
                    </m:r>
                    <m:r>
                      <m:rPr>
                        <m:nor/>
                      </m:rPr>
                      <a:rPr lang="en-US" sz="2400">
                        <a:latin typeface="Segoe UI" panose="020B0502040204020203" pitchFamily="34" charset="0"/>
                        <a:cs typeface="Segoe UI" panose="020B0502040204020203" pitchFamily="34" charset="0"/>
                      </a:rPr>
                      <m:t>+</m:t>
                    </m:r>
                    <m:r>
                      <m:rPr>
                        <m:nor/>
                      </m:rPr>
                      <a:rPr lang="en-US" sz="2400">
                        <a:latin typeface="Segoe UI" panose="020B0502040204020203" pitchFamily="34" charset="0"/>
                        <a:cs typeface="Segoe UI" panose="020B0502040204020203" pitchFamily="34" charset="0"/>
                      </a:rPr>
                      <m:t>bV</m:t>
                    </m:r>
                    <m:r>
                      <m:rPr>
                        <m:nor/>
                      </m:rPr>
                      <a:rPr lang="en-US" sz="2400" baseline="-25000">
                        <a:latin typeface="Segoe UI" panose="020B0502040204020203" pitchFamily="34" charset="0"/>
                        <a:cs typeface="Segoe UI" panose="020B0502040204020203" pitchFamily="34" charset="0"/>
                      </a:rPr>
                      <m:t>2</m:t>
                    </m:r>
                    <m:r>
                      <m:rPr>
                        <m:nor/>
                      </m:rPr>
                      <a:rPr lang="en-US" sz="2400">
                        <a:latin typeface="Segoe UI" panose="020B0502040204020203" pitchFamily="34" charset="0"/>
                        <a:cs typeface="Segoe UI" panose="020B0502040204020203" pitchFamily="34" charset="0"/>
                      </a:rPr>
                      <m:t>​</m:t>
                    </m:r>
                    <m:r>
                      <m:rPr>
                        <m:nor/>
                      </m:rPr>
                      <a:rPr lang="en-US" sz="2400">
                        <a:latin typeface="Segoe UI" panose="020B0502040204020203" pitchFamily="34" charset="0"/>
                        <a:cs typeface="Segoe UI" panose="020B0502040204020203" pitchFamily="34" charset="0"/>
                      </a:rPr>
                      <m:t>+</m:t>
                    </m:r>
                    <m:r>
                      <m:rPr>
                        <m:nor/>
                      </m:rPr>
                      <a:rPr lang="en-US" sz="2400">
                        <a:latin typeface="Segoe UI" panose="020B0502040204020203" pitchFamily="34" charset="0"/>
                        <a:cs typeface="Segoe UI" panose="020B0502040204020203" pitchFamily="34" charset="0"/>
                      </a:rPr>
                      <m:t>cV</m:t>
                    </m:r>
                    <m:r>
                      <m:rPr>
                        <m:nor/>
                      </m:rPr>
                      <a:rPr lang="en-US" sz="2400" baseline="-25000">
                        <a:latin typeface="Segoe UI" panose="020B0502040204020203" pitchFamily="34" charset="0"/>
                        <a:cs typeface="Segoe UI" panose="020B0502040204020203" pitchFamily="34" charset="0"/>
                      </a:rPr>
                      <m:t>3</m:t>
                    </m:r>
                    <m:r>
                      <m:rPr>
                        <m:nor/>
                      </m:rPr>
                      <a:rPr lang="en-US" sz="2400">
                        <a:latin typeface="Segoe UI" panose="020B0502040204020203" pitchFamily="34" charset="0"/>
                        <a:cs typeface="Segoe UI" panose="020B0502040204020203" pitchFamily="34" charset="0"/>
                      </a:rPr>
                      <m:t>​ </m:t>
                    </m:r>
                    <m:r>
                      <m:rPr>
                        <m:nor/>
                      </m:rPr>
                      <a:rPr lang="en-US" sz="2400">
                        <a:latin typeface="Segoe UI" panose="020B0502040204020203" pitchFamily="34" charset="0"/>
                        <a:cs typeface="Segoe UI" panose="020B0502040204020203" pitchFamily="34" charset="0"/>
                      </a:rPr>
                      <m:t>∣ </m:t>
                    </m:r>
                    <m:r>
                      <m:rPr>
                        <m:nor/>
                      </m:rPr>
                      <a:rPr lang="en-US" sz="2400">
                        <a:latin typeface="Segoe UI" panose="020B0502040204020203" pitchFamily="34" charset="0"/>
                        <a:cs typeface="Segoe UI" panose="020B0502040204020203" pitchFamily="34" charset="0"/>
                      </a:rPr>
                      <m:t>a</m:t>
                    </m:r>
                    <m:r>
                      <m:rPr>
                        <m:nor/>
                      </m:rPr>
                      <a:rPr lang="en-US" sz="2400">
                        <a:latin typeface="Segoe UI" panose="020B0502040204020203" pitchFamily="34" charset="0"/>
                        <a:cs typeface="Segoe UI" panose="020B0502040204020203" pitchFamily="34" charset="0"/>
                      </a:rPr>
                      <m:t>,</m:t>
                    </m:r>
                    <m:r>
                      <m:rPr>
                        <m:nor/>
                      </m:rPr>
                      <a:rPr lang="en-US" sz="2400">
                        <a:latin typeface="Segoe UI" panose="020B0502040204020203" pitchFamily="34" charset="0"/>
                        <a:cs typeface="Segoe UI" panose="020B0502040204020203" pitchFamily="34" charset="0"/>
                      </a:rPr>
                      <m:t>b</m:t>
                    </m:r>
                    <m:r>
                      <m:rPr>
                        <m:nor/>
                      </m:rPr>
                      <a:rPr lang="en-US" sz="2400">
                        <a:latin typeface="Segoe UI" panose="020B0502040204020203" pitchFamily="34" charset="0"/>
                        <a:cs typeface="Segoe UI" panose="020B0502040204020203" pitchFamily="34" charset="0"/>
                      </a:rPr>
                      <m:t>,</m:t>
                    </m:r>
                    <m:r>
                      <m:rPr>
                        <m:nor/>
                      </m:rPr>
                      <a:rPr lang="en-US" sz="2400">
                        <a:latin typeface="Segoe UI" panose="020B0502040204020203" pitchFamily="34" charset="0"/>
                        <a:cs typeface="Segoe UI" panose="020B0502040204020203" pitchFamily="34" charset="0"/>
                      </a:rPr>
                      <m:t>c</m:t>
                    </m:r>
                  </m:oMath>
                </a14:m>
                <a:r>
                  <a:rPr lang="en-US" sz="2400" dirty="0">
                    <a:latin typeface="Segoe UI" panose="020B0502040204020203" pitchFamily="34" charset="0"/>
                    <a:cs typeface="Segoe UI" panose="020B0502040204020203" pitchFamily="34" charset="0"/>
                  </a:rPr>
                  <a:t>∈ R}</a:t>
                </a: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4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marL="457200" lvl="1" indent="0">
                  <a:buNone/>
                </a:pPr>
                <a:endParaRPr lang="ar-AE" sz="1800" dirty="0">
                  <a:latin typeface="Segoe UI" panose="020B0502040204020203" pitchFamily="34" charset="0"/>
                  <a:cs typeface="Segoe UI" panose="020B0502040204020203" pitchFamily="34" charset="0"/>
                </a:endParaRPr>
              </a:p>
              <a:p>
                <a:pPr>
                  <a:buFont typeface="Wingdings" panose="05000000000000000000" pitchFamily="2" charset="2"/>
                  <a:buChar char="v"/>
                </a:pPr>
                <a14:m>
                  <m:oMath xmlns:m="http://schemas.openxmlformats.org/officeDocument/2006/math">
                    <m:sSub>
                      <m:sSubPr>
                        <m:ctrlPr>
                          <a:rPr lang="ar-AE" sz="2200" i="1" smtClean="0">
                            <a:latin typeface="Cambria Math" panose="02040503050406030204" pitchFamily="18" charset="0"/>
                          </a:rPr>
                        </m:ctrlPr>
                      </m:sSubPr>
                      <m:e>
                        <m:r>
                          <a:rPr lang="ar-AE" sz="2200" i="1">
                            <a:latin typeface="Cambria Math" panose="02040503050406030204" pitchFamily="18" charset="0"/>
                          </a:rPr>
                          <m:t>𝑣</m:t>
                        </m:r>
                      </m:e>
                      <m:sub>
                        <m:r>
                          <a:rPr lang="ar-AE" sz="2200">
                            <a:latin typeface="Cambria Math" panose="02040503050406030204" pitchFamily="18" charset="0"/>
                          </a:rPr>
                          <m:t>3</m:t>
                        </m:r>
                      </m:sub>
                    </m:sSub>
                    <m:r>
                      <a:rPr lang="ar-AE" sz="2200">
                        <a:latin typeface="Cambria Math" panose="02040503050406030204" pitchFamily="18" charset="0"/>
                      </a:rPr>
                      <m:t>=</m:t>
                    </m:r>
                    <m:sSub>
                      <m:sSubPr>
                        <m:ctrlPr>
                          <a:rPr lang="ar-AE" sz="2200" i="1">
                            <a:latin typeface="Cambria Math" panose="02040503050406030204" pitchFamily="18" charset="0"/>
                          </a:rPr>
                        </m:ctrlPr>
                      </m:sSubPr>
                      <m:e>
                        <m:r>
                          <a:rPr lang="ar-AE" sz="2200" i="1">
                            <a:latin typeface="Cambria Math" panose="02040503050406030204" pitchFamily="18" charset="0"/>
                          </a:rPr>
                          <m:t>𝑣</m:t>
                        </m:r>
                      </m:e>
                      <m:sub>
                        <m:r>
                          <a:rPr lang="ar-AE" sz="2200">
                            <a:latin typeface="Cambria Math" panose="02040503050406030204" pitchFamily="18" charset="0"/>
                          </a:rPr>
                          <m:t>1</m:t>
                        </m:r>
                      </m:sub>
                    </m:sSub>
                    <m:r>
                      <a:rPr lang="ar-AE" sz="2200">
                        <a:latin typeface="Cambria Math" panose="02040503050406030204" pitchFamily="18" charset="0"/>
                      </a:rPr>
                      <m:t>+</m:t>
                    </m:r>
                    <m:sSub>
                      <m:sSubPr>
                        <m:ctrlPr>
                          <a:rPr lang="ar-AE" sz="2200" i="1">
                            <a:latin typeface="Cambria Math" panose="02040503050406030204" pitchFamily="18" charset="0"/>
                          </a:rPr>
                        </m:ctrlPr>
                      </m:sSubPr>
                      <m:e>
                        <m:r>
                          <a:rPr lang="ar-AE" sz="2200" i="1">
                            <a:latin typeface="Cambria Math" panose="02040503050406030204" pitchFamily="18" charset="0"/>
                          </a:rPr>
                          <m:t>𝑣</m:t>
                        </m:r>
                      </m:e>
                      <m:sub>
                        <m:r>
                          <a:rPr lang="ar-AE" sz="2200">
                            <a:latin typeface="Cambria Math" panose="02040503050406030204" pitchFamily="18" charset="0"/>
                          </a:rPr>
                          <m:t>2</m:t>
                        </m:r>
                      </m:sub>
                    </m:sSub>
                  </m:oMath>
                </a14:m>
                <a:r>
                  <a:rPr lang="ar-AE" sz="2200" dirty="0">
                    <a:latin typeface="Segoe UI" panose="020B0502040204020203" pitchFamily="34" charset="0"/>
                    <a:cs typeface="Segoe UI" panose="020B0502040204020203" pitchFamily="34" charset="0"/>
                  </a:rPr>
                  <a:t>, </a:t>
                </a:r>
                <a:r>
                  <a:rPr lang="en-US" sz="2200" dirty="0">
                    <a:latin typeface="Segoe UI" panose="020B0502040204020203" pitchFamily="34" charset="0"/>
                    <a:cs typeface="Segoe UI" panose="020B0502040204020203" pitchFamily="34" charset="0"/>
                  </a:rPr>
                  <a:t>is </a:t>
                </a:r>
                <a:r>
                  <a:rPr lang="en-US" sz="2200" b="1" dirty="0">
                    <a:latin typeface="Segoe UI" panose="020B0502040204020203" pitchFamily="34" charset="0"/>
                    <a:cs typeface="Segoe UI" panose="020B0502040204020203" pitchFamily="34" charset="0"/>
                  </a:rPr>
                  <a:t>dependent</a:t>
                </a:r>
                <a:r>
                  <a:rPr lang="en-US" sz="2200" dirty="0">
                    <a:latin typeface="Segoe UI" panose="020B0502040204020203" pitchFamily="34" charset="0"/>
                    <a:cs typeface="Segoe UI" panose="020B0502040204020203" pitchFamily="34" charset="0"/>
                  </a:rPr>
                  <a:t> on </a:t>
                </a:r>
                <a14:m>
                  <m:oMath xmlns:m="http://schemas.openxmlformats.org/officeDocument/2006/math">
                    <m:sSub>
                      <m:sSubPr>
                        <m:ctrlPr>
                          <a:rPr lang="ar-AE" sz="2200" i="1">
                            <a:latin typeface="Cambria Math" panose="02040503050406030204" pitchFamily="18" charset="0"/>
                          </a:rPr>
                        </m:ctrlPr>
                      </m:sSubPr>
                      <m:e>
                        <m:r>
                          <a:rPr lang="ar-AE" sz="2200" i="1">
                            <a:latin typeface="Cambria Math" panose="02040503050406030204" pitchFamily="18" charset="0"/>
                          </a:rPr>
                          <m:t>𝑣</m:t>
                        </m:r>
                      </m:e>
                      <m:sub>
                        <m:r>
                          <a:rPr lang="ar-AE" sz="2200">
                            <a:latin typeface="Cambria Math" panose="02040503050406030204" pitchFamily="18" charset="0"/>
                          </a:rPr>
                          <m:t>1</m:t>
                        </m:r>
                      </m:sub>
                    </m:sSub>
                    <m:r>
                      <a:rPr lang="en-US" sz="2200" b="0" i="0" smtClean="0">
                        <a:latin typeface="Cambria Math" panose="02040503050406030204" pitchFamily="18" charset="0"/>
                      </a:rPr>
                      <m:t> </m:t>
                    </m:r>
                    <m:r>
                      <m:rPr>
                        <m:sty m:val="p"/>
                      </m:rPr>
                      <a:rPr lang="en-US" sz="2200" b="0" i="0" smtClean="0">
                        <a:latin typeface="Cambria Math" panose="02040503050406030204" pitchFamily="18" charset="0"/>
                      </a:rPr>
                      <m:t>and</m:t>
                    </m:r>
                    <m:r>
                      <a:rPr lang="en-US" sz="2200" b="0" i="0" smtClean="0">
                        <a:latin typeface="Cambria Math" panose="02040503050406030204" pitchFamily="18" charset="0"/>
                      </a:rPr>
                      <m:t> </m:t>
                    </m:r>
                    <m:sSub>
                      <m:sSubPr>
                        <m:ctrlPr>
                          <a:rPr lang="ar-AE" sz="2200" i="1">
                            <a:latin typeface="Cambria Math" panose="02040503050406030204" pitchFamily="18" charset="0"/>
                          </a:rPr>
                        </m:ctrlPr>
                      </m:sSubPr>
                      <m:e>
                        <m:r>
                          <a:rPr lang="ar-AE" sz="2200" i="1">
                            <a:latin typeface="Cambria Math" panose="02040503050406030204" pitchFamily="18" charset="0"/>
                          </a:rPr>
                          <m:t>𝑣</m:t>
                        </m:r>
                      </m:e>
                      <m:sub>
                        <m:r>
                          <a:rPr lang="ar-AE" sz="2200">
                            <a:latin typeface="Cambria Math" panose="02040503050406030204" pitchFamily="18" charset="0"/>
                          </a:rPr>
                          <m:t>2</m:t>
                        </m:r>
                      </m:sub>
                    </m:sSub>
                  </m:oMath>
                </a14:m>
                <a:r>
                  <a:rPr lang="en-US" sz="2200" dirty="0">
                    <a:latin typeface="Segoe UI" panose="020B0502040204020203" pitchFamily="34" charset="0"/>
                    <a:cs typeface="Segoe UI" panose="020B0502040204020203" pitchFamily="34" charset="0"/>
                  </a:rPr>
                  <a:t>. </a:t>
                </a: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Removing </a:t>
                </a:r>
                <a14:m>
                  <m:oMath xmlns:m="http://schemas.openxmlformats.org/officeDocument/2006/math">
                    <m:sSub>
                      <m:sSubPr>
                        <m:ctrlPr>
                          <a:rPr lang="ar-AE" sz="2200" i="1">
                            <a:latin typeface="Cambria Math" panose="02040503050406030204" pitchFamily="18" charset="0"/>
                          </a:rPr>
                        </m:ctrlPr>
                      </m:sSubPr>
                      <m:e>
                        <m:r>
                          <a:rPr lang="ar-AE" sz="2200" i="1">
                            <a:latin typeface="Cambria Math" panose="02040503050406030204" pitchFamily="18" charset="0"/>
                          </a:rPr>
                          <m:t>𝑣</m:t>
                        </m:r>
                      </m:e>
                      <m:sub>
                        <m:r>
                          <a:rPr lang="ar-AE" sz="2200">
                            <a:latin typeface="Cambria Math" panose="02040503050406030204" pitchFamily="18" charset="0"/>
                          </a:rPr>
                          <m:t>3</m:t>
                        </m:r>
                      </m:sub>
                    </m:sSub>
                  </m:oMath>
                </a14:m>
                <a:r>
                  <a:rPr lang="en-US" sz="2200" dirty="0">
                    <a:latin typeface="Segoe UI" panose="020B0502040204020203" pitchFamily="34" charset="0"/>
                    <a:cs typeface="Segoe UI" panose="020B0502040204020203" pitchFamily="34" charset="0"/>
                  </a:rPr>
                  <a:t> doesn't change the span</a:t>
                </a: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marL="0" indent="0">
                  <a:buNone/>
                </a:pPr>
                <a:endParaRPr lang="en-US" sz="2000" dirty="0">
                  <a:latin typeface="Segoe UI" panose="020B0502040204020203" pitchFamily="34" charset="0"/>
                  <a:cs typeface="Segoe UI" panose="020B0502040204020203" pitchFamily="34" charset="0"/>
                </a:endParaRPr>
              </a:p>
              <a:p>
                <a:pPr marL="0" indent="0">
                  <a:buNone/>
                </a:pPr>
                <a:endParaRPr lang="en-US" sz="2200" dirty="0">
                  <a:latin typeface="Segoe UI" panose="020B0502040204020203" pitchFamily="34" charset="0"/>
                  <a:cs typeface="Segoe UI" panose="020B0502040204020203" pitchFamily="34" charset="0"/>
                </a:endParaRPr>
              </a:p>
            </p:txBody>
          </p:sp>
        </mc:Choice>
        <mc:Fallback xmlns="">
          <p:sp>
            <p:nvSpPr>
              <p:cNvPr id="3" name="Content Placeholder 2">
                <a:extLst>
                  <a:ext uri="{FF2B5EF4-FFF2-40B4-BE49-F238E27FC236}">
                    <a16:creationId xmlns:a16="http://schemas.microsoft.com/office/drawing/2014/main" id="{363D9C9E-245F-375D-6CD6-92946967EC28}"/>
                  </a:ext>
                </a:extLst>
              </p:cNvPr>
              <p:cNvSpPr>
                <a:spLocks noGrp="1" noRot="1" noChangeAspect="1" noMove="1" noResize="1" noEditPoints="1" noAdjustHandles="1" noChangeArrowheads="1" noChangeShapeType="1" noTextEdit="1"/>
              </p:cNvSpPr>
              <p:nvPr>
                <p:ph idx="1"/>
              </p:nvPr>
            </p:nvSpPr>
            <p:spPr>
              <a:xfrm>
                <a:off x="242047" y="1165412"/>
                <a:ext cx="11779624" cy="5011551"/>
              </a:xfrm>
              <a:blipFill>
                <a:blip r:embed="rId3"/>
                <a:stretch>
                  <a:fillRect l="-725" t="-1582"/>
                </a:stretch>
              </a:blipFill>
            </p:spPr>
            <p:txBody>
              <a:bodyPr/>
              <a:lstStyle/>
              <a:p>
                <a:r>
                  <a:rPr lang="en-US">
                    <a:noFill/>
                  </a:rPr>
                  <a:t> </a:t>
                </a:r>
              </a:p>
            </p:txBody>
          </p:sp>
        </mc:Fallback>
      </mc:AlternateContent>
      <p:graphicFrame>
        <p:nvGraphicFramePr>
          <p:cNvPr id="4" name="Object 3">
            <a:extLst>
              <a:ext uri="{FF2B5EF4-FFF2-40B4-BE49-F238E27FC236}">
                <a16:creationId xmlns:a16="http://schemas.microsoft.com/office/drawing/2014/main" id="{C1A3C0EE-8D1A-806A-3CB7-09C41FB267DB}"/>
              </a:ext>
            </a:extLst>
          </p:cNvPr>
          <p:cNvGraphicFramePr>
            <a:graphicFrameLocks noChangeAspect="1"/>
          </p:cNvGraphicFramePr>
          <p:nvPr>
            <p:extLst>
              <p:ext uri="{D42A27DB-BD31-4B8C-83A1-F6EECF244321}">
                <p14:modId xmlns:p14="http://schemas.microsoft.com/office/powerpoint/2010/main" val="3462435935"/>
              </p:ext>
            </p:extLst>
          </p:nvPr>
        </p:nvGraphicFramePr>
        <p:xfrm>
          <a:off x="606332" y="2343523"/>
          <a:ext cx="5792787" cy="1157288"/>
        </p:xfrm>
        <a:graphic>
          <a:graphicData uri="http://schemas.openxmlformats.org/presentationml/2006/ole">
            <mc:AlternateContent xmlns:mc="http://schemas.openxmlformats.org/markup-compatibility/2006">
              <mc:Choice xmlns:v="urn:schemas-microsoft-com:vml" Requires="v">
                <p:oleObj name="Equation" r:id="rId4" imgW="3555720" imgH="711000" progId="Equation.DSMT4">
                  <p:embed/>
                </p:oleObj>
              </mc:Choice>
              <mc:Fallback>
                <p:oleObj name="Equation" r:id="rId4" imgW="3555720" imgH="711000" progId="Equation.DSMT4">
                  <p:embed/>
                  <p:pic>
                    <p:nvPicPr>
                      <p:cNvPr id="0" name=""/>
                      <p:cNvPicPr/>
                      <p:nvPr/>
                    </p:nvPicPr>
                    <p:blipFill>
                      <a:blip r:embed="rId5"/>
                      <a:stretch>
                        <a:fillRect/>
                      </a:stretch>
                    </p:blipFill>
                    <p:spPr>
                      <a:xfrm>
                        <a:off x="606332" y="2343523"/>
                        <a:ext cx="5792787" cy="1157288"/>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1458D807-3E76-F91A-BF08-096294C3EB01}"/>
              </a:ext>
            </a:extLst>
          </p:cNvPr>
          <p:cNvGraphicFramePr>
            <a:graphicFrameLocks noChangeAspect="1"/>
          </p:cNvGraphicFramePr>
          <p:nvPr>
            <p:extLst>
              <p:ext uri="{D42A27DB-BD31-4B8C-83A1-F6EECF244321}">
                <p14:modId xmlns:p14="http://schemas.microsoft.com/office/powerpoint/2010/main" val="3330112418"/>
              </p:ext>
            </p:extLst>
          </p:nvPr>
        </p:nvGraphicFramePr>
        <p:xfrm>
          <a:off x="2468563" y="5249863"/>
          <a:ext cx="6975475" cy="1208087"/>
        </p:xfrm>
        <a:graphic>
          <a:graphicData uri="http://schemas.openxmlformats.org/presentationml/2006/ole">
            <mc:AlternateContent xmlns:mc="http://schemas.openxmlformats.org/markup-compatibility/2006">
              <mc:Choice xmlns:v="urn:schemas-microsoft-com:vml" Requires="v">
                <p:oleObj name="Equation" r:id="rId6" imgW="4254480" imgH="736560" progId="Equation.DSMT4">
                  <p:embed/>
                </p:oleObj>
              </mc:Choice>
              <mc:Fallback>
                <p:oleObj name="Equation" r:id="rId6" imgW="4254480" imgH="736560" progId="Equation.DSMT4">
                  <p:embed/>
                  <p:pic>
                    <p:nvPicPr>
                      <p:cNvPr id="0" name=""/>
                      <p:cNvPicPr/>
                      <p:nvPr/>
                    </p:nvPicPr>
                    <p:blipFill>
                      <a:blip r:embed="rId7"/>
                      <a:stretch>
                        <a:fillRect/>
                      </a:stretch>
                    </p:blipFill>
                    <p:spPr>
                      <a:xfrm>
                        <a:off x="2468563" y="5249863"/>
                        <a:ext cx="6975475" cy="1208087"/>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E69B2F83-450A-9B85-F90C-F0A112C5CD4F}"/>
              </a:ext>
            </a:extLst>
          </p:cNvPr>
          <p:cNvGraphicFramePr>
            <a:graphicFrameLocks noChangeAspect="1"/>
          </p:cNvGraphicFramePr>
          <p:nvPr>
            <p:extLst>
              <p:ext uri="{D42A27DB-BD31-4B8C-83A1-F6EECF244321}">
                <p14:modId xmlns:p14="http://schemas.microsoft.com/office/powerpoint/2010/main" val="994397372"/>
              </p:ext>
            </p:extLst>
          </p:nvPr>
        </p:nvGraphicFramePr>
        <p:xfrm>
          <a:off x="6908024" y="2343523"/>
          <a:ext cx="4677644" cy="1000312"/>
        </p:xfrm>
        <a:graphic>
          <a:graphicData uri="http://schemas.openxmlformats.org/presentationml/2006/ole">
            <mc:AlternateContent xmlns:mc="http://schemas.openxmlformats.org/markup-compatibility/2006">
              <mc:Choice xmlns:v="urn:schemas-microsoft-com:vml" Requires="v">
                <p:oleObj name="Equation" r:id="rId8" imgW="2338181" imgH="500555" progId="Equation.DSMT4">
                  <p:embed/>
                </p:oleObj>
              </mc:Choice>
              <mc:Fallback>
                <p:oleObj name="Equation" r:id="rId8" imgW="2338181" imgH="500555" progId="Equation.DSMT4">
                  <p:embed/>
                  <p:pic>
                    <p:nvPicPr>
                      <p:cNvPr id="0" name=""/>
                      <p:cNvPicPr/>
                      <p:nvPr/>
                    </p:nvPicPr>
                    <p:blipFill>
                      <a:blip r:embed="rId9"/>
                      <a:stretch>
                        <a:fillRect/>
                      </a:stretch>
                    </p:blipFill>
                    <p:spPr>
                      <a:xfrm>
                        <a:off x="6908024" y="2343523"/>
                        <a:ext cx="4677644" cy="1000312"/>
                      </a:xfrm>
                      <a:prstGeom prst="rect">
                        <a:avLst/>
                      </a:prstGeom>
                    </p:spPr>
                  </p:pic>
                </p:oleObj>
              </mc:Fallback>
            </mc:AlternateContent>
          </a:graphicData>
        </a:graphic>
      </p:graphicFrame>
    </p:spTree>
    <p:extLst>
      <p:ext uri="{BB962C8B-B14F-4D97-AF65-F5344CB8AC3E}">
        <p14:creationId xmlns:p14="http://schemas.microsoft.com/office/powerpoint/2010/main" val="1872128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40212-45CF-3FF3-69C4-7DF4615231BF}"/>
              </a:ext>
            </a:extLst>
          </p:cNvPr>
          <p:cNvSpPr>
            <a:spLocks noGrp="1"/>
          </p:cNvSpPr>
          <p:nvPr>
            <p:ph type="title"/>
          </p:nvPr>
        </p:nvSpPr>
        <p:spPr>
          <a:xfrm>
            <a:off x="838200" y="365125"/>
            <a:ext cx="10515600" cy="494191"/>
          </a:xfrm>
        </p:spPr>
        <p:txBody>
          <a:bodyPr>
            <a:normAutofit fontScale="90000"/>
          </a:bodyPr>
          <a:lstStyle/>
          <a:p>
            <a:pPr algn="ctr"/>
            <a:br>
              <a:rPr lang="en-US" dirty="0"/>
            </a:br>
            <a:r>
              <a:rPr lang="en-US" dirty="0"/>
              <a:t>Detecting Linear Dependence</a:t>
            </a:r>
            <a:br>
              <a:rPr lang="en-US" dirty="0"/>
            </a:br>
            <a:endParaRPr lang="en-US" dirty="0"/>
          </a:p>
        </p:txBody>
      </p:sp>
      <p:sp>
        <p:nvSpPr>
          <p:cNvPr id="3" name="Content Placeholder 2">
            <a:extLst>
              <a:ext uri="{FF2B5EF4-FFF2-40B4-BE49-F238E27FC236}">
                <a16:creationId xmlns:a16="http://schemas.microsoft.com/office/drawing/2014/main" id="{AEBEE5A3-B271-613D-1608-0543A30D4E8F}"/>
              </a:ext>
            </a:extLst>
          </p:cNvPr>
          <p:cNvSpPr>
            <a:spLocks noGrp="1"/>
          </p:cNvSpPr>
          <p:nvPr>
            <p:ph idx="1"/>
          </p:nvPr>
        </p:nvSpPr>
        <p:spPr>
          <a:xfrm>
            <a:off x="297455" y="1211855"/>
            <a:ext cx="11622796" cy="4965108"/>
          </a:xfrm>
        </p:spPr>
        <p:txBody>
          <a:bodyPr>
            <a:normAutofit/>
          </a:bodyPr>
          <a:lstStyle/>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There are several methods to determine if a set of vectors is linearly dependent:</a:t>
            </a:r>
          </a:p>
          <a:p>
            <a:pPr>
              <a:buFont typeface="Wingdings" panose="05000000000000000000" pitchFamily="2" charset="2"/>
              <a:buChar char="v"/>
            </a:pPr>
            <a:endParaRPr lang="en-US" sz="2200" b="1"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200" b="1"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b="1" dirty="0">
                <a:latin typeface="Segoe UI" panose="020B0502040204020203" pitchFamily="34" charset="0"/>
                <a:cs typeface="Segoe UI" panose="020B0502040204020203" pitchFamily="34" charset="0"/>
              </a:rPr>
              <a:t>Matrix Determinant:</a:t>
            </a:r>
            <a:r>
              <a:rPr lang="en-US" sz="2200" dirty="0">
                <a:latin typeface="Segoe UI" panose="020B0502040204020203" pitchFamily="34" charset="0"/>
                <a:cs typeface="Segoe UI" panose="020B0502040204020203" pitchFamily="34" charset="0"/>
              </a:rPr>
              <a:t> For a set of vectors in R</a:t>
            </a:r>
            <a:r>
              <a:rPr lang="en-US" sz="2200" baseline="30000" dirty="0">
                <a:latin typeface="Segoe UI" panose="020B0502040204020203" pitchFamily="34" charset="0"/>
                <a:cs typeface="Segoe UI" panose="020B0502040204020203" pitchFamily="34" charset="0"/>
              </a:rPr>
              <a:t>n</a:t>
            </a:r>
            <a:r>
              <a:rPr lang="en-US" sz="2200" dirty="0">
                <a:latin typeface="Segoe UI" panose="020B0502040204020203" pitchFamily="34" charset="0"/>
                <a:cs typeface="Segoe UI" panose="020B0502040204020203" pitchFamily="34" charset="0"/>
              </a:rPr>
              <a:t>, if the determinant of the matrix formed by placing the vectors as columns is zero, the vectors are linearly dependent.</a:t>
            </a:r>
          </a:p>
          <a:p>
            <a:pPr>
              <a:buFont typeface="Wingdings" panose="05000000000000000000" pitchFamily="2" charset="2"/>
              <a:buChar char="v"/>
            </a:pPr>
            <a:endParaRPr lang="en-US" sz="2200" b="1"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200" b="1"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b="1" dirty="0">
                <a:latin typeface="Segoe UI" panose="020B0502040204020203" pitchFamily="34" charset="0"/>
                <a:cs typeface="Segoe UI" panose="020B0502040204020203" pitchFamily="34" charset="0"/>
              </a:rPr>
              <a:t>Row Reduction:</a:t>
            </a:r>
            <a:r>
              <a:rPr lang="en-US" sz="2200" dirty="0">
                <a:latin typeface="Segoe UI" panose="020B0502040204020203" pitchFamily="34" charset="0"/>
                <a:cs typeface="Segoe UI" panose="020B0502040204020203" pitchFamily="34" charset="0"/>
              </a:rPr>
              <a:t> If the matrix formed by the vectors has a row of zeros after row reduction, the vectors are linearly dependent.</a:t>
            </a:r>
          </a:p>
          <a:p>
            <a:pPr>
              <a:buFont typeface="Wingdings" panose="05000000000000000000" pitchFamily="2" charset="2"/>
              <a:buChar char="v"/>
            </a:pPr>
            <a:endParaRPr lang="en-US" sz="2200" b="1"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b="1" dirty="0">
                <a:latin typeface="Segoe UI" panose="020B0502040204020203" pitchFamily="34" charset="0"/>
                <a:cs typeface="Segoe UI" panose="020B0502040204020203" pitchFamily="34" charset="0"/>
              </a:rPr>
              <a:t>Rank:</a:t>
            </a:r>
            <a:r>
              <a:rPr lang="en-US" sz="2200" dirty="0">
                <a:latin typeface="Segoe UI" panose="020B0502040204020203" pitchFamily="34" charset="0"/>
                <a:cs typeface="Segoe UI" panose="020B0502040204020203" pitchFamily="34" charset="0"/>
              </a:rPr>
              <a:t> If the rank of the matrix (the maximum number of linearly independent row or column vectors) is less than the number of vectors, then the vectors are linearly dependent.</a:t>
            </a: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831536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4833B-E545-0D6A-81BF-32FE8CAA06D5}"/>
              </a:ext>
            </a:extLst>
          </p:cNvPr>
          <p:cNvSpPr>
            <a:spLocks noGrp="1"/>
          </p:cNvSpPr>
          <p:nvPr>
            <p:ph type="title"/>
          </p:nvPr>
        </p:nvSpPr>
        <p:spPr>
          <a:xfrm>
            <a:off x="838200" y="129209"/>
            <a:ext cx="10515600" cy="725557"/>
          </a:xfrm>
        </p:spPr>
        <p:txBody>
          <a:bodyPr>
            <a:normAutofit/>
          </a:bodyPr>
          <a:lstStyle/>
          <a:p>
            <a:pPr algn="ctr"/>
            <a:r>
              <a:rPr lang="en-US" dirty="0">
                <a:latin typeface="Segoe UI" panose="020B0502040204020203" pitchFamily="34" charset="0"/>
                <a:cs typeface="Segoe UI" panose="020B0502040204020203" pitchFamily="34" charset="0"/>
              </a:rPr>
              <a:t>Matrix Determinant</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8095B6E-6232-9A53-7C2E-9322BC27E156}"/>
                  </a:ext>
                </a:extLst>
              </p:cNvPr>
              <p:cNvSpPr>
                <a:spLocks noGrp="1"/>
              </p:cNvSpPr>
              <p:nvPr>
                <p:ph idx="1"/>
              </p:nvPr>
            </p:nvSpPr>
            <p:spPr>
              <a:xfrm>
                <a:off x="308113" y="1013791"/>
                <a:ext cx="11648661" cy="5555974"/>
              </a:xfrm>
            </p:spPr>
            <p:txBody>
              <a:bodyPr>
                <a:normAutofit/>
              </a:bodyPr>
              <a:lstStyle/>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200" dirty="0">
                    <a:latin typeface="Segoe UI" panose="020B0502040204020203" pitchFamily="34" charset="0"/>
                    <a:cs typeface="Segoe UI" panose="020B0502040204020203" pitchFamily="34" charset="0"/>
                  </a:rPr>
                  <a:t>If the determinant of the matrix formed by placing the vectors as columns is zero, the vectors are linearly dependent.</a:t>
                </a:r>
              </a:p>
              <a:p>
                <a:endParaRPr lang="en-US" dirty="0"/>
              </a:p>
              <a:p>
                <a:endParaRPr lang="en-US" dirty="0"/>
              </a:p>
              <a:p>
                <a:endParaRPr lang="en-US" dirty="0"/>
              </a:p>
              <a:p>
                <a:endParaRPr lang="en-US" dirty="0"/>
              </a:p>
              <a:p>
                <a:endParaRPr lang="en-US" dirty="0"/>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Since </a:t>
                </a:r>
                <a14:m>
                  <m:oMath xmlns:m="http://schemas.openxmlformats.org/officeDocument/2006/math">
                    <m:r>
                      <m:rPr>
                        <m:nor/>
                      </m:rPr>
                      <a:rPr lang="en-US" sz="2200" b="0">
                        <a:latin typeface="Segoe UI" panose="020B0502040204020203" pitchFamily="34" charset="0"/>
                        <a:cs typeface="Segoe UI" panose="020B0502040204020203" pitchFamily="34" charset="0"/>
                      </a:rPr>
                      <m:t>det</m:t>
                    </m:r>
                    <m:d>
                      <m:dPr>
                        <m:ctrlPr>
                          <a:rPr lang="ar-AE" sz="2200" i="1">
                            <a:latin typeface="Cambria Math" panose="02040503050406030204" pitchFamily="18" charset="0"/>
                          </a:rPr>
                        </m:ctrlPr>
                      </m:dPr>
                      <m:e>
                        <m:r>
                          <a:rPr lang="ar-AE" sz="2200" b="0" i="1">
                            <a:latin typeface="Cambria Math" panose="02040503050406030204" pitchFamily="18" charset="0"/>
                          </a:rPr>
                          <m:t>𝐴</m:t>
                        </m:r>
                      </m:e>
                    </m:d>
                    <m:r>
                      <a:rPr lang="ar-AE" sz="2200">
                        <a:latin typeface="Cambria Math" panose="02040503050406030204" pitchFamily="18" charset="0"/>
                      </a:rPr>
                      <m:t>=</m:t>
                    </m:r>
                    <m:r>
                      <a:rPr lang="ar-AE" sz="2200">
                        <a:latin typeface="Cambria Math" panose="02040503050406030204" pitchFamily="18" charset="0"/>
                      </a:rPr>
                      <m:t>0</m:t>
                    </m:r>
                  </m:oMath>
                </a14:m>
                <a:r>
                  <a:rPr lang="ar-AE" sz="2200" dirty="0">
                    <a:latin typeface="Segoe UI" panose="020B0502040204020203" pitchFamily="34" charset="0"/>
                    <a:cs typeface="Segoe UI" panose="020B0502040204020203" pitchFamily="34" charset="0"/>
                  </a:rPr>
                  <a:t>, </a:t>
                </a:r>
                <a:r>
                  <a:rPr lang="en-US" sz="2200" dirty="0">
                    <a:latin typeface="Segoe UI" panose="020B0502040204020203" pitchFamily="34" charset="0"/>
                    <a:cs typeface="Segoe UI" panose="020B0502040204020203" pitchFamily="34" charset="0"/>
                  </a:rPr>
                  <a:t>the three vectors are </a:t>
                </a:r>
                <a:r>
                  <a:rPr lang="en-US" sz="2200" b="1" dirty="0">
                    <a:latin typeface="Segoe UI" panose="020B0502040204020203" pitchFamily="34" charset="0"/>
                    <a:cs typeface="Segoe UI" panose="020B0502040204020203" pitchFamily="34" charset="0"/>
                  </a:rPr>
                  <a:t>linearly dependent</a:t>
                </a:r>
                <a:r>
                  <a:rPr lang="en-US" sz="2200" dirty="0">
                    <a:latin typeface="Segoe UI" panose="020B0502040204020203" pitchFamily="34" charset="0"/>
                    <a:cs typeface="Segoe UI" panose="020B0502040204020203" pitchFamily="34" charset="0"/>
                  </a:rPr>
                  <a:t>.</a:t>
                </a:r>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marL="0" indent="0">
                  <a:buNone/>
                </a:pPr>
                <a:endParaRPr lang="en-US" sz="2400" b="1" dirty="0"/>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p:txBody>
          </p:sp>
        </mc:Choice>
        <mc:Fallback>
          <p:sp>
            <p:nvSpPr>
              <p:cNvPr id="3" name="Content Placeholder 2">
                <a:extLst>
                  <a:ext uri="{FF2B5EF4-FFF2-40B4-BE49-F238E27FC236}">
                    <a16:creationId xmlns:a16="http://schemas.microsoft.com/office/drawing/2014/main" id="{D8095B6E-6232-9A53-7C2E-9322BC27E156}"/>
                  </a:ext>
                </a:extLst>
              </p:cNvPr>
              <p:cNvSpPr>
                <a:spLocks noGrp="1" noRot="1" noChangeAspect="1" noMove="1" noResize="1" noEditPoints="1" noAdjustHandles="1" noChangeArrowheads="1" noChangeShapeType="1" noTextEdit="1"/>
              </p:cNvSpPr>
              <p:nvPr>
                <p:ph idx="1"/>
              </p:nvPr>
            </p:nvSpPr>
            <p:spPr>
              <a:xfrm>
                <a:off x="308113" y="1013791"/>
                <a:ext cx="11648661" cy="5555974"/>
              </a:xfrm>
              <a:blipFill>
                <a:blip r:embed="rId2"/>
                <a:stretch>
                  <a:fillRect l="-576" r="-733"/>
                </a:stretch>
              </a:blipFill>
            </p:spPr>
            <p:txBody>
              <a:bodyPr/>
              <a:lstStyle/>
              <a:p>
                <a:r>
                  <a:rPr lang="en-US">
                    <a:noFill/>
                  </a:rPr>
                  <a:t> </a:t>
                </a:r>
              </a:p>
            </p:txBody>
          </p:sp>
        </mc:Fallback>
      </mc:AlternateContent>
      <p:graphicFrame>
        <p:nvGraphicFramePr>
          <p:cNvPr id="4" name="Object 3">
            <a:extLst>
              <a:ext uri="{FF2B5EF4-FFF2-40B4-BE49-F238E27FC236}">
                <a16:creationId xmlns:a16="http://schemas.microsoft.com/office/drawing/2014/main" id="{BC972C91-9EEE-0AE9-B788-86A467F65B7F}"/>
              </a:ext>
            </a:extLst>
          </p:cNvPr>
          <p:cNvGraphicFramePr>
            <a:graphicFrameLocks noChangeAspect="1"/>
          </p:cNvGraphicFramePr>
          <p:nvPr>
            <p:extLst>
              <p:ext uri="{D42A27DB-BD31-4B8C-83A1-F6EECF244321}">
                <p14:modId xmlns:p14="http://schemas.microsoft.com/office/powerpoint/2010/main" val="473868097"/>
              </p:ext>
            </p:extLst>
          </p:nvPr>
        </p:nvGraphicFramePr>
        <p:xfrm>
          <a:off x="1122362" y="2392427"/>
          <a:ext cx="10231438" cy="2382837"/>
        </p:xfrm>
        <a:graphic>
          <a:graphicData uri="http://schemas.openxmlformats.org/presentationml/2006/ole">
            <mc:AlternateContent xmlns:mc="http://schemas.openxmlformats.org/markup-compatibility/2006">
              <mc:Choice xmlns:v="urn:schemas-microsoft-com:vml" Requires="v">
                <p:oleObj name="Equation" r:id="rId3" imgW="4851360" imgH="1130040" progId="Equation.DSMT4">
                  <p:embed/>
                </p:oleObj>
              </mc:Choice>
              <mc:Fallback>
                <p:oleObj name="Equation" r:id="rId3" imgW="4851360" imgH="1130040" progId="Equation.DSMT4">
                  <p:embed/>
                  <p:pic>
                    <p:nvPicPr>
                      <p:cNvPr id="0" name=""/>
                      <p:cNvPicPr/>
                      <p:nvPr/>
                    </p:nvPicPr>
                    <p:blipFill>
                      <a:blip r:embed="rId4"/>
                      <a:stretch>
                        <a:fillRect/>
                      </a:stretch>
                    </p:blipFill>
                    <p:spPr>
                      <a:xfrm>
                        <a:off x="1122362" y="2392427"/>
                        <a:ext cx="10231438" cy="2382837"/>
                      </a:xfrm>
                      <a:prstGeom prst="rect">
                        <a:avLst/>
                      </a:prstGeom>
                    </p:spPr>
                  </p:pic>
                </p:oleObj>
              </mc:Fallback>
            </mc:AlternateContent>
          </a:graphicData>
        </a:graphic>
      </p:graphicFrame>
    </p:spTree>
    <p:extLst>
      <p:ext uri="{BB962C8B-B14F-4D97-AF65-F5344CB8AC3E}">
        <p14:creationId xmlns:p14="http://schemas.microsoft.com/office/powerpoint/2010/main" val="823225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9338E-DEA4-855A-3B4A-667B0B656DFA}"/>
              </a:ext>
            </a:extLst>
          </p:cNvPr>
          <p:cNvSpPr>
            <a:spLocks noGrp="1"/>
          </p:cNvSpPr>
          <p:nvPr>
            <p:ph type="title"/>
          </p:nvPr>
        </p:nvSpPr>
        <p:spPr>
          <a:xfrm>
            <a:off x="838200" y="168965"/>
            <a:ext cx="10515600" cy="685801"/>
          </a:xfrm>
        </p:spPr>
        <p:txBody>
          <a:bodyPr>
            <a:normAutofit fontScale="90000"/>
          </a:bodyPr>
          <a:lstStyle/>
          <a:p>
            <a:pPr algn="ctr"/>
            <a:r>
              <a:rPr lang="en-US" dirty="0">
                <a:latin typeface="Segoe UI" panose="020B0502040204020203" pitchFamily="34" charset="0"/>
                <a:cs typeface="Segoe UI" panose="020B0502040204020203" pitchFamily="34" charset="0"/>
              </a:rPr>
              <a:t>Row Reduction: </a:t>
            </a:r>
            <a:r>
              <a:rPr lang="en-US" dirty="0"/>
              <a:t>Gaussian elimination</a:t>
            </a:r>
          </a:p>
        </p:txBody>
      </p:sp>
      <p:sp>
        <p:nvSpPr>
          <p:cNvPr id="3" name="Content Placeholder 2">
            <a:extLst>
              <a:ext uri="{FF2B5EF4-FFF2-40B4-BE49-F238E27FC236}">
                <a16:creationId xmlns:a16="http://schemas.microsoft.com/office/drawing/2014/main" id="{4BD3C58F-2640-DEF7-1BBB-455057186047}"/>
              </a:ext>
            </a:extLst>
          </p:cNvPr>
          <p:cNvSpPr>
            <a:spLocks noGrp="1"/>
          </p:cNvSpPr>
          <p:nvPr>
            <p:ph idx="1"/>
          </p:nvPr>
        </p:nvSpPr>
        <p:spPr>
          <a:xfrm>
            <a:off x="278296" y="1143000"/>
            <a:ext cx="11658600" cy="5208104"/>
          </a:xfrm>
        </p:spPr>
        <p:txBody>
          <a:bodyPr/>
          <a:lstStyle/>
          <a:p>
            <a:pPr algn="just">
              <a:buFont typeface="Wingdings" panose="05000000000000000000" pitchFamily="2" charset="2"/>
              <a:buChar char="v"/>
            </a:pPr>
            <a:r>
              <a:rPr lang="en-US" dirty="0">
                <a:latin typeface="Segoe UI" panose="020B0502040204020203" pitchFamily="34" charset="0"/>
                <a:cs typeface="Segoe UI" panose="020B0502040204020203" pitchFamily="34" charset="0"/>
              </a:rPr>
              <a:t>If the matrix formed by the vectors has a row of zeros after row reduction, the vectors are linearly dependent.</a:t>
            </a:r>
          </a:p>
          <a:p>
            <a:pPr algn="just">
              <a:buFont typeface="Wingdings" panose="05000000000000000000" pitchFamily="2" charset="2"/>
              <a:buChar char="v"/>
            </a:pPr>
            <a:endParaRPr lang="en-US" dirty="0"/>
          </a:p>
        </p:txBody>
      </p:sp>
      <p:sp>
        <p:nvSpPr>
          <p:cNvPr id="5" name="TextBox 4">
            <a:extLst>
              <a:ext uri="{FF2B5EF4-FFF2-40B4-BE49-F238E27FC236}">
                <a16:creationId xmlns:a16="http://schemas.microsoft.com/office/drawing/2014/main" id="{C56189B1-5A88-2FE4-B0E8-25730BEE140F}"/>
              </a:ext>
            </a:extLst>
          </p:cNvPr>
          <p:cNvSpPr txBox="1"/>
          <p:nvPr/>
        </p:nvSpPr>
        <p:spPr>
          <a:xfrm>
            <a:off x="6013175" y="3279913"/>
            <a:ext cx="5923721" cy="1477328"/>
          </a:xfrm>
          <a:prstGeom prst="rect">
            <a:avLst/>
          </a:prstGeom>
          <a:noFill/>
        </p:spPr>
        <p:txBody>
          <a:bodyPr wrap="square" rtlCol="0">
            <a:spAutoFit/>
          </a:bodyPr>
          <a:lstStyle/>
          <a:p>
            <a:pPr marL="342900" indent="-342900">
              <a:buAutoNum type="arabicPeriod"/>
            </a:pPr>
            <a:r>
              <a:rPr lang="en-US" dirty="0"/>
              <a:t>Row swapping</a:t>
            </a:r>
          </a:p>
          <a:p>
            <a:pPr marL="342900" indent="-342900">
              <a:buAutoNum type="arabicPeriod"/>
            </a:pPr>
            <a:r>
              <a:rPr lang="en-US" dirty="0"/>
              <a:t>Row multiplication : Multiply a row by a nonzero scalar.</a:t>
            </a:r>
          </a:p>
          <a:p>
            <a:pPr marL="342900" indent="-342900">
              <a:buAutoNum type="arabicPeriod"/>
            </a:pPr>
            <a:r>
              <a:rPr lang="en-US" dirty="0"/>
              <a:t>Row addition : Replace one row by the sum of itself and a multiple of another row.</a:t>
            </a:r>
          </a:p>
          <a:p>
            <a:pPr marL="342900" indent="-342900">
              <a:buAutoNum type="arabicPeriod"/>
            </a:pPr>
            <a:endParaRPr lang="en-US" dirty="0"/>
          </a:p>
        </p:txBody>
      </p:sp>
      <p:graphicFrame>
        <p:nvGraphicFramePr>
          <p:cNvPr id="6" name="Object 5">
            <a:extLst>
              <a:ext uri="{FF2B5EF4-FFF2-40B4-BE49-F238E27FC236}">
                <a16:creationId xmlns:a16="http://schemas.microsoft.com/office/drawing/2014/main" id="{781BFFB6-DCD6-6AAE-7025-BAA0C6B607EF}"/>
              </a:ext>
            </a:extLst>
          </p:cNvPr>
          <p:cNvGraphicFramePr>
            <a:graphicFrameLocks noChangeAspect="1"/>
          </p:cNvGraphicFramePr>
          <p:nvPr>
            <p:extLst>
              <p:ext uri="{D42A27DB-BD31-4B8C-83A1-F6EECF244321}">
                <p14:modId xmlns:p14="http://schemas.microsoft.com/office/powerpoint/2010/main" val="1897123905"/>
              </p:ext>
            </p:extLst>
          </p:nvPr>
        </p:nvGraphicFramePr>
        <p:xfrm>
          <a:off x="838200" y="2451660"/>
          <a:ext cx="4933950" cy="3763963"/>
        </p:xfrm>
        <a:graphic>
          <a:graphicData uri="http://schemas.openxmlformats.org/presentationml/2006/ole">
            <mc:AlternateContent xmlns:mc="http://schemas.openxmlformats.org/markup-compatibility/2006">
              <mc:Choice xmlns:v="urn:schemas-microsoft-com:vml" Requires="v">
                <p:oleObj name="Equation" r:id="rId3" imgW="4933315" imgH="3764509" progId="Equation.DSMT4">
                  <p:embed/>
                </p:oleObj>
              </mc:Choice>
              <mc:Fallback>
                <p:oleObj name="Equation" r:id="rId3" imgW="4933315" imgH="3764509" progId="Equation.DSMT4">
                  <p:embed/>
                  <p:pic>
                    <p:nvPicPr>
                      <p:cNvPr id="0" name=""/>
                      <p:cNvPicPr/>
                      <p:nvPr/>
                    </p:nvPicPr>
                    <p:blipFill>
                      <a:blip r:embed="rId4"/>
                      <a:stretch>
                        <a:fillRect/>
                      </a:stretch>
                    </p:blipFill>
                    <p:spPr>
                      <a:xfrm>
                        <a:off x="838200" y="2451660"/>
                        <a:ext cx="4933950" cy="3763963"/>
                      </a:xfrm>
                      <a:prstGeom prst="rect">
                        <a:avLst/>
                      </a:prstGeom>
                    </p:spPr>
                  </p:pic>
                </p:oleObj>
              </mc:Fallback>
            </mc:AlternateContent>
          </a:graphicData>
        </a:graphic>
      </p:graphicFrame>
    </p:spTree>
    <p:extLst>
      <p:ext uri="{BB962C8B-B14F-4D97-AF65-F5344CB8AC3E}">
        <p14:creationId xmlns:p14="http://schemas.microsoft.com/office/powerpoint/2010/main" val="2643080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11B79-FB0C-265F-55B5-23ECC9113E72}"/>
              </a:ext>
            </a:extLst>
          </p:cNvPr>
          <p:cNvSpPr>
            <a:spLocks noGrp="1"/>
          </p:cNvSpPr>
          <p:nvPr>
            <p:ph type="title"/>
          </p:nvPr>
        </p:nvSpPr>
        <p:spPr>
          <a:xfrm>
            <a:off x="838200" y="198783"/>
            <a:ext cx="10515600" cy="636105"/>
          </a:xfrm>
        </p:spPr>
        <p:txBody>
          <a:bodyPr>
            <a:normAutofit fontScale="90000"/>
          </a:bodyPr>
          <a:lstStyle/>
          <a:p>
            <a:pPr algn="ctr"/>
            <a:r>
              <a:rPr lang="en-US" dirty="0">
                <a:latin typeface="Segoe UI" panose="020B0502040204020203" pitchFamily="34" charset="0"/>
                <a:cs typeface="Segoe UI" panose="020B0502040204020203" pitchFamily="34" charset="0"/>
              </a:rPr>
              <a:t>Rank</a:t>
            </a:r>
            <a:endParaRPr lang="en-US" dirty="0"/>
          </a:p>
        </p:txBody>
      </p:sp>
      <p:sp>
        <p:nvSpPr>
          <p:cNvPr id="3" name="Content Placeholder 2">
            <a:extLst>
              <a:ext uri="{FF2B5EF4-FFF2-40B4-BE49-F238E27FC236}">
                <a16:creationId xmlns:a16="http://schemas.microsoft.com/office/drawing/2014/main" id="{429FEDBB-BA8F-A351-8359-B1C1DFA1B471}"/>
              </a:ext>
            </a:extLst>
          </p:cNvPr>
          <p:cNvSpPr>
            <a:spLocks noGrp="1"/>
          </p:cNvSpPr>
          <p:nvPr>
            <p:ph idx="1"/>
          </p:nvPr>
        </p:nvSpPr>
        <p:spPr>
          <a:xfrm>
            <a:off x="298174" y="1023730"/>
            <a:ext cx="11678478" cy="5153233"/>
          </a:xfrm>
        </p:spPr>
        <p:txBody>
          <a:bodyPr/>
          <a:lstStyle/>
          <a:p>
            <a:pPr algn="just">
              <a:buFont typeface="Wingdings" panose="05000000000000000000" pitchFamily="2" charset="2"/>
              <a:buChar char="v"/>
            </a:pPr>
            <a:r>
              <a:rPr lang="en-US" sz="2200" b="1" dirty="0">
                <a:latin typeface="Segoe UI" panose="020B0502040204020203" pitchFamily="34" charset="0"/>
                <a:cs typeface="Segoe UI" panose="020B0502040204020203" pitchFamily="34" charset="0"/>
              </a:rPr>
              <a:t>Rank:</a:t>
            </a:r>
            <a:r>
              <a:rPr lang="en-US" sz="2200" dirty="0">
                <a:latin typeface="Segoe UI" panose="020B0502040204020203" pitchFamily="34" charset="0"/>
                <a:cs typeface="Segoe UI" panose="020B0502040204020203" pitchFamily="34" charset="0"/>
              </a:rPr>
              <a:t> If the rank of the matrix (the maximum number of linearly independent row or column vectors) is less than the number of vectors, then the vectors are linearly dependent.</a:t>
            </a:r>
          </a:p>
          <a:p>
            <a:pPr algn="just"/>
            <a:endParaRPr lang="en-US" dirty="0"/>
          </a:p>
        </p:txBody>
      </p:sp>
      <p:graphicFrame>
        <p:nvGraphicFramePr>
          <p:cNvPr id="4" name="Object 3">
            <a:extLst>
              <a:ext uri="{FF2B5EF4-FFF2-40B4-BE49-F238E27FC236}">
                <a16:creationId xmlns:a16="http://schemas.microsoft.com/office/drawing/2014/main" id="{7F155F68-9E38-158B-2D98-2E968681336E}"/>
              </a:ext>
            </a:extLst>
          </p:cNvPr>
          <p:cNvGraphicFramePr>
            <a:graphicFrameLocks noChangeAspect="1"/>
          </p:cNvGraphicFramePr>
          <p:nvPr>
            <p:extLst>
              <p:ext uri="{D42A27DB-BD31-4B8C-83A1-F6EECF244321}">
                <p14:modId xmlns:p14="http://schemas.microsoft.com/office/powerpoint/2010/main" val="3352078686"/>
              </p:ext>
            </p:extLst>
          </p:nvPr>
        </p:nvGraphicFramePr>
        <p:xfrm>
          <a:off x="1362075" y="2259013"/>
          <a:ext cx="4933950" cy="3763962"/>
        </p:xfrm>
        <a:graphic>
          <a:graphicData uri="http://schemas.openxmlformats.org/presentationml/2006/ole">
            <mc:AlternateContent xmlns:mc="http://schemas.openxmlformats.org/markup-compatibility/2006">
              <mc:Choice xmlns:v="urn:schemas-microsoft-com:vml" Requires="v">
                <p:oleObj name="Equation" r:id="rId3" imgW="2946240" imgH="2247840" progId="Equation.DSMT4">
                  <p:embed/>
                </p:oleObj>
              </mc:Choice>
              <mc:Fallback>
                <p:oleObj name="Equation" r:id="rId3" imgW="2946240" imgH="2247840" progId="Equation.DSMT4">
                  <p:embed/>
                  <p:pic>
                    <p:nvPicPr>
                      <p:cNvPr id="4" name="Object 3">
                        <a:extLst>
                          <a:ext uri="{FF2B5EF4-FFF2-40B4-BE49-F238E27FC236}">
                            <a16:creationId xmlns:a16="http://schemas.microsoft.com/office/drawing/2014/main" id="{C5F56C35-F407-5C0B-FB68-5023382BE999}"/>
                          </a:ext>
                        </a:extLst>
                      </p:cNvPr>
                      <p:cNvPicPr/>
                      <p:nvPr/>
                    </p:nvPicPr>
                    <p:blipFill>
                      <a:blip r:embed="rId4"/>
                      <a:stretch>
                        <a:fillRect/>
                      </a:stretch>
                    </p:blipFill>
                    <p:spPr>
                      <a:xfrm>
                        <a:off x="1362075" y="2259013"/>
                        <a:ext cx="4933950" cy="3763962"/>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92E6A0D5-4BCE-7A8B-3438-FF6DE353EB82}"/>
              </a:ext>
            </a:extLst>
          </p:cNvPr>
          <p:cNvSpPr txBox="1"/>
          <p:nvPr/>
        </p:nvSpPr>
        <p:spPr>
          <a:xfrm>
            <a:off x="7046259" y="4141694"/>
            <a:ext cx="3519490" cy="369332"/>
          </a:xfrm>
          <a:prstGeom prst="rect">
            <a:avLst/>
          </a:prstGeom>
          <a:noFill/>
        </p:spPr>
        <p:txBody>
          <a:bodyPr wrap="none" rtlCol="0">
            <a:spAutoFit/>
          </a:bodyPr>
          <a:lstStyle/>
          <a:p>
            <a:r>
              <a:rPr lang="en-US" dirty="0">
                <a:latin typeface="Segoe UI" panose="020B0502040204020203" pitchFamily="34" charset="0"/>
                <a:cs typeface="Segoe UI" panose="020B0502040204020203" pitchFamily="34" charset="0"/>
              </a:rPr>
              <a:t>Number of Nonzero Rows=</a:t>
            </a:r>
            <a:r>
              <a:rPr lang="en-US" b="1" dirty="0">
                <a:latin typeface="Segoe UI" panose="020B0502040204020203" pitchFamily="34" charset="0"/>
                <a:cs typeface="Segoe UI" panose="020B0502040204020203" pitchFamily="34" charset="0"/>
              </a:rPr>
              <a:t>Rank</a:t>
            </a:r>
          </a:p>
        </p:txBody>
      </p:sp>
    </p:spTree>
    <p:extLst>
      <p:ext uri="{BB962C8B-B14F-4D97-AF65-F5344CB8AC3E}">
        <p14:creationId xmlns:p14="http://schemas.microsoft.com/office/powerpoint/2010/main" val="2428467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76847-381D-70A1-B2DB-6DB9F78A61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B0EB9-2FBC-AC03-754E-6DD8D5F900D0}"/>
              </a:ext>
            </a:extLst>
          </p:cNvPr>
          <p:cNvSpPr>
            <a:spLocks noGrp="1"/>
          </p:cNvSpPr>
          <p:nvPr>
            <p:ph type="title"/>
          </p:nvPr>
        </p:nvSpPr>
        <p:spPr>
          <a:xfrm>
            <a:off x="223024" y="365126"/>
            <a:ext cx="11745952" cy="683746"/>
          </a:xfrm>
        </p:spPr>
        <p:txBody>
          <a:bodyPr>
            <a:normAutofit/>
          </a:bodyPr>
          <a:lstStyle/>
          <a:p>
            <a:pPr algn="ctr"/>
            <a:r>
              <a:rPr lang="en-US" sz="3000" dirty="0">
                <a:latin typeface="Segoe UI" panose="020B0502040204020203" pitchFamily="34" charset="0"/>
                <a:cs typeface="Segoe UI" panose="020B0502040204020203" pitchFamily="34" charset="0"/>
              </a:rPr>
              <a:t>Matrix Algebra Review</a:t>
            </a:r>
          </a:p>
        </p:txBody>
      </p:sp>
      <p:sp>
        <p:nvSpPr>
          <p:cNvPr id="3" name="Content Placeholder 2">
            <a:extLst>
              <a:ext uri="{FF2B5EF4-FFF2-40B4-BE49-F238E27FC236}">
                <a16:creationId xmlns:a16="http://schemas.microsoft.com/office/drawing/2014/main" id="{FD889265-EBF6-BAAB-3067-6DFCD8D2A037}"/>
              </a:ext>
            </a:extLst>
          </p:cNvPr>
          <p:cNvSpPr>
            <a:spLocks noGrp="1"/>
          </p:cNvSpPr>
          <p:nvPr>
            <p:ph idx="1"/>
          </p:nvPr>
        </p:nvSpPr>
        <p:spPr>
          <a:xfrm>
            <a:off x="223024" y="1223010"/>
            <a:ext cx="11864898" cy="5534628"/>
          </a:xfrm>
        </p:spPr>
        <p:txBody>
          <a:bodyPr>
            <a:normAutofit fontScale="92500" lnSpcReduction="10000"/>
          </a:bodyPr>
          <a:lstStyle/>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Length of a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Projection of a Vector on Another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Angle between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Inner Product of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Linearly Dependent Vectors</a:t>
            </a:r>
          </a:p>
          <a:p>
            <a:pPr>
              <a:lnSpc>
                <a:spcPct val="150000"/>
              </a:lnSpc>
              <a:buFont typeface="Wingdings" panose="05000000000000000000" pitchFamily="2" charset="2"/>
              <a:buChar char="v"/>
            </a:pPr>
            <a:r>
              <a:rPr lang="en-US" sz="2000" dirty="0">
                <a:latin typeface="Segoe UI" panose="020B0502040204020203" pitchFamily="34" charset="0"/>
                <a:cs typeface="Segoe UI" panose="020B0502040204020203" pitchFamily="34" charset="0"/>
              </a:rPr>
              <a:t>Matrices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Eigenvalues and Eigenvectors of a 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Spectral Decomposition of a 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Positive Definite Matrix</a:t>
            </a:r>
          </a:p>
          <a:p>
            <a:pPr>
              <a:lnSpc>
                <a:spcPct val="150000"/>
              </a:lnSpc>
            </a:pPr>
            <a:endParaRPr lang="en-US" sz="1800"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endParaRPr lang="en-US" sz="2800" b="1" dirty="0"/>
          </a:p>
          <a:p>
            <a:endParaRPr lang="en-US" b="1"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835604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425C9-D4A4-AB03-1FF7-C5BC37909BDE}"/>
              </a:ext>
            </a:extLst>
          </p:cNvPr>
          <p:cNvSpPr>
            <a:spLocks noGrp="1"/>
          </p:cNvSpPr>
          <p:nvPr>
            <p:ph type="title"/>
          </p:nvPr>
        </p:nvSpPr>
        <p:spPr>
          <a:xfrm>
            <a:off x="838200" y="188259"/>
            <a:ext cx="10515600" cy="726141"/>
          </a:xfrm>
        </p:spPr>
        <p:txBody>
          <a:bodyPr>
            <a:normAutofit/>
          </a:bodyPr>
          <a:lstStyle/>
          <a:p>
            <a:pPr algn="ctr"/>
            <a:r>
              <a:rPr lang="en-US" dirty="0">
                <a:latin typeface="Segoe UI" panose="020B0502040204020203" pitchFamily="34" charset="0"/>
                <a:cs typeface="Segoe UI" panose="020B0502040204020203" pitchFamily="34" charset="0"/>
              </a:rPr>
              <a:t>Use of Matrices in MVS</a:t>
            </a:r>
          </a:p>
        </p:txBody>
      </p:sp>
      <p:sp>
        <p:nvSpPr>
          <p:cNvPr id="3" name="Content Placeholder 2">
            <a:extLst>
              <a:ext uri="{FF2B5EF4-FFF2-40B4-BE49-F238E27FC236}">
                <a16:creationId xmlns:a16="http://schemas.microsoft.com/office/drawing/2014/main" id="{0C52E281-2716-829F-DC4A-130EBC84F74F}"/>
              </a:ext>
            </a:extLst>
          </p:cNvPr>
          <p:cNvSpPr>
            <a:spLocks noGrp="1"/>
          </p:cNvSpPr>
          <p:nvPr>
            <p:ph idx="1"/>
          </p:nvPr>
        </p:nvSpPr>
        <p:spPr>
          <a:xfrm>
            <a:off x="304800" y="1093694"/>
            <a:ext cx="11663082" cy="5459506"/>
          </a:xfrm>
        </p:spPr>
        <p:txBody>
          <a:bodyPr>
            <a:normAutofit/>
          </a:bodyPr>
          <a:lstStyle/>
          <a:p>
            <a:pPr algn="just">
              <a:buFont typeface="Wingdings" panose="05000000000000000000" pitchFamily="2" charset="2"/>
              <a:buChar char="v"/>
            </a:pPr>
            <a:endParaRPr lang="en-US" sz="20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000" dirty="0">
                <a:latin typeface="Segoe UI" panose="020B0502040204020203" pitchFamily="34" charset="0"/>
                <a:cs typeface="Segoe UI" panose="020B0502040204020203" pitchFamily="34" charset="0"/>
              </a:rPr>
              <a:t>Multivariate models can be expressed compactly using matrices </a:t>
            </a:r>
          </a:p>
          <a:p>
            <a:pPr marL="0" indent="0" algn="just">
              <a:buNone/>
            </a:pPr>
            <a:endParaRPr lang="en-US" sz="20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0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000" dirty="0">
                <a:latin typeface="Segoe UI" panose="020B0502040204020203" pitchFamily="34" charset="0"/>
                <a:cs typeface="Segoe UI" panose="020B0502040204020203" pitchFamily="34" charset="0"/>
              </a:rPr>
              <a:t>Matrices organizes of large numbers of observations, variables, and parameters </a:t>
            </a:r>
          </a:p>
          <a:p>
            <a:pPr algn="just">
              <a:buFont typeface="Wingdings" panose="05000000000000000000" pitchFamily="2" charset="2"/>
              <a:buChar char="v"/>
            </a:pPr>
            <a:endParaRPr lang="en-US" sz="20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0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000" dirty="0">
                <a:latin typeface="Segoe UI" panose="020B0502040204020203" pitchFamily="34" charset="0"/>
                <a:cs typeface="Segoe UI" panose="020B0502040204020203" pitchFamily="34" charset="0"/>
              </a:rPr>
              <a:t>Understanding matrices allows us to better understand core statistical model.</a:t>
            </a:r>
          </a:p>
          <a:p>
            <a:pPr marL="0" indent="0" algn="just">
              <a:buNone/>
            </a:pPr>
            <a:endParaRPr lang="en-US" sz="2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8566514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A85BB-935F-CD88-E9D1-48C3CE8AC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E6A4B-90A1-D4A5-70FF-0F491C4A499D}"/>
              </a:ext>
            </a:extLst>
          </p:cNvPr>
          <p:cNvSpPr>
            <a:spLocks noGrp="1"/>
          </p:cNvSpPr>
          <p:nvPr>
            <p:ph type="title"/>
          </p:nvPr>
        </p:nvSpPr>
        <p:spPr>
          <a:xfrm>
            <a:off x="838200" y="295835"/>
            <a:ext cx="10515600" cy="627531"/>
          </a:xfrm>
        </p:spPr>
        <p:txBody>
          <a:bodyPr>
            <a:normAutofit fontScale="90000"/>
          </a:bodyPr>
          <a:lstStyle/>
          <a:p>
            <a:pPr algn="ctr"/>
            <a:r>
              <a:rPr lang="en-US" dirty="0"/>
              <a:t>Symmetric Matrices</a:t>
            </a:r>
          </a:p>
        </p:txBody>
      </p:sp>
      <p:sp>
        <p:nvSpPr>
          <p:cNvPr id="3" name="Content Placeholder 2">
            <a:extLst>
              <a:ext uri="{FF2B5EF4-FFF2-40B4-BE49-F238E27FC236}">
                <a16:creationId xmlns:a16="http://schemas.microsoft.com/office/drawing/2014/main" id="{A0259F2B-593F-D94A-5F3C-750D31631A9B}"/>
              </a:ext>
            </a:extLst>
          </p:cNvPr>
          <p:cNvSpPr>
            <a:spLocks noGrp="1"/>
          </p:cNvSpPr>
          <p:nvPr>
            <p:ph idx="1"/>
          </p:nvPr>
        </p:nvSpPr>
        <p:spPr>
          <a:xfrm>
            <a:off x="259976" y="1147482"/>
            <a:ext cx="11725836" cy="5414683"/>
          </a:xfrm>
        </p:spPr>
        <p:txBody>
          <a:bodyPr>
            <a:normAutofit/>
          </a:bodyPr>
          <a:lstStyle/>
          <a:p>
            <a:pPr>
              <a:buFont typeface="Wingdings" panose="05000000000000000000" pitchFamily="2" charset="2"/>
              <a:buChar char="v"/>
            </a:pPr>
            <a:r>
              <a:rPr lang="en-US" sz="2000" dirty="0">
                <a:latin typeface="Segoe UI" panose="020B0502040204020203" pitchFamily="34" charset="0"/>
                <a:cs typeface="Segoe UI" panose="020B0502040204020203" pitchFamily="34" charset="0"/>
              </a:rPr>
              <a:t>A square  matrix </a:t>
            </a:r>
            <a:r>
              <a:rPr lang="en-US" sz="2000" b="1" i="1" dirty="0">
                <a:latin typeface="Segoe UI" panose="020B0502040204020203" pitchFamily="34" charset="0"/>
                <a:cs typeface="Segoe UI" panose="020B0502040204020203" pitchFamily="34" charset="0"/>
              </a:rPr>
              <a:t>A</a:t>
            </a:r>
            <a:r>
              <a:rPr lang="en-US" sz="2000" dirty="0">
                <a:latin typeface="Segoe UI" panose="020B0502040204020203" pitchFamily="34" charset="0"/>
                <a:cs typeface="Segoe UI" panose="020B0502040204020203" pitchFamily="34" charset="0"/>
              </a:rPr>
              <a:t> is considered </a:t>
            </a:r>
            <a:r>
              <a:rPr lang="en-US" sz="2000" b="1" dirty="0">
                <a:latin typeface="Segoe UI" panose="020B0502040204020203" pitchFamily="34" charset="0"/>
                <a:cs typeface="Segoe UI" panose="020B0502040204020203" pitchFamily="34" charset="0"/>
              </a:rPr>
              <a:t>symmetric</a:t>
            </a:r>
            <a:r>
              <a:rPr lang="en-US" sz="2000" dirty="0">
                <a:latin typeface="Segoe UI" panose="020B0502040204020203" pitchFamily="34" charset="0"/>
                <a:cs typeface="Segoe UI" panose="020B0502040204020203" pitchFamily="34" charset="0"/>
              </a:rPr>
              <a:t> if </a:t>
            </a:r>
            <a:r>
              <a:rPr lang="en-US" sz="2000" b="1" i="1" dirty="0">
                <a:latin typeface="Segoe UI" panose="020B0502040204020203" pitchFamily="34" charset="0"/>
                <a:cs typeface="Segoe UI" panose="020B0502040204020203" pitchFamily="34" charset="0"/>
              </a:rPr>
              <a:t>A= A’ .</a:t>
            </a:r>
          </a:p>
          <a:p>
            <a:pPr>
              <a:buFont typeface="Wingdings" panose="05000000000000000000" pitchFamily="2" charset="2"/>
              <a:buChar char="v"/>
            </a:pPr>
            <a:r>
              <a:rPr lang="en-US" sz="2000" dirty="0">
                <a:latin typeface="Segoe UI" panose="020B0502040204020203" pitchFamily="34" charset="0"/>
                <a:cs typeface="Segoe UI" panose="020B0502040204020203" pitchFamily="34" charset="0"/>
              </a:rPr>
              <a:t>Important cases: </a:t>
            </a:r>
            <a:r>
              <a:rPr lang="en-US" sz="2000" b="1" dirty="0">
                <a:latin typeface="Segoe UI" panose="020B0502040204020203" pitchFamily="34" charset="0"/>
                <a:cs typeface="Segoe UI" panose="020B0502040204020203" pitchFamily="34" charset="0"/>
              </a:rPr>
              <a:t>covariance</a:t>
            </a:r>
            <a:r>
              <a:rPr lang="en-US" sz="2000" dirty="0">
                <a:latin typeface="Segoe UI" panose="020B0502040204020203" pitchFamily="34" charset="0"/>
                <a:cs typeface="Segoe UI" panose="020B0502040204020203" pitchFamily="34" charset="0"/>
              </a:rPr>
              <a:t>, </a:t>
            </a:r>
            <a:r>
              <a:rPr lang="en-US" sz="2000" b="1" dirty="0">
                <a:latin typeface="Segoe UI" panose="020B0502040204020203" pitchFamily="34" charset="0"/>
                <a:cs typeface="Segoe UI" panose="020B0502040204020203" pitchFamily="34" charset="0"/>
              </a:rPr>
              <a:t>correlation</a:t>
            </a:r>
            <a:r>
              <a:rPr lang="en-US" sz="2000" dirty="0">
                <a:latin typeface="Segoe UI" panose="020B0502040204020203" pitchFamily="34" charset="0"/>
                <a:cs typeface="Segoe UI" panose="020B0502040204020203" pitchFamily="34" charset="0"/>
              </a:rPr>
              <a:t>, and </a:t>
            </a:r>
            <a:r>
              <a:rPr lang="en-US" sz="2000" b="1" dirty="0">
                <a:latin typeface="Segoe UI" panose="020B0502040204020203" pitchFamily="34" charset="0"/>
                <a:cs typeface="Segoe UI" panose="020B0502040204020203" pitchFamily="34" charset="0"/>
              </a:rPr>
              <a:t>distance matrices</a:t>
            </a:r>
          </a:p>
          <a:p>
            <a:pPr marL="0" indent="0">
              <a:buNone/>
            </a:pPr>
            <a:endParaRPr lang="en-US" sz="2000" dirty="0">
              <a:latin typeface="Segoe UI" panose="020B0502040204020203" pitchFamily="34" charset="0"/>
              <a:cs typeface="Segoe UI" panose="020B0502040204020203" pitchFamily="34" charset="0"/>
            </a:endParaRPr>
          </a:p>
          <a:p>
            <a:pPr marL="0" indent="0">
              <a:buNone/>
            </a:pPr>
            <a:endParaRPr lang="en-US" sz="2000" dirty="0">
              <a:latin typeface="Segoe UI" panose="020B0502040204020203" pitchFamily="34" charset="0"/>
              <a:cs typeface="Segoe UI" panose="020B0502040204020203" pitchFamily="34" charset="0"/>
            </a:endParaRPr>
          </a:p>
          <a:p>
            <a:pPr marL="0" indent="0">
              <a:buNone/>
            </a:pPr>
            <a:endParaRPr lang="en-US" sz="2000" dirty="0">
              <a:latin typeface="Segoe UI" panose="020B0502040204020203" pitchFamily="34" charset="0"/>
              <a:cs typeface="Segoe UI" panose="020B0502040204020203" pitchFamily="34" charset="0"/>
            </a:endParaRPr>
          </a:p>
          <a:p>
            <a:pPr marL="0" indent="0">
              <a:buNone/>
            </a:pPr>
            <a:endParaRPr lang="en-US" sz="2000" dirty="0">
              <a:latin typeface="Segoe UI" panose="020B0502040204020203" pitchFamily="34" charset="0"/>
              <a:cs typeface="Segoe UI" panose="020B0502040204020203" pitchFamily="34" charset="0"/>
            </a:endParaRPr>
          </a:p>
          <a:p>
            <a:pPr>
              <a:buFont typeface="Wingdings" panose="05000000000000000000" pitchFamily="2" charset="2"/>
              <a:buChar char="v"/>
            </a:pPr>
            <a:endParaRPr lang="en-US" sz="20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000" dirty="0">
                <a:latin typeface="Segoe UI" panose="020B0502040204020203" pitchFamily="34" charset="0"/>
                <a:cs typeface="Segoe UI" panose="020B0502040204020203" pitchFamily="34" charset="0"/>
              </a:rPr>
              <a:t>A symmetric matrix can be represented as “lower-triangular form” to omit the redundant elements.</a:t>
            </a:r>
          </a:p>
        </p:txBody>
      </p:sp>
      <p:pic>
        <p:nvPicPr>
          <p:cNvPr id="5" name="Picture 4">
            <a:extLst>
              <a:ext uri="{FF2B5EF4-FFF2-40B4-BE49-F238E27FC236}">
                <a16:creationId xmlns:a16="http://schemas.microsoft.com/office/drawing/2014/main" id="{A57D66F2-92C8-FDEB-74FD-219C438F166B}"/>
              </a:ext>
            </a:extLst>
          </p:cNvPr>
          <p:cNvPicPr>
            <a:picLocks noChangeAspect="1"/>
          </p:cNvPicPr>
          <p:nvPr/>
        </p:nvPicPr>
        <p:blipFill>
          <a:blip r:embed="rId3"/>
          <a:stretch>
            <a:fillRect/>
          </a:stretch>
        </p:blipFill>
        <p:spPr>
          <a:xfrm>
            <a:off x="2964432" y="2037990"/>
            <a:ext cx="5506702" cy="1910032"/>
          </a:xfrm>
          <a:prstGeom prst="rect">
            <a:avLst/>
          </a:prstGeom>
        </p:spPr>
      </p:pic>
      <p:pic>
        <p:nvPicPr>
          <p:cNvPr id="7" name="Picture 6">
            <a:extLst>
              <a:ext uri="{FF2B5EF4-FFF2-40B4-BE49-F238E27FC236}">
                <a16:creationId xmlns:a16="http://schemas.microsoft.com/office/drawing/2014/main" id="{D7EDFBAB-8A88-F72F-3405-5D8BC657FA7D}"/>
              </a:ext>
            </a:extLst>
          </p:cNvPr>
          <p:cNvPicPr>
            <a:picLocks noChangeAspect="1"/>
          </p:cNvPicPr>
          <p:nvPr/>
        </p:nvPicPr>
        <p:blipFill>
          <a:blip r:embed="rId4"/>
          <a:stretch>
            <a:fillRect/>
          </a:stretch>
        </p:blipFill>
        <p:spPr>
          <a:xfrm>
            <a:off x="3657601" y="4449403"/>
            <a:ext cx="3307976" cy="2175515"/>
          </a:xfrm>
          <a:prstGeom prst="rect">
            <a:avLst/>
          </a:prstGeom>
        </p:spPr>
      </p:pic>
    </p:spTree>
    <p:extLst>
      <p:ext uri="{BB962C8B-B14F-4D97-AF65-F5344CB8AC3E}">
        <p14:creationId xmlns:p14="http://schemas.microsoft.com/office/powerpoint/2010/main" val="26045454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44ADD-C3FB-31D4-6D72-AC777DB8C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18B51-6F55-5127-0E34-73FBB5B7325C}"/>
              </a:ext>
            </a:extLst>
          </p:cNvPr>
          <p:cNvSpPr>
            <a:spLocks noGrp="1"/>
          </p:cNvSpPr>
          <p:nvPr>
            <p:ph type="title"/>
          </p:nvPr>
        </p:nvSpPr>
        <p:spPr>
          <a:xfrm>
            <a:off x="223024" y="365126"/>
            <a:ext cx="11745952" cy="683746"/>
          </a:xfrm>
        </p:spPr>
        <p:txBody>
          <a:bodyPr>
            <a:normAutofit/>
          </a:bodyPr>
          <a:lstStyle/>
          <a:p>
            <a:pPr algn="ctr"/>
            <a:r>
              <a:rPr lang="en-US" sz="3000" dirty="0">
                <a:latin typeface="Segoe UI" panose="020B0502040204020203" pitchFamily="34" charset="0"/>
                <a:cs typeface="Segoe UI" panose="020B0502040204020203" pitchFamily="34" charset="0"/>
              </a:rPr>
              <a:t>Matrix Algebra Review</a:t>
            </a:r>
          </a:p>
        </p:txBody>
      </p:sp>
      <p:sp>
        <p:nvSpPr>
          <p:cNvPr id="3" name="Content Placeholder 2">
            <a:extLst>
              <a:ext uri="{FF2B5EF4-FFF2-40B4-BE49-F238E27FC236}">
                <a16:creationId xmlns:a16="http://schemas.microsoft.com/office/drawing/2014/main" id="{B9397A9B-EB56-4B1F-E9D2-4E27FEDA2053}"/>
              </a:ext>
            </a:extLst>
          </p:cNvPr>
          <p:cNvSpPr>
            <a:spLocks noGrp="1"/>
          </p:cNvSpPr>
          <p:nvPr>
            <p:ph idx="1"/>
          </p:nvPr>
        </p:nvSpPr>
        <p:spPr>
          <a:xfrm>
            <a:off x="223024" y="1223010"/>
            <a:ext cx="11864898" cy="5534628"/>
          </a:xfrm>
        </p:spPr>
        <p:txBody>
          <a:bodyPr>
            <a:normAutofit fontScale="92500" lnSpcReduction="10000"/>
          </a:bodyPr>
          <a:lstStyle/>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Length of a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Projection of a Vector on Another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Angle between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Inner Product of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Linearly Dependent Vectors</a:t>
            </a:r>
          </a:p>
          <a:p>
            <a:pPr>
              <a:lnSpc>
                <a:spcPct val="150000"/>
              </a:lnSpc>
              <a:buFont typeface="Wingdings" panose="05000000000000000000" pitchFamily="2" charset="2"/>
              <a:buChar char="v"/>
            </a:pPr>
            <a:r>
              <a:rPr lang="en-US" sz="2100" dirty="0">
                <a:solidFill>
                  <a:schemeClr val="bg1">
                    <a:lumMod val="65000"/>
                  </a:schemeClr>
                </a:solidFill>
                <a:latin typeface="Segoe UI" panose="020B0502040204020203" pitchFamily="34" charset="0"/>
                <a:cs typeface="Segoe UI" panose="020B0502040204020203" pitchFamily="34" charset="0"/>
              </a:rPr>
              <a:t>Matrices</a:t>
            </a:r>
          </a:p>
          <a:p>
            <a:pPr>
              <a:lnSpc>
                <a:spcPct val="150000"/>
              </a:lnSpc>
              <a:buFont typeface="Wingdings" panose="05000000000000000000" pitchFamily="2" charset="2"/>
              <a:buChar char="v"/>
            </a:pPr>
            <a:r>
              <a:rPr lang="en-US" sz="2100" dirty="0">
                <a:latin typeface="Segoe UI" panose="020B0502040204020203" pitchFamily="34" charset="0"/>
                <a:cs typeface="Segoe UI" panose="020B0502040204020203" pitchFamily="34" charset="0"/>
              </a:rPr>
              <a:t>Eigenvalues and Eigenvectors of a 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Spectral Decomposition of a 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Positive Definite Matrix</a:t>
            </a:r>
          </a:p>
          <a:p>
            <a:pPr>
              <a:lnSpc>
                <a:spcPct val="150000"/>
              </a:lnSpc>
            </a:pPr>
            <a:endParaRPr lang="en-US" sz="1800"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endParaRPr lang="en-US" sz="2800" b="1" dirty="0"/>
          </a:p>
          <a:p>
            <a:endParaRPr lang="en-US" b="1"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24587493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097E9-3791-E767-0D7B-63BEA2328394}"/>
              </a:ext>
            </a:extLst>
          </p:cNvPr>
          <p:cNvSpPr>
            <a:spLocks noGrp="1"/>
          </p:cNvSpPr>
          <p:nvPr>
            <p:ph type="title"/>
          </p:nvPr>
        </p:nvSpPr>
        <p:spPr>
          <a:xfrm>
            <a:off x="838200" y="198783"/>
            <a:ext cx="10515600" cy="745435"/>
          </a:xfrm>
        </p:spPr>
        <p:txBody>
          <a:bodyPr>
            <a:normAutofit/>
          </a:bodyPr>
          <a:lstStyle/>
          <a:p>
            <a:pPr algn="ctr"/>
            <a:r>
              <a:rPr lang="en-US" dirty="0">
                <a:latin typeface="Segoe UI" panose="020B0502040204020203" pitchFamily="34" charset="0"/>
                <a:cs typeface="Segoe UI" panose="020B0502040204020203" pitchFamily="34" charset="0"/>
              </a:rPr>
              <a:t>Eigenvalues and eigenvectors </a:t>
            </a:r>
          </a:p>
        </p:txBody>
      </p:sp>
      <p:sp>
        <p:nvSpPr>
          <p:cNvPr id="3" name="Content Placeholder 2">
            <a:extLst>
              <a:ext uri="{FF2B5EF4-FFF2-40B4-BE49-F238E27FC236}">
                <a16:creationId xmlns:a16="http://schemas.microsoft.com/office/drawing/2014/main" id="{EB6393D7-9BAF-4C8B-4885-31914E74B386}"/>
              </a:ext>
            </a:extLst>
          </p:cNvPr>
          <p:cNvSpPr>
            <a:spLocks noGrp="1"/>
          </p:cNvSpPr>
          <p:nvPr>
            <p:ph idx="1"/>
          </p:nvPr>
        </p:nvSpPr>
        <p:spPr>
          <a:xfrm>
            <a:off x="168965" y="944218"/>
            <a:ext cx="11807687" cy="5714999"/>
          </a:xfrm>
        </p:spPr>
        <p:txBody>
          <a:bodyPr>
            <a:normAutofit/>
          </a:bodyPr>
          <a:lstStyle/>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200" dirty="0">
                <a:latin typeface="Segoe UI" panose="020B0502040204020203" pitchFamily="34" charset="0"/>
                <a:cs typeface="Segoe UI" panose="020B0502040204020203" pitchFamily="34" charset="0"/>
              </a:rPr>
              <a:t>An </a:t>
            </a:r>
            <a:r>
              <a:rPr lang="en-US" sz="2200" b="1" dirty="0">
                <a:latin typeface="Segoe UI" panose="020B0502040204020203" pitchFamily="34" charset="0"/>
                <a:cs typeface="Segoe UI" panose="020B0502040204020203" pitchFamily="34" charset="0"/>
              </a:rPr>
              <a:t>eigenvector(v)</a:t>
            </a:r>
            <a:r>
              <a:rPr lang="en-US" sz="2200" dirty="0">
                <a:latin typeface="Segoe UI" panose="020B0502040204020203" pitchFamily="34" charset="0"/>
                <a:cs typeface="Segoe UI" panose="020B0502040204020203" pitchFamily="34" charset="0"/>
              </a:rPr>
              <a:t> is a non-zero vector that, which satisfy the following equation. </a:t>
            </a: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200" dirty="0">
                <a:latin typeface="Segoe UI" panose="020B0502040204020203" pitchFamily="34" charset="0"/>
                <a:cs typeface="Segoe UI" panose="020B0502040204020203" pitchFamily="34" charset="0"/>
              </a:rPr>
              <a:t>ʎ is the scalar factor by which the eigenvector is </a:t>
            </a:r>
            <a:r>
              <a:rPr lang="en-US" sz="2200" b="1" dirty="0">
                <a:latin typeface="Segoe UI" panose="020B0502040204020203" pitchFamily="34" charset="0"/>
                <a:cs typeface="Segoe UI" panose="020B0502040204020203" pitchFamily="34" charset="0"/>
              </a:rPr>
              <a:t>stretched</a:t>
            </a:r>
            <a:r>
              <a:rPr lang="en-US" sz="2200" dirty="0">
                <a:latin typeface="Segoe UI" panose="020B0502040204020203" pitchFamily="34" charset="0"/>
                <a:cs typeface="Segoe UI" panose="020B0502040204020203" pitchFamily="34" charset="0"/>
              </a:rPr>
              <a:t>, </a:t>
            </a:r>
            <a:r>
              <a:rPr lang="en-US" sz="2200" b="1" dirty="0">
                <a:latin typeface="Segoe UI" panose="020B0502040204020203" pitchFamily="34" charset="0"/>
                <a:cs typeface="Segoe UI" panose="020B0502040204020203" pitchFamily="34" charset="0"/>
              </a:rPr>
              <a:t>shrunk</a:t>
            </a:r>
            <a:r>
              <a:rPr lang="en-US" sz="2200" dirty="0">
                <a:latin typeface="Segoe UI" panose="020B0502040204020203" pitchFamily="34" charset="0"/>
                <a:cs typeface="Segoe UI" panose="020B0502040204020203" pitchFamily="34" charset="0"/>
              </a:rPr>
              <a:t>, or </a:t>
            </a:r>
            <a:r>
              <a:rPr lang="en-US" sz="2200" b="1" dirty="0">
                <a:latin typeface="Segoe UI" panose="020B0502040204020203" pitchFamily="34" charset="0"/>
                <a:cs typeface="Segoe UI" panose="020B0502040204020203" pitchFamily="34" charset="0"/>
              </a:rPr>
              <a:t>reversed</a:t>
            </a:r>
            <a:r>
              <a:rPr lang="en-US" sz="2200" dirty="0">
                <a:latin typeface="Segoe UI" panose="020B0502040204020203" pitchFamily="34" charset="0"/>
                <a:cs typeface="Segoe UI" panose="020B0502040204020203" pitchFamily="34" charset="0"/>
              </a:rPr>
              <a:t>. </a:t>
            </a: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200" dirty="0">
                <a:latin typeface="Segoe UI" panose="020B0502040204020203" pitchFamily="34" charset="0"/>
                <a:cs typeface="Segoe UI" panose="020B0502040204020203" pitchFamily="34" charset="0"/>
              </a:rPr>
              <a:t>Eigenvalues are found by solving  </a:t>
            </a:r>
            <a:r>
              <a:rPr lang="en-US" sz="2200" b="1" dirty="0">
                <a:latin typeface="Segoe UI" panose="020B0502040204020203" pitchFamily="34" charset="0"/>
                <a:cs typeface="Segoe UI" panose="020B0502040204020203" pitchFamily="34" charset="0"/>
              </a:rPr>
              <a:t>det(A - </a:t>
            </a:r>
            <a:r>
              <a:rPr lang="en-US" sz="2200" b="1" dirty="0" err="1">
                <a:latin typeface="Segoe UI" panose="020B0502040204020203" pitchFamily="34" charset="0"/>
                <a:cs typeface="Segoe UI" panose="020B0502040204020203" pitchFamily="34" charset="0"/>
              </a:rPr>
              <a:t>λI</a:t>
            </a:r>
            <a:r>
              <a:rPr lang="en-US" sz="2200" b="1" dirty="0">
                <a:latin typeface="Segoe UI" panose="020B0502040204020203" pitchFamily="34" charset="0"/>
                <a:cs typeface="Segoe UI" panose="020B0502040204020203" pitchFamily="34" charset="0"/>
              </a:rPr>
              <a:t>) = 0</a:t>
            </a:r>
            <a:r>
              <a:rPr lang="en-US" sz="2200" dirty="0">
                <a:latin typeface="Segoe UI" panose="020B0502040204020203" pitchFamily="34" charset="0"/>
                <a:cs typeface="Segoe UI" panose="020B0502040204020203" pitchFamily="34" charset="0"/>
              </a:rPr>
              <a:t>. </a:t>
            </a:r>
          </a:p>
        </p:txBody>
      </p:sp>
      <p:graphicFrame>
        <p:nvGraphicFramePr>
          <p:cNvPr id="10" name="Object 9">
            <a:extLst>
              <a:ext uri="{FF2B5EF4-FFF2-40B4-BE49-F238E27FC236}">
                <a16:creationId xmlns:a16="http://schemas.microsoft.com/office/drawing/2014/main" id="{5A8AABC4-D264-3B14-A2E6-6181437314D8}"/>
              </a:ext>
            </a:extLst>
          </p:cNvPr>
          <p:cNvGraphicFramePr>
            <a:graphicFrameLocks noChangeAspect="1"/>
          </p:cNvGraphicFramePr>
          <p:nvPr>
            <p:extLst>
              <p:ext uri="{D42A27DB-BD31-4B8C-83A1-F6EECF244321}">
                <p14:modId xmlns:p14="http://schemas.microsoft.com/office/powerpoint/2010/main" val="478033933"/>
              </p:ext>
            </p:extLst>
          </p:nvPr>
        </p:nvGraphicFramePr>
        <p:xfrm>
          <a:off x="4831975" y="2161417"/>
          <a:ext cx="1781341" cy="590553"/>
        </p:xfrm>
        <a:graphic>
          <a:graphicData uri="http://schemas.openxmlformats.org/presentationml/2006/ole">
            <mc:AlternateContent xmlns:mc="http://schemas.openxmlformats.org/markup-compatibility/2006">
              <mc:Choice xmlns:v="urn:schemas-microsoft-com:vml" Requires="v">
                <p:oleObj name="Equation" r:id="rId3" imgW="584348" imgH="194310" progId="Equation.DSMT4">
                  <p:embed/>
                </p:oleObj>
              </mc:Choice>
              <mc:Fallback>
                <p:oleObj name="Equation" r:id="rId3" imgW="584348" imgH="194310" progId="Equation.DSMT4">
                  <p:embed/>
                  <p:pic>
                    <p:nvPicPr>
                      <p:cNvPr id="0" name=""/>
                      <p:cNvPicPr/>
                      <p:nvPr/>
                    </p:nvPicPr>
                    <p:blipFill>
                      <a:blip r:embed="rId4"/>
                      <a:stretch>
                        <a:fillRect/>
                      </a:stretch>
                    </p:blipFill>
                    <p:spPr>
                      <a:xfrm>
                        <a:off x="4831975" y="2161417"/>
                        <a:ext cx="1781341" cy="590553"/>
                      </a:xfrm>
                      <a:prstGeom prst="rect">
                        <a:avLst/>
                      </a:prstGeom>
                    </p:spPr>
                  </p:pic>
                </p:oleObj>
              </mc:Fallback>
            </mc:AlternateContent>
          </a:graphicData>
        </a:graphic>
      </p:graphicFrame>
    </p:spTree>
    <p:extLst>
      <p:ext uri="{BB962C8B-B14F-4D97-AF65-F5344CB8AC3E}">
        <p14:creationId xmlns:p14="http://schemas.microsoft.com/office/powerpoint/2010/main" val="23131503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A2C05-A244-C7C8-33EC-D273DC5CCC8D}"/>
              </a:ext>
            </a:extLst>
          </p:cNvPr>
          <p:cNvSpPr>
            <a:spLocks noGrp="1"/>
          </p:cNvSpPr>
          <p:nvPr>
            <p:ph type="title"/>
          </p:nvPr>
        </p:nvSpPr>
        <p:spPr>
          <a:xfrm>
            <a:off x="838200" y="303349"/>
            <a:ext cx="10515600" cy="581235"/>
          </a:xfrm>
        </p:spPr>
        <p:txBody>
          <a:bodyPr>
            <a:normAutofit fontScale="90000"/>
          </a:bodyPr>
          <a:lstStyle/>
          <a:p>
            <a:pPr algn="ctr"/>
            <a:r>
              <a:rPr lang="en-US" dirty="0"/>
              <a:t>Examples of Eigenvector and Eigenvalue</a:t>
            </a:r>
          </a:p>
        </p:txBody>
      </p:sp>
      <p:sp>
        <p:nvSpPr>
          <p:cNvPr id="7" name="Content Placeholder 6">
            <a:extLst>
              <a:ext uri="{FF2B5EF4-FFF2-40B4-BE49-F238E27FC236}">
                <a16:creationId xmlns:a16="http://schemas.microsoft.com/office/drawing/2014/main" id="{75531CA3-55F2-7EA2-302E-B3F085971B01}"/>
              </a:ext>
            </a:extLst>
          </p:cNvPr>
          <p:cNvSpPr>
            <a:spLocks noGrp="1"/>
          </p:cNvSpPr>
          <p:nvPr>
            <p:ph sz="half" idx="1"/>
          </p:nvPr>
        </p:nvSpPr>
        <p:spPr>
          <a:xfrm>
            <a:off x="547552" y="1103246"/>
            <a:ext cx="5472248" cy="4735789"/>
          </a:xfrm>
        </p:spPr>
        <p:style>
          <a:lnRef idx="2">
            <a:schemeClr val="dk1"/>
          </a:lnRef>
          <a:fillRef idx="1">
            <a:schemeClr val="lt1"/>
          </a:fillRef>
          <a:effectRef idx="0">
            <a:schemeClr val="dk1"/>
          </a:effectRef>
          <a:fontRef idx="minor">
            <a:schemeClr val="dk1"/>
          </a:fontRef>
        </p:style>
        <p:txBody>
          <a:bodyPr/>
          <a:lstStyle/>
          <a:p>
            <a:pPr>
              <a:buFont typeface="Wingdings" panose="05000000000000000000" pitchFamily="2" charset="2"/>
              <a:buChar char="v"/>
            </a:pPr>
            <a:r>
              <a:rPr lang="en-US" dirty="0">
                <a:latin typeface="Segoe UI" panose="020B0502040204020203" pitchFamily="34" charset="0"/>
                <a:cs typeface="Segoe UI" panose="020B0502040204020203" pitchFamily="34" charset="0"/>
              </a:rPr>
              <a:t>Not an Eigenvectors</a:t>
            </a:r>
          </a:p>
          <a:p>
            <a:endParaRPr lang="en-US" dirty="0"/>
          </a:p>
        </p:txBody>
      </p:sp>
      <p:sp>
        <p:nvSpPr>
          <p:cNvPr id="8" name="Content Placeholder 7">
            <a:extLst>
              <a:ext uri="{FF2B5EF4-FFF2-40B4-BE49-F238E27FC236}">
                <a16:creationId xmlns:a16="http://schemas.microsoft.com/office/drawing/2014/main" id="{460AD691-B5B5-7534-114F-4A4597243E81}"/>
              </a:ext>
            </a:extLst>
          </p:cNvPr>
          <p:cNvSpPr>
            <a:spLocks noGrp="1"/>
          </p:cNvSpPr>
          <p:nvPr>
            <p:ph sz="half" idx="2"/>
          </p:nvPr>
        </p:nvSpPr>
        <p:spPr>
          <a:xfrm>
            <a:off x="6172200" y="1103246"/>
            <a:ext cx="5595730" cy="4735789"/>
          </a:xfrm>
        </p:spPr>
        <p:style>
          <a:lnRef idx="2">
            <a:schemeClr val="dk1"/>
          </a:lnRef>
          <a:fillRef idx="1">
            <a:schemeClr val="lt1"/>
          </a:fillRef>
          <a:effectRef idx="0">
            <a:schemeClr val="dk1"/>
          </a:effectRef>
          <a:fontRef idx="minor">
            <a:schemeClr val="dk1"/>
          </a:fontRef>
        </p:style>
        <p:txBody>
          <a:bodyPr/>
          <a:lstStyle/>
          <a:p>
            <a:pPr>
              <a:buFont typeface="Wingdings" panose="05000000000000000000" pitchFamily="2" charset="2"/>
              <a:buChar char="v"/>
            </a:pPr>
            <a:r>
              <a:rPr lang="en-US" dirty="0"/>
              <a:t>An Eigenvector</a:t>
            </a:r>
          </a:p>
          <a:p>
            <a:pPr marL="0" indent="0" algn="ctr">
              <a:buNone/>
            </a:pPr>
            <a:r>
              <a:rPr lang="en-US" dirty="0">
                <a:latin typeface="Segoe UI" panose="020B0502040204020203" pitchFamily="34" charset="0"/>
                <a:cs typeface="Segoe UI" panose="020B0502040204020203" pitchFamily="34" charset="0"/>
              </a:rPr>
              <a:t>ʎ=2</a:t>
            </a:r>
            <a:endParaRPr lang="en-US" dirty="0"/>
          </a:p>
        </p:txBody>
      </p:sp>
      <p:pic>
        <p:nvPicPr>
          <p:cNvPr id="4" name="Picture 3">
            <a:extLst>
              <a:ext uri="{FF2B5EF4-FFF2-40B4-BE49-F238E27FC236}">
                <a16:creationId xmlns:a16="http://schemas.microsoft.com/office/drawing/2014/main" id="{284931D5-2707-E31A-8363-7984C633F04C}"/>
              </a:ext>
            </a:extLst>
          </p:cNvPr>
          <p:cNvPicPr>
            <a:picLocks noChangeAspect="1"/>
          </p:cNvPicPr>
          <p:nvPr/>
        </p:nvPicPr>
        <p:blipFill>
          <a:blip r:embed="rId2"/>
          <a:srcRect t="4867"/>
          <a:stretch>
            <a:fillRect/>
          </a:stretch>
        </p:blipFill>
        <p:spPr>
          <a:xfrm>
            <a:off x="1004746" y="2450000"/>
            <a:ext cx="4862658" cy="2718135"/>
          </a:xfrm>
          <a:prstGeom prst="rect">
            <a:avLst/>
          </a:prstGeom>
        </p:spPr>
      </p:pic>
      <p:pic>
        <p:nvPicPr>
          <p:cNvPr id="6" name="Picture 5">
            <a:extLst>
              <a:ext uri="{FF2B5EF4-FFF2-40B4-BE49-F238E27FC236}">
                <a16:creationId xmlns:a16="http://schemas.microsoft.com/office/drawing/2014/main" id="{95974A46-ACB0-B814-4534-50C70ED9EDB7}"/>
              </a:ext>
            </a:extLst>
          </p:cNvPr>
          <p:cNvPicPr>
            <a:picLocks noChangeAspect="1"/>
          </p:cNvPicPr>
          <p:nvPr/>
        </p:nvPicPr>
        <p:blipFill>
          <a:blip r:embed="rId3"/>
          <a:stretch>
            <a:fillRect/>
          </a:stretch>
        </p:blipFill>
        <p:spPr>
          <a:xfrm>
            <a:off x="6476994" y="2566403"/>
            <a:ext cx="4803919" cy="3034055"/>
          </a:xfrm>
          <a:prstGeom prst="rect">
            <a:avLst/>
          </a:prstGeom>
        </p:spPr>
      </p:pic>
      <p:sp>
        <p:nvSpPr>
          <p:cNvPr id="9" name="TextBox 8">
            <a:extLst>
              <a:ext uri="{FF2B5EF4-FFF2-40B4-BE49-F238E27FC236}">
                <a16:creationId xmlns:a16="http://schemas.microsoft.com/office/drawing/2014/main" id="{13853D8C-F4AD-30E7-6E30-9E25FB0330B6}"/>
              </a:ext>
            </a:extLst>
          </p:cNvPr>
          <p:cNvSpPr txBox="1"/>
          <p:nvPr/>
        </p:nvSpPr>
        <p:spPr>
          <a:xfrm>
            <a:off x="448235" y="6117331"/>
            <a:ext cx="11319695" cy="369332"/>
          </a:xfrm>
          <a:prstGeom prst="rect">
            <a:avLst/>
          </a:prstGeom>
          <a:noFill/>
        </p:spPr>
        <p:txBody>
          <a:bodyPr wrap="square" rtlCol="0">
            <a:spAutoFit/>
          </a:bodyPr>
          <a:lstStyle/>
          <a:p>
            <a:pPr algn="ctr"/>
            <a:r>
              <a:rPr lang="en-US" b="1" dirty="0"/>
              <a:t>Eigen Value</a:t>
            </a:r>
            <a:r>
              <a:rPr lang="en-US" dirty="0"/>
              <a:t>: The Eigenvalue tells us how much a given vector is changed by multiplying it with an Eigen value</a:t>
            </a:r>
          </a:p>
        </p:txBody>
      </p:sp>
      <p:graphicFrame>
        <p:nvGraphicFramePr>
          <p:cNvPr id="11" name="Object 10">
            <a:extLst>
              <a:ext uri="{FF2B5EF4-FFF2-40B4-BE49-F238E27FC236}">
                <a16:creationId xmlns:a16="http://schemas.microsoft.com/office/drawing/2014/main" id="{6775C7A1-9582-601F-5FEA-7BCCAC4119C3}"/>
              </a:ext>
            </a:extLst>
          </p:cNvPr>
          <p:cNvGraphicFramePr>
            <a:graphicFrameLocks noChangeAspect="1"/>
          </p:cNvGraphicFramePr>
          <p:nvPr>
            <p:extLst>
              <p:ext uri="{D42A27DB-BD31-4B8C-83A1-F6EECF244321}">
                <p14:modId xmlns:p14="http://schemas.microsoft.com/office/powerpoint/2010/main" val="2178870579"/>
              </p:ext>
            </p:extLst>
          </p:nvPr>
        </p:nvGraphicFramePr>
        <p:xfrm>
          <a:off x="8851900" y="4826346"/>
          <a:ext cx="1311275" cy="762000"/>
        </p:xfrm>
        <a:graphic>
          <a:graphicData uri="http://schemas.openxmlformats.org/presentationml/2006/ole">
            <mc:AlternateContent xmlns:mc="http://schemas.openxmlformats.org/markup-compatibility/2006">
              <mc:Choice xmlns:v="urn:schemas-microsoft-com:vml" Requires="v">
                <p:oleObj name="Equation" r:id="rId4" imgW="787320" imgH="457200" progId="Equation.DSMT4">
                  <p:embed/>
                </p:oleObj>
              </mc:Choice>
              <mc:Fallback>
                <p:oleObj name="Equation" r:id="rId4" imgW="787320" imgH="457200" progId="Equation.DSMT4">
                  <p:embed/>
                  <p:pic>
                    <p:nvPicPr>
                      <p:cNvPr id="0" name=""/>
                      <p:cNvPicPr/>
                      <p:nvPr/>
                    </p:nvPicPr>
                    <p:blipFill>
                      <a:blip r:embed="rId5"/>
                      <a:stretch>
                        <a:fillRect/>
                      </a:stretch>
                    </p:blipFill>
                    <p:spPr>
                      <a:xfrm>
                        <a:off x="8851900" y="4826346"/>
                        <a:ext cx="1311275" cy="762000"/>
                      </a:xfrm>
                      <a:prstGeom prst="rect">
                        <a:avLst/>
                      </a:prstGeom>
                    </p:spPr>
                  </p:pic>
                </p:oleObj>
              </mc:Fallback>
            </mc:AlternateContent>
          </a:graphicData>
        </a:graphic>
      </p:graphicFrame>
    </p:spTree>
    <p:extLst>
      <p:ext uri="{BB962C8B-B14F-4D97-AF65-F5344CB8AC3E}">
        <p14:creationId xmlns:p14="http://schemas.microsoft.com/office/powerpoint/2010/main" val="3472061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7B12A5C-B00B-6D63-164E-0C6C86EA623F}"/>
              </a:ext>
            </a:extLst>
          </p:cNvPr>
          <p:cNvSpPr>
            <a:spLocks noGrp="1"/>
          </p:cNvSpPr>
          <p:nvPr>
            <p:ph type="title"/>
          </p:nvPr>
        </p:nvSpPr>
        <p:spPr>
          <a:xfrm>
            <a:off x="318051" y="365126"/>
            <a:ext cx="11519453" cy="579092"/>
          </a:xfrm>
        </p:spPr>
        <p:txBody>
          <a:bodyPr>
            <a:normAutofit fontScale="90000"/>
          </a:bodyPr>
          <a:lstStyle/>
          <a:p>
            <a:pPr algn="ctr"/>
            <a:r>
              <a:rPr lang="en-US" dirty="0">
                <a:latin typeface="Segoe UI" panose="020B0502040204020203" pitchFamily="34" charset="0"/>
                <a:cs typeface="Segoe UI" panose="020B0502040204020203" pitchFamily="34" charset="0"/>
              </a:rPr>
              <a:t>Matrix Size vs Eigenvalues/Eigenvectors </a:t>
            </a:r>
          </a:p>
        </p:txBody>
      </p:sp>
      <p:graphicFrame>
        <p:nvGraphicFramePr>
          <p:cNvPr id="46" name="Content Placeholder 45">
            <a:extLst>
              <a:ext uri="{FF2B5EF4-FFF2-40B4-BE49-F238E27FC236}">
                <a16:creationId xmlns:a16="http://schemas.microsoft.com/office/drawing/2014/main" id="{51BB1E74-0FC2-C603-D3A4-0E418B25E982}"/>
              </a:ext>
            </a:extLst>
          </p:cNvPr>
          <p:cNvGraphicFramePr>
            <a:graphicFrameLocks noGrp="1"/>
          </p:cNvGraphicFramePr>
          <p:nvPr>
            <p:ph idx="1"/>
            <p:extLst>
              <p:ext uri="{D42A27DB-BD31-4B8C-83A1-F6EECF244321}">
                <p14:modId xmlns:p14="http://schemas.microsoft.com/office/powerpoint/2010/main" val="3077104889"/>
              </p:ext>
            </p:extLst>
          </p:nvPr>
        </p:nvGraphicFramePr>
        <p:xfrm>
          <a:off x="407992" y="2151529"/>
          <a:ext cx="11519452" cy="2994538"/>
        </p:xfrm>
        <a:graphic>
          <a:graphicData uri="http://schemas.openxmlformats.org/drawingml/2006/table">
            <a:tbl>
              <a:tblPr>
                <a:tableStyleId>{5940675A-B579-460E-94D1-54222C63F5DA}</a:tableStyleId>
              </a:tblPr>
              <a:tblGrid>
                <a:gridCol w="1725901">
                  <a:extLst>
                    <a:ext uri="{9D8B030D-6E8A-4147-A177-3AD203B41FA5}">
                      <a16:colId xmlns:a16="http://schemas.microsoft.com/office/drawing/2014/main" val="296246544"/>
                    </a:ext>
                  </a:extLst>
                </a:gridCol>
                <a:gridCol w="957665">
                  <a:extLst>
                    <a:ext uri="{9D8B030D-6E8A-4147-A177-3AD203B41FA5}">
                      <a16:colId xmlns:a16="http://schemas.microsoft.com/office/drawing/2014/main" val="952206816"/>
                    </a:ext>
                  </a:extLst>
                </a:gridCol>
                <a:gridCol w="1911041">
                  <a:extLst>
                    <a:ext uri="{9D8B030D-6E8A-4147-A177-3AD203B41FA5}">
                      <a16:colId xmlns:a16="http://schemas.microsoft.com/office/drawing/2014/main" val="1473527917"/>
                    </a:ext>
                  </a:extLst>
                </a:gridCol>
                <a:gridCol w="2531750">
                  <a:extLst>
                    <a:ext uri="{9D8B030D-6E8A-4147-A177-3AD203B41FA5}">
                      <a16:colId xmlns:a16="http://schemas.microsoft.com/office/drawing/2014/main" val="126157186"/>
                    </a:ext>
                  </a:extLst>
                </a:gridCol>
                <a:gridCol w="4393095">
                  <a:extLst>
                    <a:ext uri="{9D8B030D-6E8A-4147-A177-3AD203B41FA5}">
                      <a16:colId xmlns:a16="http://schemas.microsoft.com/office/drawing/2014/main" val="1394894295"/>
                    </a:ext>
                  </a:extLst>
                </a:gridCol>
              </a:tblGrid>
              <a:tr h="505031">
                <a:tc>
                  <a:txBody>
                    <a:bodyPr/>
                    <a:lstStyle/>
                    <a:p>
                      <a:pPr>
                        <a:buNone/>
                      </a:pPr>
                      <a:r>
                        <a:rPr lang="en-US" sz="1600" b="1" dirty="0">
                          <a:latin typeface="Segoe UI" panose="020B0502040204020203" pitchFamily="34" charset="0"/>
                          <a:cs typeface="Segoe UI" panose="020B0502040204020203" pitchFamily="34" charset="0"/>
                        </a:rPr>
                        <a:t>Order of Matrix</a:t>
                      </a:r>
                    </a:p>
                  </a:txBody>
                  <a:tcPr marL="61286" marR="61286" marT="30643" marB="30643" anchor="ctr"/>
                </a:tc>
                <a:tc>
                  <a:txBody>
                    <a:bodyPr/>
                    <a:lstStyle/>
                    <a:p>
                      <a:pPr>
                        <a:buNone/>
                      </a:pPr>
                      <a:r>
                        <a:rPr lang="en-US" sz="1600" b="1">
                          <a:latin typeface="Segoe UI" panose="020B0502040204020203" pitchFamily="34" charset="0"/>
                          <a:cs typeface="Segoe UI" panose="020B0502040204020203" pitchFamily="34" charset="0"/>
                        </a:rPr>
                        <a:t>Square?</a:t>
                      </a:r>
                    </a:p>
                  </a:txBody>
                  <a:tcPr marL="61286" marR="61286" marT="30643" marB="30643" anchor="ctr"/>
                </a:tc>
                <a:tc>
                  <a:txBody>
                    <a:bodyPr/>
                    <a:lstStyle/>
                    <a:p>
                      <a:pPr>
                        <a:buNone/>
                      </a:pPr>
                      <a:r>
                        <a:rPr lang="en-US" sz="1600" b="1" dirty="0">
                          <a:latin typeface="Segoe UI" panose="020B0502040204020203" pitchFamily="34" charset="0"/>
                          <a:cs typeface="Segoe UI" panose="020B0502040204020203" pitchFamily="34" charset="0"/>
                        </a:rPr>
                        <a:t>Eigenvalues Exist?</a:t>
                      </a:r>
                    </a:p>
                  </a:txBody>
                  <a:tcPr marL="61286" marR="61286" marT="30643" marB="30643" anchor="ctr"/>
                </a:tc>
                <a:tc>
                  <a:txBody>
                    <a:bodyPr/>
                    <a:lstStyle/>
                    <a:p>
                      <a:pPr>
                        <a:buNone/>
                      </a:pPr>
                      <a:r>
                        <a:rPr lang="en-US" sz="1600" b="1" dirty="0">
                          <a:latin typeface="Segoe UI" panose="020B0502040204020203" pitchFamily="34" charset="0"/>
                          <a:cs typeface="Segoe UI" panose="020B0502040204020203" pitchFamily="34" charset="0"/>
                        </a:rPr>
                        <a:t>Number of  Eigenvalues</a:t>
                      </a:r>
                    </a:p>
                  </a:txBody>
                  <a:tcPr marL="61286" marR="61286" marT="30643" marB="30643" anchor="ctr"/>
                </a:tc>
                <a:tc>
                  <a:txBody>
                    <a:bodyPr/>
                    <a:lstStyle/>
                    <a:p>
                      <a:pPr>
                        <a:buNone/>
                      </a:pPr>
                      <a:r>
                        <a:rPr lang="en-US" sz="1600" b="1" dirty="0">
                          <a:latin typeface="Segoe UI" panose="020B0502040204020203" pitchFamily="34" charset="0"/>
                          <a:cs typeface="Segoe UI" panose="020B0502040204020203" pitchFamily="34" charset="0"/>
                        </a:rPr>
                        <a:t>Number Linearly Independent Eigenvectors</a:t>
                      </a:r>
                    </a:p>
                  </a:txBody>
                  <a:tcPr marL="61286" marR="61286" marT="30643" marB="30643" anchor="ctr"/>
                </a:tc>
                <a:extLst>
                  <a:ext uri="{0D108BD9-81ED-4DB2-BD59-A6C34878D82A}">
                    <a16:rowId xmlns:a16="http://schemas.microsoft.com/office/drawing/2014/main" val="1719105708"/>
                  </a:ext>
                </a:extLst>
              </a:tr>
              <a:tr h="310758">
                <a:tc>
                  <a:txBody>
                    <a:bodyPr/>
                    <a:lstStyle/>
                    <a:p>
                      <a:pPr>
                        <a:buNone/>
                      </a:pPr>
                      <a:r>
                        <a:rPr lang="en-US" sz="1600">
                          <a:latin typeface="Segoe UI" panose="020B0502040204020203" pitchFamily="34" charset="0"/>
                          <a:cs typeface="Segoe UI" panose="020B0502040204020203" pitchFamily="34" charset="0"/>
                        </a:rPr>
                        <a:t>1×1</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Yes</a:t>
                      </a:r>
                    </a:p>
                  </a:txBody>
                  <a:tcPr marL="61286" marR="61286" marT="30643" marB="30643" anchor="ctr"/>
                </a:tc>
                <a:tc>
                  <a:txBody>
                    <a:bodyPr/>
                    <a:lstStyle/>
                    <a:p>
                      <a:pPr>
                        <a:buNone/>
                      </a:pPr>
                      <a:r>
                        <a:rPr lang="en-US" sz="1600" dirty="0">
                          <a:latin typeface="Segoe UI" panose="020B0502040204020203" pitchFamily="34" charset="0"/>
                          <a:cs typeface="Segoe UI" panose="020B0502040204020203" pitchFamily="34" charset="0"/>
                        </a:rPr>
                        <a:t>Yes</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1</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1</a:t>
                      </a:r>
                    </a:p>
                  </a:txBody>
                  <a:tcPr marL="61286" marR="61286" marT="30643" marB="30643" anchor="ctr"/>
                </a:tc>
                <a:extLst>
                  <a:ext uri="{0D108BD9-81ED-4DB2-BD59-A6C34878D82A}">
                    <a16:rowId xmlns:a16="http://schemas.microsoft.com/office/drawing/2014/main" val="1249913247"/>
                  </a:ext>
                </a:extLst>
              </a:tr>
              <a:tr h="429005">
                <a:tc>
                  <a:txBody>
                    <a:bodyPr/>
                    <a:lstStyle/>
                    <a:p>
                      <a:pPr>
                        <a:buNone/>
                      </a:pPr>
                      <a:r>
                        <a:rPr lang="en-US" sz="1600">
                          <a:latin typeface="Segoe UI" panose="020B0502040204020203" pitchFamily="34" charset="0"/>
                          <a:cs typeface="Segoe UI" panose="020B0502040204020203" pitchFamily="34" charset="0"/>
                        </a:rPr>
                        <a:t>2×2</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Yes</a:t>
                      </a:r>
                    </a:p>
                  </a:txBody>
                  <a:tcPr marL="61286" marR="61286" marT="30643" marB="30643" anchor="ctr"/>
                </a:tc>
                <a:tc>
                  <a:txBody>
                    <a:bodyPr/>
                    <a:lstStyle/>
                    <a:p>
                      <a:pPr>
                        <a:buNone/>
                      </a:pPr>
                      <a:r>
                        <a:rPr lang="en-US" sz="1600" dirty="0">
                          <a:latin typeface="Segoe UI" panose="020B0502040204020203" pitchFamily="34" charset="0"/>
                          <a:cs typeface="Segoe UI" panose="020B0502040204020203" pitchFamily="34" charset="0"/>
                        </a:rPr>
                        <a:t>Yes</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2</a:t>
                      </a:r>
                    </a:p>
                  </a:txBody>
                  <a:tcPr marL="61286" marR="61286" marT="30643" marB="30643" anchor="ctr"/>
                </a:tc>
                <a:tc>
                  <a:txBody>
                    <a:bodyPr/>
                    <a:lstStyle/>
                    <a:p>
                      <a:pPr>
                        <a:buNone/>
                      </a:pPr>
                      <a:r>
                        <a:rPr lang="en-US" sz="1600" dirty="0">
                          <a:latin typeface="Segoe UI" panose="020B0502040204020203" pitchFamily="34" charset="0"/>
                          <a:cs typeface="Segoe UI" panose="020B0502040204020203" pitchFamily="34" charset="0"/>
                        </a:rPr>
                        <a:t>1-2 </a:t>
                      </a:r>
                    </a:p>
                  </a:txBody>
                  <a:tcPr marL="61286" marR="61286" marT="30643" marB="30643" anchor="ctr"/>
                </a:tc>
                <a:extLst>
                  <a:ext uri="{0D108BD9-81ED-4DB2-BD59-A6C34878D82A}">
                    <a16:rowId xmlns:a16="http://schemas.microsoft.com/office/drawing/2014/main" val="385157804"/>
                  </a:ext>
                </a:extLst>
              </a:tr>
              <a:tr h="367148">
                <a:tc>
                  <a:txBody>
                    <a:bodyPr/>
                    <a:lstStyle/>
                    <a:p>
                      <a:pPr>
                        <a:buNone/>
                      </a:pPr>
                      <a:r>
                        <a:rPr lang="en-US" sz="1600">
                          <a:latin typeface="Segoe UI" panose="020B0502040204020203" pitchFamily="34" charset="0"/>
                          <a:cs typeface="Segoe UI" panose="020B0502040204020203" pitchFamily="34" charset="0"/>
                        </a:rPr>
                        <a:t>3×3</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Yes</a:t>
                      </a:r>
                    </a:p>
                  </a:txBody>
                  <a:tcPr marL="61286" marR="61286" marT="30643" marB="30643" anchor="ctr"/>
                </a:tc>
                <a:tc>
                  <a:txBody>
                    <a:bodyPr/>
                    <a:lstStyle/>
                    <a:p>
                      <a:pPr>
                        <a:buNone/>
                      </a:pPr>
                      <a:r>
                        <a:rPr lang="en-US" sz="1600" dirty="0">
                          <a:latin typeface="Segoe UI" panose="020B0502040204020203" pitchFamily="34" charset="0"/>
                          <a:cs typeface="Segoe UI" panose="020B0502040204020203" pitchFamily="34" charset="0"/>
                        </a:rPr>
                        <a:t>Yes</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3</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1–3</a:t>
                      </a:r>
                    </a:p>
                  </a:txBody>
                  <a:tcPr marL="61286" marR="61286" marT="30643" marB="30643" anchor="ctr"/>
                </a:tc>
                <a:extLst>
                  <a:ext uri="{0D108BD9-81ED-4DB2-BD59-A6C34878D82A}">
                    <a16:rowId xmlns:a16="http://schemas.microsoft.com/office/drawing/2014/main" val="1131445508"/>
                  </a:ext>
                </a:extLst>
              </a:tr>
              <a:tr h="349623">
                <a:tc>
                  <a:txBody>
                    <a:bodyPr/>
                    <a:lstStyle/>
                    <a:p>
                      <a:pPr>
                        <a:buNone/>
                      </a:pPr>
                      <a:r>
                        <a:rPr lang="en-US" sz="1600">
                          <a:latin typeface="Segoe UI" panose="020B0502040204020203" pitchFamily="34" charset="0"/>
                          <a:cs typeface="Segoe UI" panose="020B0502040204020203" pitchFamily="34" charset="0"/>
                        </a:rPr>
                        <a:t>2×3</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No</a:t>
                      </a:r>
                    </a:p>
                  </a:txBody>
                  <a:tcPr marL="61286" marR="61286" marT="30643" marB="30643" anchor="ctr"/>
                </a:tc>
                <a:tc>
                  <a:txBody>
                    <a:bodyPr/>
                    <a:lstStyle/>
                    <a:p>
                      <a:pPr>
                        <a:buNone/>
                      </a:pPr>
                      <a:r>
                        <a:rPr lang="en-US" sz="1600" dirty="0">
                          <a:latin typeface="Segoe UI" panose="020B0502040204020203" pitchFamily="34" charset="0"/>
                          <a:cs typeface="Segoe UI" panose="020B0502040204020203" pitchFamily="34" charset="0"/>
                        </a:rPr>
                        <a:t>No</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0</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0</a:t>
                      </a:r>
                    </a:p>
                  </a:txBody>
                  <a:tcPr marL="61286" marR="61286" marT="30643" marB="30643" anchor="ctr"/>
                </a:tc>
                <a:extLst>
                  <a:ext uri="{0D108BD9-81ED-4DB2-BD59-A6C34878D82A}">
                    <a16:rowId xmlns:a16="http://schemas.microsoft.com/office/drawing/2014/main" val="999833263"/>
                  </a:ext>
                </a:extLst>
              </a:tr>
              <a:tr h="396478">
                <a:tc>
                  <a:txBody>
                    <a:bodyPr/>
                    <a:lstStyle/>
                    <a:p>
                      <a:pPr>
                        <a:buNone/>
                      </a:pPr>
                      <a:r>
                        <a:rPr lang="en-US" sz="1600">
                          <a:latin typeface="Segoe UI" panose="020B0502040204020203" pitchFamily="34" charset="0"/>
                          <a:cs typeface="Segoe UI" panose="020B0502040204020203" pitchFamily="34" charset="0"/>
                        </a:rPr>
                        <a:t>3×2</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No</a:t>
                      </a:r>
                    </a:p>
                  </a:txBody>
                  <a:tcPr marL="61286" marR="61286" marT="30643" marB="30643" anchor="ctr"/>
                </a:tc>
                <a:tc>
                  <a:txBody>
                    <a:bodyPr/>
                    <a:lstStyle/>
                    <a:p>
                      <a:pPr>
                        <a:buNone/>
                      </a:pPr>
                      <a:r>
                        <a:rPr lang="en-US" sz="1600" dirty="0">
                          <a:latin typeface="Segoe UI" panose="020B0502040204020203" pitchFamily="34" charset="0"/>
                          <a:cs typeface="Segoe UI" panose="020B0502040204020203" pitchFamily="34" charset="0"/>
                        </a:rPr>
                        <a:t>No</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0</a:t>
                      </a:r>
                    </a:p>
                  </a:txBody>
                  <a:tcPr marL="61286" marR="61286" marT="30643" marB="30643" anchor="ctr"/>
                </a:tc>
                <a:tc>
                  <a:txBody>
                    <a:bodyPr/>
                    <a:lstStyle/>
                    <a:p>
                      <a:pPr>
                        <a:buNone/>
                      </a:pPr>
                      <a:r>
                        <a:rPr lang="en-US" sz="1600" dirty="0">
                          <a:latin typeface="Segoe UI" panose="020B0502040204020203" pitchFamily="34" charset="0"/>
                          <a:cs typeface="Segoe UI" panose="020B0502040204020203" pitchFamily="34" charset="0"/>
                        </a:rPr>
                        <a:t>0</a:t>
                      </a:r>
                    </a:p>
                  </a:txBody>
                  <a:tcPr marL="61286" marR="61286" marT="30643" marB="30643" anchor="ctr"/>
                </a:tc>
                <a:extLst>
                  <a:ext uri="{0D108BD9-81ED-4DB2-BD59-A6C34878D82A}">
                    <a16:rowId xmlns:a16="http://schemas.microsoft.com/office/drawing/2014/main" val="3630725615"/>
                  </a:ext>
                </a:extLst>
              </a:tr>
              <a:tr h="331369">
                <a:tc>
                  <a:txBody>
                    <a:bodyPr/>
                    <a:lstStyle/>
                    <a:p>
                      <a:pPr>
                        <a:buNone/>
                      </a:pPr>
                      <a:r>
                        <a:rPr lang="en-US" sz="1600">
                          <a:latin typeface="Segoe UI" panose="020B0502040204020203" pitchFamily="34" charset="0"/>
                          <a:cs typeface="Segoe UI" panose="020B0502040204020203" pitchFamily="34" charset="0"/>
                        </a:rPr>
                        <a:t>4×4</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Yes</a:t>
                      </a:r>
                    </a:p>
                  </a:txBody>
                  <a:tcPr marL="61286" marR="61286" marT="30643" marB="30643" anchor="ctr"/>
                </a:tc>
                <a:tc>
                  <a:txBody>
                    <a:bodyPr/>
                    <a:lstStyle/>
                    <a:p>
                      <a:pPr>
                        <a:buNone/>
                      </a:pPr>
                      <a:r>
                        <a:rPr lang="en-US" sz="1600" dirty="0">
                          <a:latin typeface="Segoe UI" panose="020B0502040204020203" pitchFamily="34" charset="0"/>
                          <a:cs typeface="Segoe UI" panose="020B0502040204020203" pitchFamily="34" charset="0"/>
                        </a:rPr>
                        <a:t>Yes</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4</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1–4</a:t>
                      </a:r>
                    </a:p>
                  </a:txBody>
                  <a:tcPr marL="61286" marR="61286" marT="30643" marB="30643" anchor="ctr"/>
                </a:tc>
                <a:extLst>
                  <a:ext uri="{0D108BD9-81ED-4DB2-BD59-A6C34878D82A}">
                    <a16:rowId xmlns:a16="http://schemas.microsoft.com/office/drawing/2014/main" val="611452252"/>
                  </a:ext>
                </a:extLst>
              </a:tr>
              <a:tr h="245146">
                <a:tc>
                  <a:txBody>
                    <a:bodyPr/>
                    <a:lstStyle/>
                    <a:p>
                      <a:pPr>
                        <a:buNone/>
                      </a:pPr>
                      <a:r>
                        <a:rPr lang="en-US" sz="1600">
                          <a:latin typeface="Segoe UI" panose="020B0502040204020203" pitchFamily="34" charset="0"/>
                          <a:cs typeface="Segoe UI" panose="020B0502040204020203" pitchFamily="34" charset="0"/>
                        </a:rPr>
                        <a:t>5×3</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No</a:t>
                      </a:r>
                    </a:p>
                  </a:txBody>
                  <a:tcPr marL="61286" marR="61286" marT="30643" marB="30643" anchor="ctr"/>
                </a:tc>
                <a:tc>
                  <a:txBody>
                    <a:bodyPr/>
                    <a:lstStyle/>
                    <a:p>
                      <a:pPr>
                        <a:buNone/>
                      </a:pPr>
                      <a:r>
                        <a:rPr lang="en-US" sz="1600" dirty="0">
                          <a:latin typeface="Segoe UI" panose="020B0502040204020203" pitchFamily="34" charset="0"/>
                          <a:cs typeface="Segoe UI" panose="020B0502040204020203" pitchFamily="34" charset="0"/>
                        </a:rPr>
                        <a:t>No</a:t>
                      </a:r>
                    </a:p>
                  </a:txBody>
                  <a:tcPr marL="61286" marR="61286" marT="30643" marB="30643" anchor="ctr"/>
                </a:tc>
                <a:tc>
                  <a:txBody>
                    <a:bodyPr/>
                    <a:lstStyle/>
                    <a:p>
                      <a:pPr>
                        <a:buNone/>
                      </a:pPr>
                      <a:r>
                        <a:rPr lang="en-US" sz="1600">
                          <a:latin typeface="Segoe UI" panose="020B0502040204020203" pitchFamily="34" charset="0"/>
                          <a:cs typeface="Segoe UI" panose="020B0502040204020203" pitchFamily="34" charset="0"/>
                        </a:rPr>
                        <a:t>0</a:t>
                      </a:r>
                    </a:p>
                  </a:txBody>
                  <a:tcPr marL="61286" marR="61286" marT="30643" marB="30643" anchor="ctr"/>
                </a:tc>
                <a:tc>
                  <a:txBody>
                    <a:bodyPr/>
                    <a:lstStyle/>
                    <a:p>
                      <a:pPr>
                        <a:buNone/>
                      </a:pPr>
                      <a:r>
                        <a:rPr lang="en-US" sz="1600" dirty="0">
                          <a:latin typeface="Segoe UI" panose="020B0502040204020203" pitchFamily="34" charset="0"/>
                          <a:cs typeface="Segoe UI" panose="020B0502040204020203" pitchFamily="34" charset="0"/>
                        </a:rPr>
                        <a:t>0</a:t>
                      </a:r>
                    </a:p>
                  </a:txBody>
                  <a:tcPr marL="61286" marR="61286" marT="30643" marB="30643" anchor="ctr"/>
                </a:tc>
                <a:extLst>
                  <a:ext uri="{0D108BD9-81ED-4DB2-BD59-A6C34878D82A}">
                    <a16:rowId xmlns:a16="http://schemas.microsoft.com/office/drawing/2014/main" val="3544399644"/>
                  </a:ext>
                </a:extLst>
              </a:tr>
            </a:tbl>
          </a:graphicData>
        </a:graphic>
      </p:graphicFrame>
    </p:spTree>
    <p:extLst>
      <p:ext uri="{BB962C8B-B14F-4D97-AF65-F5344CB8AC3E}">
        <p14:creationId xmlns:p14="http://schemas.microsoft.com/office/powerpoint/2010/main" val="40218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A2089-93CA-0EB8-A219-906B48C33BE6}"/>
              </a:ext>
            </a:extLst>
          </p:cNvPr>
          <p:cNvSpPr>
            <a:spLocks noGrp="1"/>
          </p:cNvSpPr>
          <p:nvPr>
            <p:ph type="title"/>
          </p:nvPr>
        </p:nvSpPr>
        <p:spPr>
          <a:xfrm>
            <a:off x="838200" y="129139"/>
            <a:ext cx="10515600" cy="685871"/>
          </a:xfrm>
        </p:spPr>
        <p:txBody>
          <a:bodyPr>
            <a:normAutofit fontScale="90000"/>
          </a:bodyPr>
          <a:lstStyle/>
          <a:p>
            <a:pPr algn="ctr"/>
            <a:r>
              <a:rPr lang="en-US" dirty="0">
                <a:latin typeface="Segoe UI" panose="020B0502040204020203" pitchFamily="34" charset="0"/>
                <a:cs typeface="Segoe UI" panose="020B0502040204020203" pitchFamily="34" charset="0"/>
              </a:rPr>
              <a:t>Eigenvalues and eigenvectors </a:t>
            </a:r>
            <a:endParaRPr lang="en-US" dirty="0"/>
          </a:p>
        </p:txBody>
      </p:sp>
      <p:sp>
        <p:nvSpPr>
          <p:cNvPr id="7" name="Content Placeholder 6">
            <a:extLst>
              <a:ext uri="{FF2B5EF4-FFF2-40B4-BE49-F238E27FC236}">
                <a16:creationId xmlns:a16="http://schemas.microsoft.com/office/drawing/2014/main" id="{455648BD-2C3A-65D9-2760-75AE75955B36}"/>
              </a:ext>
            </a:extLst>
          </p:cNvPr>
          <p:cNvSpPr>
            <a:spLocks noGrp="1"/>
          </p:cNvSpPr>
          <p:nvPr>
            <p:ph idx="1"/>
          </p:nvPr>
        </p:nvSpPr>
        <p:spPr>
          <a:xfrm>
            <a:off x="238539" y="969264"/>
            <a:ext cx="11767931" cy="5759596"/>
          </a:xfrm>
        </p:spPr>
        <p:txBody>
          <a:bodyPr>
            <a:normAutofit/>
          </a:bodyPr>
          <a:lstStyle/>
          <a:p>
            <a:pPr>
              <a:buFont typeface="Wingdings" panose="05000000000000000000" pitchFamily="2" charset="2"/>
              <a:buChar char="v"/>
            </a:pPr>
            <a:r>
              <a:rPr lang="en-US" dirty="0"/>
              <a:t>Find the Eigenvalues of A</a:t>
            </a:r>
          </a:p>
          <a:p>
            <a:endParaRPr lang="en-US" dirty="0"/>
          </a:p>
          <a:p>
            <a:endParaRPr lang="en-US" dirty="0"/>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The corresponding eigenvalue can be found by solving  </a:t>
            </a:r>
            <a:r>
              <a:rPr lang="en-US" sz="2200" b="1" dirty="0">
                <a:latin typeface="Segoe UI" panose="020B0502040204020203" pitchFamily="34" charset="0"/>
                <a:cs typeface="Segoe UI" panose="020B0502040204020203" pitchFamily="34" charset="0"/>
              </a:rPr>
              <a:t>(A−</a:t>
            </a:r>
            <a:r>
              <a:rPr lang="en-US" sz="2200" b="1" dirty="0" err="1">
                <a:latin typeface="Segoe UI" panose="020B0502040204020203" pitchFamily="34" charset="0"/>
                <a:cs typeface="Segoe UI" panose="020B0502040204020203" pitchFamily="34" charset="0"/>
              </a:rPr>
              <a:t>λI</a:t>
            </a:r>
            <a:r>
              <a:rPr lang="en-US" sz="2200" b="1" dirty="0">
                <a:latin typeface="Segoe UI" panose="020B0502040204020203" pitchFamily="34" charset="0"/>
                <a:cs typeface="Segoe UI" panose="020B0502040204020203" pitchFamily="34" charset="0"/>
              </a:rPr>
              <a:t>)v=0 </a:t>
            </a:r>
            <a:r>
              <a:rPr lang="en-US" sz="2200" dirty="0">
                <a:latin typeface="Segoe UI" panose="020B0502040204020203" pitchFamily="34" charset="0"/>
                <a:cs typeface="Segoe UI" panose="020B0502040204020203" pitchFamily="34" charset="0"/>
              </a:rPr>
              <a:t>at each eigenvalue </a:t>
            </a:r>
            <a:r>
              <a:rPr lang="en-US" sz="2200" b="1" dirty="0">
                <a:latin typeface="Segoe UI" panose="020B0502040204020203" pitchFamily="34" charset="0"/>
                <a:cs typeface="Segoe UI" panose="020B0502040204020203" pitchFamily="34" charset="0"/>
              </a:rPr>
              <a:t>λ</a:t>
            </a:r>
            <a:r>
              <a:rPr lang="en-US" sz="2200" dirty="0">
                <a:latin typeface="Segoe UI" panose="020B0502040204020203" pitchFamily="34" charset="0"/>
                <a:cs typeface="Segoe UI" panose="020B0502040204020203" pitchFamily="34" charset="0"/>
              </a:rPr>
              <a:t>.</a:t>
            </a:r>
          </a:p>
        </p:txBody>
      </p:sp>
      <p:graphicFrame>
        <p:nvGraphicFramePr>
          <p:cNvPr id="11" name="Object 10">
            <a:extLst>
              <a:ext uri="{FF2B5EF4-FFF2-40B4-BE49-F238E27FC236}">
                <a16:creationId xmlns:a16="http://schemas.microsoft.com/office/drawing/2014/main" id="{387ADD67-E0C8-0DA6-A0C0-3E919CF30F32}"/>
              </a:ext>
            </a:extLst>
          </p:cNvPr>
          <p:cNvGraphicFramePr>
            <a:graphicFrameLocks noChangeAspect="1"/>
          </p:cNvGraphicFramePr>
          <p:nvPr>
            <p:extLst>
              <p:ext uri="{D42A27DB-BD31-4B8C-83A1-F6EECF244321}">
                <p14:modId xmlns:p14="http://schemas.microsoft.com/office/powerpoint/2010/main" val="1712975843"/>
              </p:ext>
            </p:extLst>
          </p:nvPr>
        </p:nvGraphicFramePr>
        <p:xfrm>
          <a:off x="2438641" y="3838805"/>
          <a:ext cx="7314718" cy="2492422"/>
        </p:xfrm>
        <a:graphic>
          <a:graphicData uri="http://schemas.openxmlformats.org/presentationml/2006/ole">
            <mc:AlternateContent xmlns:mc="http://schemas.openxmlformats.org/markup-compatibility/2006">
              <mc:Choice xmlns:v="urn:schemas-microsoft-com:vml" Requires="v">
                <p:oleObj name="Equation" r:id="rId2" imgW="4178160" imgH="1422360" progId="Equation.DSMT4">
                  <p:embed/>
                </p:oleObj>
              </mc:Choice>
              <mc:Fallback>
                <p:oleObj name="Equation" r:id="rId2" imgW="4178160" imgH="1422360" progId="Equation.DSMT4">
                  <p:embed/>
                  <p:pic>
                    <p:nvPicPr>
                      <p:cNvPr id="0" name=""/>
                      <p:cNvPicPr/>
                      <p:nvPr/>
                    </p:nvPicPr>
                    <p:blipFill>
                      <a:blip r:embed="rId3"/>
                      <a:stretch>
                        <a:fillRect/>
                      </a:stretch>
                    </p:blipFill>
                    <p:spPr>
                      <a:xfrm>
                        <a:off x="2438641" y="3838805"/>
                        <a:ext cx="7314718" cy="2492422"/>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DA7EEE6B-6911-295C-C657-47A3F557B26C}"/>
              </a:ext>
            </a:extLst>
          </p:cNvPr>
          <p:cNvGraphicFramePr>
            <a:graphicFrameLocks noChangeAspect="1"/>
          </p:cNvGraphicFramePr>
          <p:nvPr>
            <p:extLst>
              <p:ext uri="{D42A27DB-BD31-4B8C-83A1-F6EECF244321}">
                <p14:modId xmlns:p14="http://schemas.microsoft.com/office/powerpoint/2010/main" val="392241743"/>
              </p:ext>
            </p:extLst>
          </p:nvPr>
        </p:nvGraphicFramePr>
        <p:xfrm>
          <a:off x="2260219" y="1769999"/>
          <a:ext cx="7232650" cy="957263"/>
        </p:xfrm>
        <a:graphic>
          <a:graphicData uri="http://schemas.openxmlformats.org/presentationml/2006/ole">
            <mc:AlternateContent xmlns:mc="http://schemas.openxmlformats.org/markup-compatibility/2006">
              <mc:Choice xmlns:v="urn:schemas-microsoft-com:vml" Requires="v">
                <p:oleObj name="Equation" r:id="rId4" imgW="7233010" imgH="957170" progId="Equation.DSMT4">
                  <p:embed/>
                </p:oleObj>
              </mc:Choice>
              <mc:Fallback>
                <p:oleObj name="Equation" r:id="rId4" imgW="7233010" imgH="957170" progId="Equation.DSMT4">
                  <p:embed/>
                  <p:pic>
                    <p:nvPicPr>
                      <p:cNvPr id="0" name=""/>
                      <p:cNvPicPr/>
                      <p:nvPr/>
                    </p:nvPicPr>
                    <p:blipFill>
                      <a:blip r:embed="rId5"/>
                      <a:stretch>
                        <a:fillRect/>
                      </a:stretch>
                    </p:blipFill>
                    <p:spPr>
                      <a:xfrm>
                        <a:off x="2260219" y="1769999"/>
                        <a:ext cx="7232650" cy="957263"/>
                      </a:xfrm>
                      <a:prstGeom prst="rect">
                        <a:avLst/>
                      </a:prstGeom>
                    </p:spPr>
                  </p:pic>
                </p:oleObj>
              </mc:Fallback>
            </mc:AlternateContent>
          </a:graphicData>
        </a:graphic>
      </p:graphicFrame>
    </p:spTree>
    <p:extLst>
      <p:ext uri="{BB962C8B-B14F-4D97-AF65-F5344CB8AC3E}">
        <p14:creationId xmlns:p14="http://schemas.microsoft.com/office/powerpoint/2010/main" val="14296574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2DDB9-C964-2284-56C0-AE30FBA45CF7}"/>
              </a:ext>
            </a:extLst>
          </p:cNvPr>
          <p:cNvSpPr>
            <a:spLocks noGrp="1"/>
          </p:cNvSpPr>
          <p:nvPr>
            <p:ph type="title"/>
          </p:nvPr>
        </p:nvSpPr>
        <p:spPr>
          <a:xfrm>
            <a:off x="838200" y="139148"/>
            <a:ext cx="10515600" cy="541889"/>
          </a:xfrm>
        </p:spPr>
        <p:txBody>
          <a:bodyPr>
            <a:normAutofit fontScale="90000"/>
          </a:bodyPr>
          <a:lstStyle/>
          <a:p>
            <a:pPr algn="ctr"/>
            <a:r>
              <a:rPr lang="en-US" dirty="0">
                <a:latin typeface="Segoe UI" panose="020B0502040204020203" pitchFamily="34" charset="0"/>
                <a:cs typeface="Segoe UI" panose="020B0502040204020203" pitchFamily="34" charset="0"/>
              </a:rPr>
              <a:t>Find the Eigen Vector</a:t>
            </a:r>
          </a:p>
        </p:txBody>
      </p:sp>
      <p:sp>
        <p:nvSpPr>
          <p:cNvPr id="3" name="Content Placeholder 2">
            <a:extLst>
              <a:ext uri="{FF2B5EF4-FFF2-40B4-BE49-F238E27FC236}">
                <a16:creationId xmlns:a16="http://schemas.microsoft.com/office/drawing/2014/main" id="{EA033F58-6E73-ACEA-6A35-3E33D6A91CBC}"/>
              </a:ext>
            </a:extLst>
          </p:cNvPr>
          <p:cNvSpPr>
            <a:spLocks noGrp="1"/>
          </p:cNvSpPr>
          <p:nvPr>
            <p:ph idx="1"/>
          </p:nvPr>
        </p:nvSpPr>
        <p:spPr>
          <a:xfrm>
            <a:off x="228600" y="815009"/>
            <a:ext cx="11708296" cy="5361954"/>
          </a:xfrm>
        </p:spPr>
        <p:txBody>
          <a:bodyPr/>
          <a:lstStyle/>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Given a square matrix                          and its eigen values ʎ</a:t>
            </a:r>
            <a:r>
              <a:rPr lang="en-US" sz="2200" baseline="-25000" dirty="0">
                <a:latin typeface="Segoe UI" panose="020B0502040204020203" pitchFamily="34" charset="0"/>
                <a:cs typeface="Segoe UI" panose="020B0502040204020203" pitchFamily="34" charset="0"/>
              </a:rPr>
              <a:t>1</a:t>
            </a:r>
            <a:r>
              <a:rPr lang="en-US" sz="2200" dirty="0">
                <a:latin typeface="Segoe UI" panose="020B0502040204020203" pitchFamily="34" charset="0"/>
                <a:cs typeface="Segoe UI" panose="020B0502040204020203" pitchFamily="34" charset="0"/>
              </a:rPr>
              <a:t>=4 and ʎ</a:t>
            </a:r>
            <a:r>
              <a:rPr lang="en-US" sz="2200" baseline="-25000" dirty="0">
                <a:latin typeface="Segoe UI" panose="020B0502040204020203" pitchFamily="34" charset="0"/>
                <a:cs typeface="Segoe UI" panose="020B0502040204020203" pitchFamily="34" charset="0"/>
              </a:rPr>
              <a:t>2</a:t>
            </a:r>
            <a:r>
              <a:rPr lang="en-US" sz="2200" dirty="0">
                <a:latin typeface="Segoe UI" panose="020B0502040204020203" pitchFamily="34" charset="0"/>
                <a:cs typeface="Segoe UI" panose="020B0502040204020203" pitchFamily="34" charset="0"/>
              </a:rPr>
              <a:t>=-3</a:t>
            </a:r>
          </a:p>
          <a:p>
            <a:endParaRPr lang="en-US" dirty="0">
              <a:latin typeface="Segoe UI" panose="020B0502040204020203" pitchFamily="34" charset="0"/>
              <a:cs typeface="Segoe UI" panose="020B0502040204020203" pitchFamily="34" charset="0"/>
            </a:endParaRPr>
          </a:p>
          <a:p>
            <a:endParaRPr lang="en-US" dirty="0">
              <a:latin typeface="Segoe UI" panose="020B0502040204020203" pitchFamily="34" charset="0"/>
              <a:cs typeface="Segoe UI" panose="020B0502040204020203" pitchFamily="34" charset="0"/>
            </a:endParaRPr>
          </a:p>
          <a:p>
            <a:pPr marL="0" indent="0">
              <a:buNone/>
            </a:pPr>
            <a:endParaRPr lang="en-US" dirty="0"/>
          </a:p>
        </p:txBody>
      </p:sp>
      <p:graphicFrame>
        <p:nvGraphicFramePr>
          <p:cNvPr id="4" name="Object 3">
            <a:extLst>
              <a:ext uri="{FF2B5EF4-FFF2-40B4-BE49-F238E27FC236}">
                <a16:creationId xmlns:a16="http://schemas.microsoft.com/office/drawing/2014/main" id="{791F302E-52F0-8BCB-E969-AE1B020E3E51}"/>
              </a:ext>
            </a:extLst>
          </p:cNvPr>
          <p:cNvGraphicFramePr>
            <a:graphicFrameLocks noChangeAspect="1"/>
          </p:cNvGraphicFramePr>
          <p:nvPr>
            <p:extLst>
              <p:ext uri="{D42A27DB-BD31-4B8C-83A1-F6EECF244321}">
                <p14:modId xmlns:p14="http://schemas.microsoft.com/office/powerpoint/2010/main" val="4081428232"/>
              </p:ext>
            </p:extLst>
          </p:nvPr>
        </p:nvGraphicFramePr>
        <p:xfrm>
          <a:off x="3295741" y="920773"/>
          <a:ext cx="1789163" cy="1004612"/>
        </p:xfrm>
        <a:graphic>
          <a:graphicData uri="http://schemas.openxmlformats.org/presentationml/2006/ole">
            <mc:AlternateContent xmlns:mc="http://schemas.openxmlformats.org/markup-compatibility/2006">
              <mc:Choice xmlns:v="urn:schemas-microsoft-com:vml" Requires="v">
                <p:oleObj name="Equation" r:id="rId2" imgW="890529" imgH="500555" progId="Equation.DSMT4">
                  <p:embed/>
                </p:oleObj>
              </mc:Choice>
              <mc:Fallback>
                <p:oleObj name="Equation" r:id="rId2" imgW="890529" imgH="500555" progId="Equation.DSMT4">
                  <p:embed/>
                  <p:pic>
                    <p:nvPicPr>
                      <p:cNvPr id="0" name=""/>
                      <p:cNvPicPr/>
                      <p:nvPr/>
                    </p:nvPicPr>
                    <p:blipFill>
                      <a:blip r:embed="rId3"/>
                      <a:stretch>
                        <a:fillRect/>
                      </a:stretch>
                    </p:blipFill>
                    <p:spPr>
                      <a:xfrm>
                        <a:off x="3295741" y="920773"/>
                        <a:ext cx="1789163" cy="1004612"/>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2E6F8C3B-5C63-F3BC-2A9D-EC1D546DD309}"/>
              </a:ext>
            </a:extLst>
          </p:cNvPr>
          <p:cNvGraphicFramePr>
            <a:graphicFrameLocks noChangeAspect="1"/>
          </p:cNvGraphicFramePr>
          <p:nvPr>
            <p:extLst>
              <p:ext uri="{D42A27DB-BD31-4B8C-83A1-F6EECF244321}">
                <p14:modId xmlns:p14="http://schemas.microsoft.com/office/powerpoint/2010/main" val="2066046792"/>
              </p:ext>
            </p:extLst>
          </p:nvPr>
        </p:nvGraphicFramePr>
        <p:xfrm>
          <a:off x="879475" y="3179763"/>
          <a:ext cx="4551363" cy="2581275"/>
        </p:xfrm>
        <a:graphic>
          <a:graphicData uri="http://schemas.openxmlformats.org/presentationml/2006/ole">
            <mc:AlternateContent xmlns:mc="http://schemas.openxmlformats.org/markup-compatibility/2006">
              <mc:Choice xmlns:v="urn:schemas-microsoft-com:vml" Requires="v">
                <p:oleObj name="Equation" r:id="rId4" imgW="2082600" imgH="1180800" progId="Equation.DSMT4">
                  <p:embed/>
                </p:oleObj>
              </mc:Choice>
              <mc:Fallback>
                <p:oleObj name="Equation" r:id="rId4" imgW="2082600" imgH="1180800" progId="Equation.DSMT4">
                  <p:embed/>
                  <p:pic>
                    <p:nvPicPr>
                      <p:cNvPr id="0" name=""/>
                      <p:cNvPicPr/>
                      <p:nvPr/>
                    </p:nvPicPr>
                    <p:blipFill>
                      <a:blip r:embed="rId5"/>
                      <a:stretch>
                        <a:fillRect/>
                      </a:stretch>
                    </p:blipFill>
                    <p:spPr>
                      <a:xfrm>
                        <a:off x="879475" y="3179763"/>
                        <a:ext cx="4551363" cy="2581275"/>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C07945F5-CE5C-96F8-6286-D10D56F5905E}"/>
              </a:ext>
            </a:extLst>
          </p:cNvPr>
          <p:cNvGraphicFramePr>
            <a:graphicFrameLocks noChangeAspect="1"/>
          </p:cNvGraphicFramePr>
          <p:nvPr>
            <p:extLst>
              <p:ext uri="{D42A27DB-BD31-4B8C-83A1-F6EECF244321}">
                <p14:modId xmlns:p14="http://schemas.microsoft.com/office/powerpoint/2010/main" val="640194080"/>
              </p:ext>
            </p:extLst>
          </p:nvPr>
        </p:nvGraphicFramePr>
        <p:xfrm>
          <a:off x="7048500" y="2990850"/>
          <a:ext cx="4276725" cy="3168650"/>
        </p:xfrm>
        <a:graphic>
          <a:graphicData uri="http://schemas.openxmlformats.org/presentationml/2006/ole">
            <mc:AlternateContent xmlns:mc="http://schemas.openxmlformats.org/markup-compatibility/2006">
              <mc:Choice xmlns:v="urn:schemas-microsoft-com:vml" Requires="v">
                <p:oleObj name="Equation" r:id="rId6" imgW="2158920" imgH="1600200" progId="Equation.DSMT4">
                  <p:embed/>
                </p:oleObj>
              </mc:Choice>
              <mc:Fallback>
                <p:oleObj name="Equation" r:id="rId6" imgW="2158920" imgH="1600200" progId="Equation.DSMT4">
                  <p:embed/>
                  <p:pic>
                    <p:nvPicPr>
                      <p:cNvPr id="0" name=""/>
                      <p:cNvPicPr/>
                      <p:nvPr/>
                    </p:nvPicPr>
                    <p:blipFill>
                      <a:blip r:embed="rId7"/>
                      <a:stretch>
                        <a:fillRect/>
                      </a:stretch>
                    </p:blipFill>
                    <p:spPr>
                      <a:xfrm>
                        <a:off x="7048500" y="2990850"/>
                        <a:ext cx="4276725" cy="3168650"/>
                      </a:xfrm>
                      <a:prstGeom prst="rect">
                        <a:avLst/>
                      </a:prstGeom>
                    </p:spPr>
                  </p:pic>
                </p:oleObj>
              </mc:Fallback>
            </mc:AlternateContent>
          </a:graphicData>
        </a:graphic>
      </p:graphicFrame>
      <p:cxnSp>
        <p:nvCxnSpPr>
          <p:cNvPr id="8" name="Straight Connector 7">
            <a:extLst>
              <a:ext uri="{FF2B5EF4-FFF2-40B4-BE49-F238E27FC236}">
                <a16:creationId xmlns:a16="http://schemas.microsoft.com/office/drawing/2014/main" id="{DBE80640-8675-B748-7AE2-720D1BEBF840}"/>
              </a:ext>
            </a:extLst>
          </p:cNvPr>
          <p:cNvCxnSpPr/>
          <p:nvPr/>
        </p:nvCxnSpPr>
        <p:spPr>
          <a:xfrm>
            <a:off x="6072806" y="2713383"/>
            <a:ext cx="0" cy="378680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3522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FBD32-1AA9-880C-5E6B-1E6E25CE4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CBD64-AD25-CA99-517F-E5B49970A978}"/>
              </a:ext>
            </a:extLst>
          </p:cNvPr>
          <p:cNvSpPr>
            <a:spLocks noGrp="1"/>
          </p:cNvSpPr>
          <p:nvPr>
            <p:ph type="title"/>
          </p:nvPr>
        </p:nvSpPr>
        <p:spPr>
          <a:xfrm>
            <a:off x="223024" y="365126"/>
            <a:ext cx="11745952" cy="683746"/>
          </a:xfrm>
        </p:spPr>
        <p:txBody>
          <a:bodyPr>
            <a:normAutofit/>
          </a:bodyPr>
          <a:lstStyle/>
          <a:p>
            <a:pPr algn="ctr"/>
            <a:r>
              <a:rPr lang="en-US" sz="3000" dirty="0">
                <a:latin typeface="Segoe UI" panose="020B0502040204020203" pitchFamily="34" charset="0"/>
                <a:cs typeface="Segoe UI" panose="020B0502040204020203" pitchFamily="34" charset="0"/>
              </a:rPr>
              <a:t>Matrix Algebra Review</a:t>
            </a:r>
          </a:p>
        </p:txBody>
      </p:sp>
      <p:sp>
        <p:nvSpPr>
          <p:cNvPr id="3" name="Content Placeholder 2">
            <a:extLst>
              <a:ext uri="{FF2B5EF4-FFF2-40B4-BE49-F238E27FC236}">
                <a16:creationId xmlns:a16="http://schemas.microsoft.com/office/drawing/2014/main" id="{A9ED90F1-492F-CAC4-D481-AAE4981FCA7B}"/>
              </a:ext>
            </a:extLst>
          </p:cNvPr>
          <p:cNvSpPr>
            <a:spLocks noGrp="1"/>
          </p:cNvSpPr>
          <p:nvPr>
            <p:ph idx="1"/>
          </p:nvPr>
        </p:nvSpPr>
        <p:spPr>
          <a:xfrm>
            <a:off x="223024" y="1223010"/>
            <a:ext cx="11864898" cy="5534628"/>
          </a:xfrm>
        </p:spPr>
        <p:txBody>
          <a:bodyPr>
            <a:normAutofit fontScale="92500" lnSpcReduction="10000"/>
          </a:bodyPr>
          <a:lstStyle/>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Length of a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Projection of a Vector on Another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Angle between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Inner Product of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Linearly Dependent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Matrices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Eigenvalues and Eigenvectors of a </a:t>
            </a:r>
            <a:r>
              <a:rPr lang="en-US" sz="2100" dirty="0">
                <a:solidFill>
                  <a:schemeClr val="bg1">
                    <a:lumMod val="65000"/>
                  </a:schemeClr>
                </a:solidFill>
                <a:latin typeface="Segoe UI" panose="020B0502040204020203" pitchFamily="34" charset="0"/>
                <a:cs typeface="Segoe UI" panose="020B0502040204020203" pitchFamily="34" charset="0"/>
              </a:rPr>
              <a:t>Matrix</a:t>
            </a:r>
          </a:p>
          <a:p>
            <a:pPr>
              <a:lnSpc>
                <a:spcPct val="150000"/>
              </a:lnSpc>
              <a:buFont typeface="Wingdings" panose="05000000000000000000" pitchFamily="2" charset="2"/>
              <a:buChar char="v"/>
            </a:pPr>
            <a:r>
              <a:rPr lang="en-US" sz="2100" dirty="0">
                <a:latin typeface="Segoe UI" panose="020B0502040204020203" pitchFamily="34" charset="0"/>
                <a:cs typeface="Segoe UI" panose="020B0502040204020203" pitchFamily="34" charset="0"/>
              </a:rPr>
              <a:t>Spectral</a:t>
            </a:r>
            <a:r>
              <a:rPr lang="en-US" sz="2000" dirty="0">
                <a:solidFill>
                  <a:schemeClr val="bg1">
                    <a:lumMod val="65000"/>
                  </a:schemeClr>
                </a:solidFill>
                <a:latin typeface="Segoe UI" panose="020B0502040204020203" pitchFamily="34" charset="0"/>
                <a:cs typeface="Segoe UI" panose="020B0502040204020203" pitchFamily="34" charset="0"/>
              </a:rPr>
              <a:t> </a:t>
            </a:r>
            <a:r>
              <a:rPr lang="en-US" sz="2100" dirty="0">
                <a:latin typeface="Segoe UI" panose="020B0502040204020203" pitchFamily="34" charset="0"/>
                <a:cs typeface="Segoe UI" panose="020B0502040204020203" pitchFamily="34" charset="0"/>
              </a:rPr>
              <a:t>Decomposition</a:t>
            </a:r>
            <a:r>
              <a:rPr lang="en-US" sz="2000" dirty="0">
                <a:solidFill>
                  <a:schemeClr val="bg1">
                    <a:lumMod val="65000"/>
                  </a:schemeClr>
                </a:solidFill>
                <a:latin typeface="Segoe UI" panose="020B0502040204020203" pitchFamily="34" charset="0"/>
                <a:cs typeface="Segoe UI" panose="020B0502040204020203" pitchFamily="34" charset="0"/>
              </a:rPr>
              <a:t> </a:t>
            </a:r>
            <a:r>
              <a:rPr lang="en-US" sz="2100" dirty="0">
                <a:latin typeface="Segoe UI" panose="020B0502040204020203" pitchFamily="34" charset="0"/>
                <a:cs typeface="Segoe UI" panose="020B0502040204020203" pitchFamily="34" charset="0"/>
              </a:rPr>
              <a:t>of</a:t>
            </a:r>
            <a:r>
              <a:rPr lang="en-US" sz="2000" dirty="0">
                <a:solidFill>
                  <a:schemeClr val="bg1">
                    <a:lumMod val="65000"/>
                  </a:schemeClr>
                </a:solidFill>
                <a:latin typeface="Segoe UI" panose="020B0502040204020203" pitchFamily="34" charset="0"/>
                <a:cs typeface="Segoe UI" panose="020B0502040204020203" pitchFamily="34" charset="0"/>
              </a:rPr>
              <a:t> </a:t>
            </a:r>
            <a:r>
              <a:rPr lang="en-US" sz="2000" dirty="0">
                <a:latin typeface="Segoe UI" panose="020B0502040204020203" pitchFamily="34" charset="0"/>
                <a:cs typeface="Segoe UI" panose="020B0502040204020203" pitchFamily="34" charset="0"/>
              </a:rPr>
              <a:t>a </a:t>
            </a:r>
            <a:r>
              <a:rPr lang="en-US" sz="2100" dirty="0">
                <a:latin typeface="Segoe UI" panose="020B0502040204020203" pitchFamily="34" charset="0"/>
                <a:cs typeface="Segoe UI" panose="020B0502040204020203" pitchFamily="34" charset="0"/>
              </a:rPr>
              <a:t>Matrix</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Positive Definite Matrix</a:t>
            </a:r>
          </a:p>
          <a:p>
            <a:pPr>
              <a:lnSpc>
                <a:spcPct val="150000"/>
              </a:lnSpc>
            </a:pPr>
            <a:endParaRPr lang="en-US" sz="1800"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endParaRPr lang="en-US" sz="2800" b="1" dirty="0"/>
          </a:p>
          <a:p>
            <a:endParaRPr lang="en-US" b="1"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1376173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87340-7625-CDA3-AF7B-F0193C6396AE}"/>
              </a:ext>
            </a:extLst>
          </p:cNvPr>
          <p:cNvSpPr>
            <a:spLocks noGrp="1"/>
          </p:cNvSpPr>
          <p:nvPr>
            <p:ph type="title"/>
          </p:nvPr>
        </p:nvSpPr>
        <p:spPr>
          <a:xfrm>
            <a:off x="838200" y="62749"/>
            <a:ext cx="10515600" cy="744072"/>
          </a:xfrm>
        </p:spPr>
        <p:txBody>
          <a:bodyPr>
            <a:normAutofit fontScale="90000"/>
          </a:bodyPr>
          <a:lstStyle/>
          <a:p>
            <a:pPr algn="ct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Spectral</a:t>
            </a:r>
            <a:r>
              <a:rPr lang="en-US" sz="4000" dirty="0">
                <a:solidFill>
                  <a:schemeClr val="bg1">
                    <a:lumMod val="65000"/>
                  </a:schemeClr>
                </a:solidFill>
                <a:latin typeface="Segoe UI" panose="020B0502040204020203" pitchFamily="34" charset="0"/>
                <a:cs typeface="Segoe UI" panose="020B0502040204020203" pitchFamily="34" charset="0"/>
              </a:rPr>
              <a:t> </a:t>
            </a:r>
            <a:r>
              <a:rPr lang="en-US" dirty="0">
                <a:latin typeface="Segoe UI" panose="020B0502040204020203" pitchFamily="34" charset="0"/>
                <a:cs typeface="Segoe UI" panose="020B0502040204020203" pitchFamily="34" charset="0"/>
              </a:rPr>
              <a:t>Decomposition</a:t>
            </a:r>
            <a:r>
              <a:rPr lang="en-US" sz="4000" dirty="0">
                <a:solidFill>
                  <a:schemeClr val="bg1">
                    <a:lumMod val="65000"/>
                  </a:schemeClr>
                </a:solidFill>
                <a:latin typeface="Segoe UI" panose="020B0502040204020203" pitchFamily="34" charset="0"/>
                <a:cs typeface="Segoe UI" panose="020B0502040204020203" pitchFamily="34" charset="0"/>
              </a:rPr>
              <a:t> </a:t>
            </a:r>
            <a:r>
              <a:rPr lang="en-US" dirty="0">
                <a:latin typeface="Segoe UI" panose="020B0502040204020203" pitchFamily="34" charset="0"/>
                <a:cs typeface="Segoe UI" panose="020B0502040204020203" pitchFamily="34" charset="0"/>
              </a:rPr>
              <a:t>of</a:t>
            </a:r>
            <a:r>
              <a:rPr lang="en-US" sz="4000" dirty="0">
                <a:solidFill>
                  <a:schemeClr val="bg1">
                    <a:lumMod val="65000"/>
                  </a:schemeClr>
                </a:solidFill>
                <a:latin typeface="Segoe UI" panose="020B0502040204020203" pitchFamily="34" charset="0"/>
                <a:cs typeface="Segoe UI" panose="020B0502040204020203" pitchFamily="34" charset="0"/>
              </a:rPr>
              <a:t> </a:t>
            </a:r>
            <a:r>
              <a:rPr lang="en-US" sz="4000" dirty="0">
                <a:latin typeface="Segoe UI" panose="020B0502040204020203" pitchFamily="34" charset="0"/>
                <a:cs typeface="Segoe UI" panose="020B0502040204020203" pitchFamily="34" charset="0"/>
              </a:rPr>
              <a:t>a </a:t>
            </a:r>
            <a:r>
              <a:rPr lang="en-US" dirty="0">
                <a:latin typeface="Segoe UI" panose="020B0502040204020203" pitchFamily="34" charset="0"/>
                <a:cs typeface="Segoe UI" panose="020B0502040204020203" pitchFamily="34" charset="0"/>
              </a:rPr>
              <a:t>Matrix</a:t>
            </a:r>
            <a:br>
              <a:rPr lang="en-US" dirty="0">
                <a:latin typeface="Segoe UI" panose="020B0502040204020203" pitchFamily="34" charset="0"/>
                <a:cs typeface="Segoe UI" panose="020B0502040204020203" pitchFamily="34" charset="0"/>
              </a:rPr>
            </a:br>
            <a:endParaRPr lang="en-US" dirty="0"/>
          </a:p>
        </p:txBody>
      </p:sp>
      <p:sp>
        <p:nvSpPr>
          <p:cNvPr id="3" name="Content Placeholder 2">
            <a:extLst>
              <a:ext uri="{FF2B5EF4-FFF2-40B4-BE49-F238E27FC236}">
                <a16:creationId xmlns:a16="http://schemas.microsoft.com/office/drawing/2014/main" id="{47D832EE-ED2A-770E-A385-5ACAFF1610A6}"/>
              </a:ext>
            </a:extLst>
          </p:cNvPr>
          <p:cNvSpPr>
            <a:spLocks noGrp="1"/>
          </p:cNvSpPr>
          <p:nvPr>
            <p:ph idx="1"/>
          </p:nvPr>
        </p:nvSpPr>
        <p:spPr>
          <a:xfrm>
            <a:off x="215153" y="806824"/>
            <a:ext cx="11770659" cy="5943599"/>
          </a:xfrm>
        </p:spPr>
        <p:txBody>
          <a:bodyPr>
            <a:normAutofit/>
          </a:bodyPr>
          <a:lstStyle/>
          <a:p>
            <a:pPr algn="just">
              <a:buFont typeface="Wingdings" panose="05000000000000000000" pitchFamily="2" charset="2"/>
              <a:buChar char="v"/>
            </a:pPr>
            <a:r>
              <a:rPr lang="en-US" sz="2000" dirty="0">
                <a:latin typeface="Segoe UI" panose="020B0502040204020203" pitchFamily="34" charset="0"/>
                <a:cs typeface="Segoe UI" panose="020B0502040204020203" pitchFamily="34" charset="0"/>
              </a:rPr>
              <a:t>A </a:t>
            </a:r>
            <a:r>
              <a:rPr lang="en-US" sz="2000" b="1" dirty="0">
                <a:latin typeface="Segoe UI" panose="020B0502040204020203" pitchFamily="34" charset="0"/>
                <a:cs typeface="Segoe UI" panose="020B0502040204020203" pitchFamily="34" charset="0"/>
              </a:rPr>
              <a:t>symmetric</a:t>
            </a:r>
            <a:r>
              <a:rPr lang="en-US" sz="2000" dirty="0">
                <a:latin typeface="Segoe UI" panose="020B0502040204020203" pitchFamily="34" charset="0"/>
                <a:cs typeface="Segoe UI" panose="020B0502040204020203" pitchFamily="34" charset="0"/>
              </a:rPr>
              <a:t> matrix  can be decomposed based on its eigenvalues and eigenvectors in a form known as spectral decomposition.</a:t>
            </a:r>
          </a:p>
          <a:p>
            <a:pPr algn="just">
              <a:buFont typeface="Wingdings" panose="05000000000000000000" pitchFamily="2" charset="2"/>
              <a:buChar char="v"/>
            </a:pPr>
            <a:endParaRPr lang="en-US" sz="20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000" dirty="0">
                <a:latin typeface="Segoe UI" panose="020B0502040204020203" pitchFamily="34" charset="0"/>
                <a:cs typeface="Segoe UI" panose="020B0502040204020203" pitchFamily="34" charset="0"/>
              </a:rPr>
              <a:t>Let </a:t>
            </a:r>
            <a:r>
              <a:rPr lang="en-US" sz="2000" b="1" dirty="0">
                <a:latin typeface="Segoe UI" panose="020B0502040204020203" pitchFamily="34" charset="0"/>
                <a:cs typeface="Segoe UI" panose="020B0502040204020203" pitchFamily="34" charset="0"/>
              </a:rPr>
              <a:t>A</a:t>
            </a:r>
            <a:r>
              <a:rPr lang="en-US" sz="2000" dirty="0">
                <a:latin typeface="Segoe UI" panose="020B0502040204020203" pitchFamily="34" charset="0"/>
                <a:cs typeface="Segoe UI" panose="020B0502040204020203" pitchFamily="34" charset="0"/>
              </a:rPr>
              <a:t> be a symmetric matrix with real components: </a:t>
            </a:r>
            <a:r>
              <a:rPr lang="en-US" sz="2000" b="1" dirty="0">
                <a:latin typeface="Segoe UI" panose="020B0502040204020203" pitchFamily="34" charset="0"/>
                <a:cs typeface="Segoe UI" panose="020B0502040204020203" pitchFamily="34" charset="0"/>
              </a:rPr>
              <a:t>A</a:t>
            </a:r>
            <a:r>
              <a:rPr lang="en-US" sz="2000" dirty="0">
                <a:latin typeface="Segoe UI" panose="020B0502040204020203" pitchFamily="34" charset="0"/>
                <a:cs typeface="Segoe UI" panose="020B0502040204020203" pitchFamily="34" charset="0"/>
              </a:rPr>
              <a:t>=(</a:t>
            </a:r>
            <a:r>
              <a:rPr lang="en-US" sz="2000" i="1" dirty="0" err="1">
                <a:latin typeface="Segoe UI" panose="020B0502040204020203" pitchFamily="34" charset="0"/>
                <a:cs typeface="Segoe UI" panose="020B0502040204020203" pitchFamily="34" charset="0"/>
              </a:rPr>
              <a:t>a</a:t>
            </a:r>
            <a:r>
              <a:rPr lang="en-US" sz="2000" i="1" baseline="-25000" dirty="0" err="1">
                <a:latin typeface="Segoe UI" panose="020B0502040204020203" pitchFamily="34" charset="0"/>
                <a:cs typeface="Segoe UI" panose="020B0502040204020203" pitchFamily="34" charset="0"/>
              </a:rPr>
              <a:t>ij</a:t>
            </a:r>
            <a:r>
              <a:rPr lang="en-US" sz="2000" dirty="0">
                <a:latin typeface="Segoe UI" panose="020B0502040204020203" pitchFamily="34" charset="0"/>
                <a:cs typeface="Segoe UI" panose="020B0502040204020203" pitchFamily="34" charset="0"/>
              </a:rPr>
              <a:t>​)∈</a:t>
            </a:r>
            <a:r>
              <a:rPr lang="en-US" sz="2000" dirty="0" err="1">
                <a:latin typeface="Segoe UI" panose="020B0502040204020203" pitchFamily="34" charset="0"/>
                <a:cs typeface="Segoe UI" panose="020B0502040204020203" pitchFamily="34" charset="0"/>
              </a:rPr>
              <a:t>R</a:t>
            </a:r>
            <a:r>
              <a:rPr lang="en-US" sz="2000" i="1" baseline="30000" dirty="0" err="1">
                <a:latin typeface="Segoe UI" panose="020B0502040204020203" pitchFamily="34" charset="0"/>
                <a:cs typeface="Segoe UI" panose="020B0502040204020203" pitchFamily="34" charset="0"/>
              </a:rPr>
              <a:t>n</a:t>
            </a:r>
            <a:r>
              <a:rPr lang="en-US" sz="2000" baseline="30000" dirty="0" err="1">
                <a:latin typeface="Segoe UI" panose="020B0502040204020203" pitchFamily="34" charset="0"/>
                <a:cs typeface="Segoe UI" panose="020B0502040204020203" pitchFamily="34" charset="0"/>
              </a:rPr>
              <a:t>×</a:t>
            </a:r>
            <a:r>
              <a:rPr lang="en-US" sz="2000" i="1" baseline="30000" dirty="0" err="1">
                <a:latin typeface="Segoe UI" panose="020B0502040204020203" pitchFamily="34" charset="0"/>
                <a:cs typeface="Segoe UI" panose="020B0502040204020203" pitchFamily="34" charset="0"/>
              </a:rPr>
              <a:t>n</a:t>
            </a:r>
            <a:r>
              <a:rPr lang="en-US" sz="2000" dirty="0">
                <a:latin typeface="Segoe UI" panose="020B0502040204020203" pitchFamily="34" charset="0"/>
                <a:cs typeface="Segoe UI" panose="020B0502040204020203" pitchFamily="34" charset="0"/>
              </a:rPr>
              <a:t>. Since it is a symmetric matrix, </a:t>
            </a:r>
            <a:r>
              <a:rPr lang="en-US" sz="2000" b="1" dirty="0">
                <a:latin typeface="Segoe UI" panose="020B0502040204020203" pitchFamily="34" charset="0"/>
                <a:cs typeface="Segoe UI" panose="020B0502040204020203" pitchFamily="34" charset="0"/>
              </a:rPr>
              <a:t>A</a:t>
            </a:r>
            <a:r>
              <a:rPr lang="en-US" sz="2000" dirty="0">
                <a:latin typeface="Segoe UI" panose="020B0502040204020203" pitchFamily="34" charset="0"/>
                <a:cs typeface="Segoe UI" panose="020B0502040204020203" pitchFamily="34" charset="0"/>
              </a:rPr>
              <a:t>=</a:t>
            </a:r>
            <a:r>
              <a:rPr lang="en-US" sz="2000" b="1" dirty="0">
                <a:latin typeface="Segoe UI" panose="020B0502040204020203" pitchFamily="34" charset="0"/>
                <a:cs typeface="Segoe UI" panose="020B0502040204020203" pitchFamily="34" charset="0"/>
              </a:rPr>
              <a:t>A</a:t>
            </a:r>
            <a:r>
              <a:rPr lang="en-US" sz="2000" b="1" baseline="30000" dirty="0">
                <a:latin typeface="Segoe UI" panose="020B0502040204020203" pitchFamily="34" charset="0"/>
                <a:cs typeface="Segoe UI" panose="020B0502040204020203" pitchFamily="34" charset="0"/>
              </a:rPr>
              <a:t>T</a:t>
            </a:r>
            <a:r>
              <a:rPr lang="en-US" sz="2000" dirty="0">
                <a:latin typeface="Segoe UI" panose="020B0502040204020203" pitchFamily="34" charset="0"/>
                <a:cs typeface="Segoe UI" panose="020B0502040204020203" pitchFamily="34" charset="0"/>
              </a:rPr>
              <a:t>. </a:t>
            </a:r>
          </a:p>
          <a:p>
            <a:pPr algn="just">
              <a:buFont typeface="Wingdings" panose="05000000000000000000" pitchFamily="2" charset="2"/>
              <a:buChar char="v"/>
            </a:pPr>
            <a:endParaRPr lang="en-US" sz="20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000" dirty="0">
                <a:latin typeface="Segoe UI" panose="020B0502040204020203" pitchFamily="34" charset="0"/>
                <a:cs typeface="Segoe UI" panose="020B0502040204020203" pitchFamily="34" charset="0"/>
              </a:rPr>
              <a:t>The eigenvalues of this matrix are all real numbers. Let the eigenvalues be </a:t>
            </a:r>
            <a:r>
              <a:rPr lang="en-US" sz="2000" i="1" dirty="0">
                <a:latin typeface="Segoe UI" panose="020B0502040204020203" pitchFamily="34" charset="0"/>
                <a:cs typeface="Segoe UI" panose="020B0502040204020203" pitchFamily="34" charset="0"/>
              </a:rPr>
              <a:t>ʎ</a:t>
            </a:r>
            <a:r>
              <a:rPr lang="en-US" sz="2000" baseline="-25000" dirty="0">
                <a:latin typeface="Segoe UI" panose="020B0502040204020203" pitchFamily="34" charset="0"/>
                <a:cs typeface="Segoe UI" panose="020B0502040204020203" pitchFamily="34" charset="0"/>
              </a:rPr>
              <a:t>1</a:t>
            </a:r>
            <a:r>
              <a:rPr lang="en-US" sz="2000" dirty="0">
                <a:latin typeface="Segoe UI" panose="020B0502040204020203" pitchFamily="34" charset="0"/>
                <a:cs typeface="Segoe UI" panose="020B0502040204020203" pitchFamily="34" charset="0"/>
              </a:rPr>
              <a:t>​, </a:t>
            </a:r>
            <a:r>
              <a:rPr lang="en-US" sz="2000" i="1" dirty="0">
                <a:latin typeface="Segoe UI" panose="020B0502040204020203" pitchFamily="34" charset="0"/>
                <a:cs typeface="Segoe UI" panose="020B0502040204020203" pitchFamily="34" charset="0"/>
              </a:rPr>
              <a:t> ʎ</a:t>
            </a:r>
            <a:r>
              <a:rPr lang="en-US" sz="2000" i="1" baseline="-25000" dirty="0">
                <a:latin typeface="Segoe UI" panose="020B0502040204020203" pitchFamily="34" charset="0"/>
                <a:cs typeface="Segoe UI" panose="020B0502040204020203" pitchFamily="34" charset="0"/>
              </a:rPr>
              <a:t>2</a:t>
            </a:r>
            <a:r>
              <a:rPr lang="en-US" sz="2000" dirty="0">
                <a:latin typeface="Segoe UI" panose="020B0502040204020203" pitchFamily="34" charset="0"/>
                <a:cs typeface="Segoe UI" panose="020B0502040204020203" pitchFamily="34" charset="0"/>
              </a:rPr>
              <a:t> ​, ⋯ , </a:t>
            </a:r>
            <a:r>
              <a:rPr lang="en-US" sz="2000" i="1" dirty="0">
                <a:latin typeface="Segoe UI" panose="020B0502040204020203" pitchFamily="34" charset="0"/>
                <a:cs typeface="Segoe UI" panose="020B0502040204020203" pitchFamily="34" charset="0"/>
              </a:rPr>
              <a:t> </a:t>
            </a:r>
            <a:r>
              <a:rPr lang="en-US" sz="2000" i="1" dirty="0" err="1">
                <a:latin typeface="Segoe UI" panose="020B0502040204020203" pitchFamily="34" charset="0"/>
                <a:cs typeface="Segoe UI" panose="020B0502040204020203" pitchFamily="34" charset="0"/>
              </a:rPr>
              <a:t>ʎ</a:t>
            </a:r>
            <a:r>
              <a:rPr lang="en-US" sz="2000" i="1" baseline="-25000" dirty="0" err="1">
                <a:latin typeface="Segoe UI" panose="020B0502040204020203" pitchFamily="34" charset="0"/>
                <a:cs typeface="Segoe UI" panose="020B0502040204020203" pitchFamily="34" charset="0"/>
              </a:rPr>
              <a:t>n</a:t>
            </a:r>
            <a:r>
              <a:rPr lang="en-US" sz="2000" dirty="0">
                <a:latin typeface="Segoe UI" panose="020B0502040204020203" pitchFamily="34" charset="0"/>
                <a:cs typeface="Segoe UI" panose="020B0502040204020203" pitchFamily="34" charset="0"/>
              </a:rPr>
              <a:t>​, and they can be defined in ascending order as follows:</a:t>
            </a:r>
          </a:p>
          <a:p>
            <a:pPr algn="just">
              <a:buFont typeface="Wingdings" panose="05000000000000000000" pitchFamily="2" charset="2"/>
              <a:buChar char="v"/>
            </a:pPr>
            <a:endParaRPr lang="en-US" sz="20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0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200" dirty="0"/>
              <a:t>Let the eigenvectors corresponding to each eigenvalue be </a:t>
            </a:r>
            <a:r>
              <a:rPr lang="en-US" sz="2200" b="1" dirty="0"/>
              <a:t>v</a:t>
            </a:r>
            <a:r>
              <a:rPr lang="en-US" sz="2200" b="1" baseline="-25000" dirty="0"/>
              <a:t>1</a:t>
            </a:r>
            <a:r>
              <a:rPr lang="en-US" sz="2200" dirty="0"/>
              <a:t>​,</a:t>
            </a:r>
            <a:r>
              <a:rPr lang="en-US" sz="2200" b="1" dirty="0"/>
              <a:t>v</a:t>
            </a:r>
            <a:r>
              <a:rPr lang="en-US" sz="2200" b="1" baseline="-25000" dirty="0"/>
              <a:t>2</a:t>
            </a:r>
            <a:r>
              <a:rPr lang="en-US" sz="2200" baseline="-25000" dirty="0"/>
              <a:t>​</a:t>
            </a:r>
            <a:r>
              <a:rPr lang="en-US" sz="2200" dirty="0"/>
              <a:t>,⋯,</a:t>
            </a:r>
            <a:r>
              <a:rPr lang="en-US" sz="2200" b="1" dirty="0" err="1"/>
              <a:t>v</a:t>
            </a:r>
            <a:r>
              <a:rPr lang="en-US" sz="2200" b="1" baseline="-25000" dirty="0" err="1"/>
              <a:t>n</a:t>
            </a:r>
            <a:r>
              <a:rPr lang="en-US" sz="2200" dirty="0"/>
              <a:t>​, then:</a:t>
            </a:r>
          </a:p>
          <a:p>
            <a:pPr algn="just">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endParaRPr lang="en-US" sz="2200" dirty="0"/>
          </a:p>
          <a:p>
            <a:pPr algn="just">
              <a:buFont typeface="Wingdings" panose="05000000000000000000" pitchFamily="2" charset="2"/>
              <a:buChar char="v"/>
            </a:pPr>
            <a:r>
              <a:rPr lang="en-US" sz="2200" dirty="0"/>
              <a:t>The eigenvectors of a symmetric matrix in the case of real numbers form an orthonormal basis in the vector space.</a:t>
            </a:r>
            <a:endParaRPr lang="en-US" sz="2200" dirty="0">
              <a:latin typeface="Segoe UI" panose="020B0502040204020203" pitchFamily="34" charset="0"/>
              <a:cs typeface="Segoe UI" panose="020B0502040204020203" pitchFamily="34" charset="0"/>
            </a:endParaRPr>
          </a:p>
        </p:txBody>
      </p:sp>
      <p:graphicFrame>
        <p:nvGraphicFramePr>
          <p:cNvPr id="4" name="Object 3">
            <a:extLst>
              <a:ext uri="{FF2B5EF4-FFF2-40B4-BE49-F238E27FC236}">
                <a16:creationId xmlns:a16="http://schemas.microsoft.com/office/drawing/2014/main" id="{43DA30AB-B255-C0FC-E2F6-FD42C85FFB09}"/>
              </a:ext>
            </a:extLst>
          </p:cNvPr>
          <p:cNvGraphicFramePr>
            <a:graphicFrameLocks noChangeAspect="1"/>
          </p:cNvGraphicFramePr>
          <p:nvPr>
            <p:extLst>
              <p:ext uri="{D42A27DB-BD31-4B8C-83A1-F6EECF244321}">
                <p14:modId xmlns:p14="http://schemas.microsoft.com/office/powerpoint/2010/main" val="860801982"/>
              </p:ext>
            </p:extLst>
          </p:nvPr>
        </p:nvGraphicFramePr>
        <p:xfrm>
          <a:off x="4588624" y="3461139"/>
          <a:ext cx="2240522" cy="610581"/>
        </p:xfrm>
        <a:graphic>
          <a:graphicData uri="http://schemas.openxmlformats.org/presentationml/2006/ole">
            <mc:AlternateContent xmlns:mc="http://schemas.openxmlformats.org/markup-compatibility/2006">
              <mc:Choice xmlns:v="urn:schemas-microsoft-com:vml" Requires="v">
                <p:oleObj name="Equation" r:id="rId3" imgW="838080" imgH="228600" progId="Equation.DSMT4">
                  <p:embed/>
                </p:oleObj>
              </mc:Choice>
              <mc:Fallback>
                <p:oleObj name="Equation" r:id="rId3" imgW="838080" imgH="228600" progId="Equation.DSMT4">
                  <p:embed/>
                  <p:pic>
                    <p:nvPicPr>
                      <p:cNvPr id="0" name=""/>
                      <p:cNvPicPr/>
                      <p:nvPr/>
                    </p:nvPicPr>
                    <p:blipFill>
                      <a:blip r:embed="rId4"/>
                      <a:stretch>
                        <a:fillRect/>
                      </a:stretch>
                    </p:blipFill>
                    <p:spPr>
                      <a:xfrm>
                        <a:off x="4588624" y="3461139"/>
                        <a:ext cx="2240522" cy="610581"/>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ACB0C40B-EC9F-A926-25E7-B78EE5786E86}"/>
              </a:ext>
            </a:extLst>
          </p:cNvPr>
          <p:cNvGraphicFramePr>
            <a:graphicFrameLocks noChangeAspect="1"/>
          </p:cNvGraphicFramePr>
          <p:nvPr>
            <p:extLst>
              <p:ext uri="{D42A27DB-BD31-4B8C-83A1-F6EECF244321}">
                <p14:modId xmlns:p14="http://schemas.microsoft.com/office/powerpoint/2010/main" val="2017253653"/>
              </p:ext>
            </p:extLst>
          </p:nvPr>
        </p:nvGraphicFramePr>
        <p:xfrm>
          <a:off x="4075113" y="4654270"/>
          <a:ext cx="3279775" cy="544512"/>
        </p:xfrm>
        <a:graphic>
          <a:graphicData uri="http://schemas.openxmlformats.org/presentationml/2006/ole">
            <mc:AlternateContent xmlns:mc="http://schemas.openxmlformats.org/markup-compatibility/2006">
              <mc:Choice xmlns:v="urn:schemas-microsoft-com:vml" Requires="v">
                <p:oleObj name="Equation" r:id="rId5" imgW="1371600" imgH="228600" progId="Equation.DSMT4">
                  <p:embed/>
                </p:oleObj>
              </mc:Choice>
              <mc:Fallback>
                <p:oleObj name="Equation" r:id="rId5" imgW="1371600" imgH="228600" progId="Equation.DSMT4">
                  <p:embed/>
                  <p:pic>
                    <p:nvPicPr>
                      <p:cNvPr id="0" name=""/>
                      <p:cNvPicPr/>
                      <p:nvPr/>
                    </p:nvPicPr>
                    <p:blipFill>
                      <a:blip r:embed="rId6"/>
                      <a:stretch>
                        <a:fillRect/>
                      </a:stretch>
                    </p:blipFill>
                    <p:spPr>
                      <a:xfrm>
                        <a:off x="4075113" y="4654270"/>
                        <a:ext cx="3279775" cy="544512"/>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C236B33-5083-D108-217F-C28FD2B3CB2B}"/>
                  </a:ext>
                </a:extLst>
              </p:cNvPr>
              <p:cNvSpPr txBox="1"/>
              <p:nvPr/>
            </p:nvSpPr>
            <p:spPr>
              <a:xfrm>
                <a:off x="2994212" y="6012256"/>
                <a:ext cx="7360024" cy="856325"/>
              </a:xfrm>
              <a:prstGeom prst="rect">
                <a:avLst/>
              </a:prstGeom>
              <a:noFill/>
            </p:spPr>
            <p:txBody>
              <a:bodyPr wrap="square">
                <a:spAutoFit/>
              </a:bodyPr>
              <a:lstStyle/>
              <a:p>
                <a:pPr/>
                <a14:m>
                  <m:oMath xmlns:m="http://schemas.openxmlformats.org/officeDocument/2006/math">
                    <m:sSubSup>
                      <m:sSubSupPr>
                        <m:ctrlPr>
                          <a:rPr lang="en-US" sz="2200" i="1" smtClean="0">
                            <a:latin typeface="Cambria Math" panose="02040503050406030204" pitchFamily="18" charset="0"/>
                          </a:rPr>
                        </m:ctrlPr>
                      </m:sSubSupPr>
                      <m:e>
                        <m:r>
                          <a:rPr lang="en-US" sz="2200" b="0" i="1" smtClean="0">
                            <a:latin typeface="Cambria Math" panose="02040503050406030204" pitchFamily="18" charset="0"/>
                          </a:rPr>
                          <m:t>𝑣</m:t>
                        </m:r>
                      </m:e>
                      <m:sub>
                        <m:r>
                          <a:rPr lang="en-US" sz="2200" b="0" i="1">
                            <a:latin typeface="Cambria Math" panose="02040503050406030204" pitchFamily="18" charset="0"/>
                          </a:rPr>
                          <m:t>𝑖</m:t>
                        </m:r>
                      </m:sub>
                      <m:sup>
                        <m:r>
                          <a:rPr lang="en-US" sz="2200" b="0" i="1">
                            <a:latin typeface="Cambria Math" panose="02040503050406030204" pitchFamily="18" charset="0"/>
                          </a:rPr>
                          <m:t>𝑇</m:t>
                        </m:r>
                      </m:sup>
                    </m:sSubSup>
                    <m:sSub>
                      <m:sSubPr>
                        <m:ctrlPr>
                          <a:rPr lang="en-US" sz="2200" i="1">
                            <a:latin typeface="Cambria Math" panose="02040503050406030204" pitchFamily="18" charset="0"/>
                          </a:rPr>
                        </m:ctrlPr>
                      </m:sSubPr>
                      <m:e>
                        <m:r>
                          <a:rPr lang="en-US" sz="2200" b="0" i="1" smtClean="0">
                            <a:latin typeface="Cambria Math" panose="02040503050406030204" pitchFamily="18" charset="0"/>
                          </a:rPr>
                          <m:t>𝑣</m:t>
                        </m:r>
                      </m:e>
                      <m:sub>
                        <m:r>
                          <a:rPr lang="en-US" sz="2200" b="0" i="1">
                            <a:latin typeface="Cambria Math" panose="02040503050406030204" pitchFamily="18" charset="0"/>
                          </a:rPr>
                          <m:t>𝑗</m:t>
                        </m:r>
                      </m:sub>
                    </m:sSub>
                    <m:r>
                      <a:rPr lang="en-US" sz="2200" b="0" i="0">
                        <a:latin typeface="Cambria Math" panose="02040503050406030204" pitchFamily="18" charset="0"/>
                      </a:rPr>
                      <m:t>=</m:t>
                    </m:r>
                    <m:sSub>
                      <m:sSubPr>
                        <m:ctrlPr>
                          <a:rPr lang="en-US" sz="2200" i="1">
                            <a:latin typeface="Cambria Math" panose="02040503050406030204" pitchFamily="18" charset="0"/>
                          </a:rPr>
                        </m:ctrlPr>
                      </m:sSubPr>
                      <m:e>
                        <m:r>
                          <a:rPr lang="en-US" sz="2200" b="0" i="1">
                            <a:latin typeface="Cambria Math" panose="02040503050406030204" pitchFamily="18" charset="0"/>
                          </a:rPr>
                          <m:t>𝛿</m:t>
                        </m:r>
                      </m:e>
                      <m:sub>
                        <m:r>
                          <a:rPr lang="en-US" sz="2200" b="0" i="1">
                            <a:latin typeface="Cambria Math" panose="02040503050406030204" pitchFamily="18" charset="0"/>
                          </a:rPr>
                          <m:t>𝑖𝑗</m:t>
                        </m:r>
                      </m:sub>
                    </m:sSub>
                  </m:oMath>
                </a14:m>
                <a:r>
                  <a:rPr lang="en-US" sz="2200" dirty="0">
                    <a:latin typeface="Segoe UI" panose="020B0502040204020203" pitchFamily="34" charset="0"/>
                    <a:cs typeface="Segoe UI" panose="020B0502040204020203" pitchFamily="34" charset="0"/>
                  </a:rPr>
                  <a:t> where </a:t>
                </a:r>
                <a14:m>
                  <m:oMath xmlns:m="http://schemas.openxmlformats.org/officeDocument/2006/math">
                    <m:sSub>
                      <m:sSubPr>
                        <m:ctrlPr>
                          <a:rPr lang="en-US" sz="2200" i="1">
                            <a:latin typeface="Cambria Math" panose="02040503050406030204" pitchFamily="18" charset="0"/>
                          </a:rPr>
                        </m:ctrlPr>
                      </m:sSubPr>
                      <m:e>
                        <m:r>
                          <a:rPr lang="en-US" sz="2200" b="0" i="1">
                            <a:latin typeface="Cambria Math" panose="02040503050406030204" pitchFamily="18" charset="0"/>
                          </a:rPr>
                          <m:t>𝛿</m:t>
                        </m:r>
                      </m:e>
                      <m:sub>
                        <m:r>
                          <a:rPr lang="en-US" sz="2200" b="0" i="1">
                            <a:latin typeface="Cambria Math" panose="02040503050406030204" pitchFamily="18" charset="0"/>
                          </a:rPr>
                          <m:t>𝑖𝑗</m:t>
                        </m:r>
                      </m:sub>
                    </m:sSub>
                  </m:oMath>
                </a14:m>
                <a:r>
                  <a:rPr lang="en-US" sz="2200" dirty="0">
                    <a:latin typeface="Segoe UI" panose="020B0502040204020203" pitchFamily="34" charset="0"/>
                    <a:cs typeface="Segoe UI" panose="020B0502040204020203" pitchFamily="34" charset="0"/>
                  </a:rPr>
                  <a:t> =0 for </a:t>
                </a:r>
                <a:r>
                  <a:rPr lang="en-US" sz="2200" dirty="0" err="1">
                    <a:latin typeface="Segoe UI" panose="020B0502040204020203" pitchFamily="34" charset="0"/>
                    <a:cs typeface="Segoe UI" panose="020B0502040204020203" pitchFamily="34" charset="0"/>
                  </a:rPr>
                  <a:t>i≠j</a:t>
                </a:r>
                <a:endParaRPr lang="en-US" sz="2200" dirty="0">
                  <a:latin typeface="Segoe UI" panose="020B0502040204020203" pitchFamily="34" charset="0"/>
                  <a:cs typeface="Segoe UI" panose="020B0502040204020203" pitchFamily="34" charset="0"/>
                </a:endParaRPr>
              </a:p>
              <a:p>
                <a:pPr/>
                <a:r>
                  <a:rPr lang="en-US" sz="2200" b="1" dirty="0">
                    <a:latin typeface="Segoe UI" panose="020B0502040204020203" pitchFamily="34" charset="0"/>
                    <a:cs typeface="Segoe UI" panose="020B0502040204020203" pitchFamily="34" charset="0"/>
                  </a:rPr>
                  <a:t>Note: </a:t>
                </a:r>
                <a:r>
                  <a:rPr lang="en-US" sz="2400" dirty="0"/>
                  <a:t>Normalized: all vectors have unit length.</a:t>
                </a:r>
                <a:endParaRPr lang="en-US" sz="2200" dirty="0">
                  <a:latin typeface="Segoe UI" panose="020B0502040204020203" pitchFamily="34" charset="0"/>
                  <a:cs typeface="Segoe UI" panose="020B0502040204020203" pitchFamily="34" charset="0"/>
                </a:endParaRPr>
              </a:p>
            </p:txBody>
          </p:sp>
        </mc:Choice>
        <mc:Fallback>
          <p:sp>
            <p:nvSpPr>
              <p:cNvPr id="7" name="TextBox 6">
                <a:extLst>
                  <a:ext uri="{FF2B5EF4-FFF2-40B4-BE49-F238E27FC236}">
                    <a16:creationId xmlns:a16="http://schemas.microsoft.com/office/drawing/2014/main" id="{5C236B33-5083-D108-217F-C28FD2B3CB2B}"/>
                  </a:ext>
                </a:extLst>
              </p:cNvPr>
              <p:cNvSpPr txBox="1">
                <a:spLocks noRot="1" noChangeAspect="1" noMove="1" noResize="1" noEditPoints="1" noAdjustHandles="1" noChangeArrowheads="1" noChangeShapeType="1" noTextEdit="1"/>
              </p:cNvSpPr>
              <p:nvPr/>
            </p:nvSpPr>
            <p:spPr>
              <a:xfrm>
                <a:off x="2994212" y="6012256"/>
                <a:ext cx="7360024" cy="856325"/>
              </a:xfrm>
              <a:prstGeom prst="rect">
                <a:avLst/>
              </a:prstGeom>
              <a:blipFill>
                <a:blip r:embed="rId7"/>
                <a:stretch>
                  <a:fillRect l="-1076" t="-2128" b="-14184"/>
                </a:stretch>
              </a:blipFill>
            </p:spPr>
            <p:txBody>
              <a:bodyPr/>
              <a:lstStyle/>
              <a:p>
                <a:r>
                  <a:rPr lang="en-US">
                    <a:noFill/>
                  </a:rPr>
                  <a:t> </a:t>
                </a:r>
              </a:p>
            </p:txBody>
          </p:sp>
        </mc:Fallback>
      </mc:AlternateContent>
    </p:spTree>
    <p:extLst>
      <p:ext uri="{BB962C8B-B14F-4D97-AF65-F5344CB8AC3E}">
        <p14:creationId xmlns:p14="http://schemas.microsoft.com/office/powerpoint/2010/main" val="34036695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E6DBB-5BB8-1DA7-B924-13C04E924529}"/>
              </a:ext>
            </a:extLst>
          </p:cNvPr>
          <p:cNvSpPr>
            <a:spLocks noGrp="1"/>
          </p:cNvSpPr>
          <p:nvPr>
            <p:ph type="title"/>
          </p:nvPr>
        </p:nvSpPr>
        <p:spPr>
          <a:xfrm>
            <a:off x="838200" y="170329"/>
            <a:ext cx="10515600" cy="770965"/>
          </a:xfrm>
        </p:spPr>
        <p:txBody>
          <a:bodyPr>
            <a:normAutofit/>
          </a:bodyPr>
          <a:lstStyle/>
          <a:p>
            <a:pPr algn="ctr"/>
            <a:r>
              <a:rPr lang="en-US" dirty="0">
                <a:latin typeface="Segoe UI" panose="020B0502040204020203" pitchFamily="34" charset="0"/>
                <a:cs typeface="Segoe UI" panose="020B0502040204020203" pitchFamily="34" charset="0"/>
              </a:rPr>
              <a:t>Spectral</a:t>
            </a:r>
            <a:r>
              <a:rPr lang="en-US" sz="4000" dirty="0">
                <a:solidFill>
                  <a:schemeClr val="bg1">
                    <a:lumMod val="65000"/>
                  </a:schemeClr>
                </a:solidFill>
                <a:latin typeface="Segoe UI" panose="020B0502040204020203" pitchFamily="34" charset="0"/>
                <a:cs typeface="Segoe UI" panose="020B0502040204020203" pitchFamily="34" charset="0"/>
              </a:rPr>
              <a:t> </a:t>
            </a:r>
            <a:r>
              <a:rPr lang="en-US" dirty="0">
                <a:latin typeface="Segoe UI" panose="020B0502040204020203" pitchFamily="34" charset="0"/>
                <a:cs typeface="Segoe UI" panose="020B0502040204020203" pitchFamily="34" charset="0"/>
              </a:rPr>
              <a:t>Decomposition</a:t>
            </a:r>
            <a:r>
              <a:rPr lang="en-US" sz="4000" dirty="0">
                <a:solidFill>
                  <a:schemeClr val="bg1">
                    <a:lumMod val="65000"/>
                  </a:schemeClr>
                </a:solidFill>
                <a:latin typeface="Segoe UI" panose="020B0502040204020203" pitchFamily="34" charset="0"/>
                <a:cs typeface="Segoe UI" panose="020B0502040204020203" pitchFamily="34" charset="0"/>
              </a:rPr>
              <a:t> </a:t>
            </a:r>
            <a:r>
              <a:rPr lang="en-US" dirty="0">
                <a:latin typeface="Segoe UI" panose="020B0502040204020203" pitchFamily="34" charset="0"/>
                <a:cs typeface="Segoe UI" panose="020B0502040204020203" pitchFamily="34" charset="0"/>
              </a:rPr>
              <a:t>of</a:t>
            </a:r>
            <a:r>
              <a:rPr lang="en-US" sz="4000" dirty="0">
                <a:solidFill>
                  <a:schemeClr val="bg1">
                    <a:lumMod val="65000"/>
                  </a:schemeClr>
                </a:solidFill>
                <a:latin typeface="Segoe UI" panose="020B0502040204020203" pitchFamily="34" charset="0"/>
                <a:cs typeface="Segoe UI" panose="020B0502040204020203" pitchFamily="34" charset="0"/>
              </a:rPr>
              <a:t> </a:t>
            </a:r>
            <a:r>
              <a:rPr lang="en-US" sz="4000" dirty="0">
                <a:latin typeface="Segoe UI" panose="020B0502040204020203" pitchFamily="34" charset="0"/>
                <a:cs typeface="Segoe UI" panose="020B0502040204020203" pitchFamily="34" charset="0"/>
              </a:rPr>
              <a:t>a </a:t>
            </a:r>
            <a:r>
              <a:rPr lang="en-US" dirty="0">
                <a:latin typeface="Segoe UI" panose="020B0502040204020203" pitchFamily="34" charset="0"/>
                <a:cs typeface="Segoe UI" panose="020B0502040204020203" pitchFamily="34" charset="0"/>
              </a:rPr>
              <a:t>Matrix</a:t>
            </a:r>
            <a:endParaRPr lang="en-US" dirty="0"/>
          </a:p>
        </p:txBody>
      </p:sp>
      <p:sp>
        <p:nvSpPr>
          <p:cNvPr id="3" name="Content Placeholder 2">
            <a:extLst>
              <a:ext uri="{FF2B5EF4-FFF2-40B4-BE49-F238E27FC236}">
                <a16:creationId xmlns:a16="http://schemas.microsoft.com/office/drawing/2014/main" id="{94E05F0F-67B0-78C3-3D38-A73AE3B9250F}"/>
              </a:ext>
            </a:extLst>
          </p:cNvPr>
          <p:cNvSpPr>
            <a:spLocks noGrp="1"/>
          </p:cNvSpPr>
          <p:nvPr>
            <p:ph idx="1"/>
          </p:nvPr>
        </p:nvSpPr>
        <p:spPr>
          <a:xfrm>
            <a:off x="286871" y="1138518"/>
            <a:ext cx="11663082" cy="5038445"/>
          </a:xfrm>
        </p:spPr>
        <p:txBody>
          <a:bodyPr/>
          <a:lstStyle/>
          <a:p>
            <a:pPr>
              <a:buFont typeface="Wingdings" panose="05000000000000000000" pitchFamily="2" charset="2"/>
              <a:buChar char="v"/>
            </a:pPr>
            <a:r>
              <a:rPr lang="en-US" sz="2200" dirty="0"/>
              <a:t>Therefore</a:t>
            </a:r>
          </a:p>
          <a:p>
            <a:endParaRPr lang="en-US" dirty="0"/>
          </a:p>
          <a:p>
            <a:endParaRPr lang="en-US" dirty="0"/>
          </a:p>
          <a:p>
            <a:endParaRPr lang="en-US" dirty="0"/>
          </a:p>
          <a:p>
            <a:endParaRPr lang="en-US" dirty="0"/>
          </a:p>
          <a:p>
            <a:pPr>
              <a:buFont typeface="Wingdings" panose="05000000000000000000" pitchFamily="2" charset="2"/>
              <a:buChar char="v"/>
            </a:pPr>
            <a:r>
              <a:rPr lang="en-US" sz="2200" dirty="0"/>
              <a:t>If we define V=(v</a:t>
            </a:r>
            <a:r>
              <a:rPr lang="en-US" sz="2200" baseline="-25000" dirty="0"/>
              <a:t>1</a:t>
            </a:r>
            <a:r>
              <a:rPr lang="en-US" sz="2200" dirty="0"/>
              <a:t>,v</a:t>
            </a:r>
            <a:r>
              <a:rPr lang="en-US" sz="2200" baseline="-25000" dirty="0"/>
              <a:t>2</a:t>
            </a:r>
            <a:r>
              <a:rPr lang="en-US" sz="2200" dirty="0"/>
              <a:t>,…</a:t>
            </a:r>
            <a:r>
              <a:rPr lang="en-US" sz="2200" dirty="0" err="1"/>
              <a:t>V</a:t>
            </a:r>
            <a:r>
              <a:rPr lang="en-US" sz="2200" baseline="-25000" dirty="0" err="1"/>
              <a:t>n</a:t>
            </a:r>
            <a:r>
              <a:rPr lang="en-US" sz="2200" dirty="0"/>
              <a:t>) then hen </a:t>
            </a:r>
            <a:r>
              <a:rPr lang="en-US" sz="2200" b="1" dirty="0"/>
              <a:t>V</a:t>
            </a:r>
            <a:r>
              <a:rPr lang="en-US" sz="2200" i="1" baseline="30000" dirty="0"/>
              <a:t>T</a:t>
            </a:r>
            <a:r>
              <a:rPr lang="en-US" sz="2200" b="1" dirty="0"/>
              <a:t>V</a:t>
            </a:r>
            <a:r>
              <a:rPr lang="en-US" sz="2200" dirty="0"/>
              <a:t>=</a:t>
            </a:r>
            <a:r>
              <a:rPr lang="en-US" sz="2200" b="1" dirty="0"/>
              <a:t>I</a:t>
            </a:r>
            <a:r>
              <a:rPr lang="en-US" sz="2200" dirty="0"/>
              <a:t>, and </a:t>
            </a:r>
            <a:r>
              <a:rPr lang="en-US" sz="2200" b="1" dirty="0"/>
              <a:t>V</a:t>
            </a:r>
            <a:r>
              <a:rPr lang="en-US" sz="2200" i="1" baseline="30000" dirty="0"/>
              <a:t>T</a:t>
            </a:r>
            <a:r>
              <a:rPr lang="en-US" sz="2200" dirty="0"/>
              <a:t>=</a:t>
            </a:r>
            <a:r>
              <a:rPr lang="en-US" sz="2200" b="1" dirty="0"/>
              <a:t>V</a:t>
            </a:r>
            <a:r>
              <a:rPr lang="en-US" sz="2200" baseline="30000" dirty="0"/>
              <a:t>−1</a:t>
            </a:r>
            <a:r>
              <a:rPr lang="en-US" sz="2200" dirty="0"/>
              <a:t>, thus </a:t>
            </a:r>
            <a:r>
              <a:rPr lang="en-US" sz="2200" b="1" dirty="0"/>
              <a:t>VV</a:t>
            </a:r>
            <a:r>
              <a:rPr lang="en-US" sz="2200" i="1" baseline="30000" dirty="0"/>
              <a:t>T</a:t>
            </a:r>
            <a:r>
              <a:rPr lang="en-US" sz="2200" dirty="0"/>
              <a:t>=</a:t>
            </a:r>
            <a:r>
              <a:rPr lang="en-US" sz="2200" b="1" dirty="0"/>
              <a:t>I</a:t>
            </a:r>
            <a:r>
              <a:rPr lang="en-US" sz="2200" dirty="0"/>
              <a:t> also holds.</a:t>
            </a:r>
          </a:p>
          <a:p>
            <a:endParaRPr lang="en-US" dirty="0"/>
          </a:p>
          <a:p>
            <a:endParaRPr lang="en-US" dirty="0"/>
          </a:p>
        </p:txBody>
      </p:sp>
      <p:graphicFrame>
        <p:nvGraphicFramePr>
          <p:cNvPr id="4" name="Object 3">
            <a:extLst>
              <a:ext uri="{FF2B5EF4-FFF2-40B4-BE49-F238E27FC236}">
                <a16:creationId xmlns:a16="http://schemas.microsoft.com/office/drawing/2014/main" id="{A2D1C316-D252-CEE6-3CB0-B785681743D9}"/>
              </a:ext>
            </a:extLst>
          </p:cNvPr>
          <p:cNvGraphicFramePr>
            <a:graphicFrameLocks noChangeAspect="1"/>
          </p:cNvGraphicFramePr>
          <p:nvPr>
            <p:extLst>
              <p:ext uri="{D42A27DB-BD31-4B8C-83A1-F6EECF244321}">
                <p14:modId xmlns:p14="http://schemas.microsoft.com/office/powerpoint/2010/main" val="1816559111"/>
              </p:ext>
            </p:extLst>
          </p:nvPr>
        </p:nvGraphicFramePr>
        <p:xfrm>
          <a:off x="4227989" y="1146684"/>
          <a:ext cx="4467459" cy="2282316"/>
        </p:xfrm>
        <a:graphic>
          <a:graphicData uri="http://schemas.openxmlformats.org/presentationml/2006/ole">
            <mc:AlternateContent xmlns:mc="http://schemas.openxmlformats.org/markup-compatibility/2006">
              <mc:Choice xmlns:v="urn:schemas-microsoft-com:vml" Requires="v">
                <p:oleObj name="Equation" r:id="rId2" imgW="2992367" imgH="1529255" progId="Equation.DSMT4">
                  <p:embed/>
                </p:oleObj>
              </mc:Choice>
              <mc:Fallback>
                <p:oleObj name="Equation" r:id="rId2" imgW="2992367" imgH="1529255" progId="Equation.DSMT4">
                  <p:embed/>
                  <p:pic>
                    <p:nvPicPr>
                      <p:cNvPr id="0" name=""/>
                      <p:cNvPicPr/>
                      <p:nvPr/>
                    </p:nvPicPr>
                    <p:blipFill>
                      <a:blip r:embed="rId3"/>
                      <a:stretch>
                        <a:fillRect/>
                      </a:stretch>
                    </p:blipFill>
                    <p:spPr>
                      <a:xfrm>
                        <a:off x="4227989" y="1146684"/>
                        <a:ext cx="4467459" cy="2282316"/>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5FB7E1E7-B3AC-BE21-E253-6B3AEC9225B6}"/>
              </a:ext>
            </a:extLst>
          </p:cNvPr>
          <p:cNvGraphicFramePr>
            <a:graphicFrameLocks noChangeAspect="1"/>
          </p:cNvGraphicFramePr>
          <p:nvPr>
            <p:extLst>
              <p:ext uri="{D42A27DB-BD31-4B8C-83A1-F6EECF244321}">
                <p14:modId xmlns:p14="http://schemas.microsoft.com/office/powerpoint/2010/main" val="2116163740"/>
              </p:ext>
            </p:extLst>
          </p:nvPr>
        </p:nvGraphicFramePr>
        <p:xfrm>
          <a:off x="3989294" y="4243617"/>
          <a:ext cx="4706154" cy="2282316"/>
        </p:xfrm>
        <a:graphic>
          <a:graphicData uri="http://schemas.openxmlformats.org/presentationml/2006/ole">
            <mc:AlternateContent xmlns:mc="http://schemas.openxmlformats.org/markup-compatibility/2006">
              <mc:Choice xmlns:v="urn:schemas-microsoft-com:vml" Requires="v">
                <p:oleObj name="Equation" r:id="rId4" imgW="3326562" imgH="1612812" progId="Equation.DSMT4">
                  <p:embed/>
                </p:oleObj>
              </mc:Choice>
              <mc:Fallback>
                <p:oleObj name="Equation" r:id="rId4" imgW="3326562" imgH="1612812" progId="Equation.DSMT4">
                  <p:embed/>
                  <p:pic>
                    <p:nvPicPr>
                      <p:cNvPr id="0" name=""/>
                      <p:cNvPicPr/>
                      <p:nvPr/>
                    </p:nvPicPr>
                    <p:blipFill>
                      <a:blip r:embed="rId5"/>
                      <a:stretch>
                        <a:fillRect/>
                      </a:stretch>
                    </p:blipFill>
                    <p:spPr>
                      <a:xfrm>
                        <a:off x="3989294" y="4243617"/>
                        <a:ext cx="4706154" cy="2282316"/>
                      </a:xfrm>
                      <a:prstGeom prst="rect">
                        <a:avLst/>
                      </a:prstGeom>
                    </p:spPr>
                  </p:pic>
                </p:oleObj>
              </mc:Fallback>
            </mc:AlternateContent>
          </a:graphicData>
        </a:graphic>
      </p:graphicFrame>
    </p:spTree>
    <p:extLst>
      <p:ext uri="{BB962C8B-B14F-4D97-AF65-F5344CB8AC3E}">
        <p14:creationId xmlns:p14="http://schemas.microsoft.com/office/powerpoint/2010/main" val="2326542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5F2F-3CE2-DC65-9B89-704BC30290A4}"/>
              </a:ext>
            </a:extLst>
          </p:cNvPr>
          <p:cNvSpPr>
            <a:spLocks noGrp="1"/>
          </p:cNvSpPr>
          <p:nvPr>
            <p:ph type="title"/>
          </p:nvPr>
        </p:nvSpPr>
        <p:spPr>
          <a:xfrm>
            <a:off x="838200" y="206189"/>
            <a:ext cx="10515600" cy="708212"/>
          </a:xfrm>
        </p:spPr>
        <p:txBody>
          <a:bodyPr>
            <a:normAutofit/>
          </a:bodyPr>
          <a:lstStyle/>
          <a:p>
            <a:pPr algn="ctr"/>
            <a:r>
              <a:rPr lang="en-US" dirty="0">
                <a:latin typeface="Segoe UI" panose="020B0502040204020203" pitchFamily="34" charset="0"/>
                <a:cs typeface="Segoe UI" panose="020B0502040204020203" pitchFamily="34" charset="0"/>
              </a:rPr>
              <a:t>Spectral</a:t>
            </a:r>
            <a:r>
              <a:rPr lang="en-US" sz="4000" dirty="0">
                <a:solidFill>
                  <a:schemeClr val="bg1">
                    <a:lumMod val="65000"/>
                  </a:schemeClr>
                </a:solidFill>
                <a:latin typeface="Segoe UI" panose="020B0502040204020203" pitchFamily="34" charset="0"/>
                <a:cs typeface="Segoe UI" panose="020B0502040204020203" pitchFamily="34" charset="0"/>
              </a:rPr>
              <a:t> </a:t>
            </a:r>
            <a:r>
              <a:rPr lang="en-US" dirty="0">
                <a:latin typeface="Segoe UI" panose="020B0502040204020203" pitchFamily="34" charset="0"/>
                <a:cs typeface="Segoe UI" panose="020B0502040204020203" pitchFamily="34" charset="0"/>
              </a:rPr>
              <a:t>Decomposition</a:t>
            </a:r>
            <a:r>
              <a:rPr lang="en-US" sz="4000" dirty="0">
                <a:solidFill>
                  <a:schemeClr val="bg1">
                    <a:lumMod val="65000"/>
                  </a:schemeClr>
                </a:solidFill>
                <a:latin typeface="Segoe UI" panose="020B0502040204020203" pitchFamily="34" charset="0"/>
                <a:cs typeface="Segoe UI" panose="020B0502040204020203" pitchFamily="34" charset="0"/>
              </a:rPr>
              <a:t> </a:t>
            </a:r>
            <a:r>
              <a:rPr lang="en-US" dirty="0">
                <a:latin typeface="Segoe UI" panose="020B0502040204020203" pitchFamily="34" charset="0"/>
                <a:cs typeface="Segoe UI" panose="020B0502040204020203" pitchFamily="34" charset="0"/>
              </a:rPr>
              <a:t>of</a:t>
            </a:r>
            <a:r>
              <a:rPr lang="en-US" sz="4000" dirty="0">
                <a:solidFill>
                  <a:schemeClr val="bg1">
                    <a:lumMod val="65000"/>
                  </a:schemeClr>
                </a:solidFill>
                <a:latin typeface="Segoe UI" panose="020B0502040204020203" pitchFamily="34" charset="0"/>
                <a:cs typeface="Segoe UI" panose="020B0502040204020203" pitchFamily="34" charset="0"/>
              </a:rPr>
              <a:t> </a:t>
            </a:r>
            <a:r>
              <a:rPr lang="en-US" sz="4000" dirty="0">
                <a:latin typeface="Segoe UI" panose="020B0502040204020203" pitchFamily="34" charset="0"/>
                <a:cs typeface="Segoe UI" panose="020B0502040204020203" pitchFamily="34" charset="0"/>
              </a:rPr>
              <a:t>a </a:t>
            </a:r>
            <a:r>
              <a:rPr lang="en-US" dirty="0">
                <a:latin typeface="Segoe UI" panose="020B0502040204020203" pitchFamily="34" charset="0"/>
                <a:cs typeface="Segoe UI" panose="020B0502040204020203" pitchFamily="34" charset="0"/>
              </a:rPr>
              <a:t>Matrix</a:t>
            </a:r>
            <a:endParaRPr lang="en-US" dirty="0"/>
          </a:p>
        </p:txBody>
      </p:sp>
      <p:sp>
        <p:nvSpPr>
          <p:cNvPr id="3" name="Content Placeholder 2">
            <a:extLst>
              <a:ext uri="{FF2B5EF4-FFF2-40B4-BE49-F238E27FC236}">
                <a16:creationId xmlns:a16="http://schemas.microsoft.com/office/drawing/2014/main" id="{EC680059-8A88-37E8-2FE4-AF318CE8ACE3}"/>
              </a:ext>
            </a:extLst>
          </p:cNvPr>
          <p:cNvSpPr>
            <a:spLocks noGrp="1"/>
          </p:cNvSpPr>
          <p:nvPr>
            <p:ph idx="1"/>
          </p:nvPr>
        </p:nvSpPr>
        <p:spPr>
          <a:xfrm>
            <a:off x="277905" y="1210234"/>
            <a:ext cx="11698941" cy="5369859"/>
          </a:xfrm>
        </p:spPr>
        <p:txBody>
          <a:bodyPr/>
          <a:lstStyle/>
          <a:p>
            <a:endParaRPr lang="en-US" dirty="0"/>
          </a:p>
          <a:p>
            <a:pPr>
              <a:buFont typeface="Wingdings" panose="05000000000000000000" pitchFamily="2" charset="2"/>
              <a:buChar char="v"/>
            </a:pPr>
            <a:r>
              <a:rPr lang="en-US" dirty="0"/>
              <a:t>By focusing on each eigenvalue and calculating, it can be decomposed into a sum as follows:</a:t>
            </a:r>
          </a:p>
          <a:p>
            <a:endParaRPr lang="en-US" dirty="0"/>
          </a:p>
          <a:p>
            <a:endParaRPr lang="en-US" dirty="0"/>
          </a:p>
          <a:p>
            <a:endParaRPr lang="en-US" dirty="0"/>
          </a:p>
          <a:p>
            <a:pPr>
              <a:buFont typeface="Wingdings" panose="05000000000000000000" pitchFamily="2" charset="2"/>
              <a:buChar char="v"/>
            </a:pPr>
            <a:r>
              <a:rPr lang="en-US" dirty="0"/>
              <a:t>This is one of the matrix decomposition methods known as spectral decomposition.</a:t>
            </a:r>
          </a:p>
        </p:txBody>
      </p:sp>
      <p:graphicFrame>
        <p:nvGraphicFramePr>
          <p:cNvPr id="4" name="Object 3">
            <a:extLst>
              <a:ext uri="{FF2B5EF4-FFF2-40B4-BE49-F238E27FC236}">
                <a16:creationId xmlns:a16="http://schemas.microsoft.com/office/drawing/2014/main" id="{C4AE9D5A-D867-08B4-29DD-4D39B2BB187E}"/>
              </a:ext>
            </a:extLst>
          </p:cNvPr>
          <p:cNvGraphicFramePr>
            <a:graphicFrameLocks noChangeAspect="1"/>
          </p:cNvGraphicFramePr>
          <p:nvPr>
            <p:extLst>
              <p:ext uri="{D42A27DB-BD31-4B8C-83A1-F6EECF244321}">
                <p14:modId xmlns:p14="http://schemas.microsoft.com/office/powerpoint/2010/main" val="3015916887"/>
              </p:ext>
            </p:extLst>
          </p:nvPr>
        </p:nvGraphicFramePr>
        <p:xfrm>
          <a:off x="3107858" y="3034364"/>
          <a:ext cx="6455991" cy="860799"/>
        </p:xfrm>
        <a:graphic>
          <a:graphicData uri="http://schemas.openxmlformats.org/presentationml/2006/ole">
            <mc:AlternateContent xmlns:mc="http://schemas.openxmlformats.org/markup-compatibility/2006">
              <mc:Choice xmlns:v="urn:schemas-microsoft-com:vml" Requires="v">
                <p:oleObj name="Equation" r:id="rId3" imgW="1976367" imgH="264072" progId="Equation.DSMT4">
                  <p:embed/>
                </p:oleObj>
              </mc:Choice>
              <mc:Fallback>
                <p:oleObj name="Equation" r:id="rId3" imgW="1976367" imgH="264072" progId="Equation.DSMT4">
                  <p:embed/>
                  <p:pic>
                    <p:nvPicPr>
                      <p:cNvPr id="0" name=""/>
                      <p:cNvPicPr/>
                      <p:nvPr/>
                    </p:nvPicPr>
                    <p:blipFill>
                      <a:blip r:embed="rId4"/>
                      <a:stretch>
                        <a:fillRect/>
                      </a:stretch>
                    </p:blipFill>
                    <p:spPr>
                      <a:xfrm>
                        <a:off x="3107858" y="3034364"/>
                        <a:ext cx="6455991" cy="860799"/>
                      </a:xfrm>
                      <a:prstGeom prst="rect">
                        <a:avLst/>
                      </a:prstGeom>
                    </p:spPr>
                  </p:pic>
                </p:oleObj>
              </mc:Fallback>
            </mc:AlternateContent>
          </a:graphicData>
        </a:graphic>
      </p:graphicFrame>
    </p:spTree>
    <p:extLst>
      <p:ext uri="{BB962C8B-B14F-4D97-AF65-F5344CB8AC3E}">
        <p14:creationId xmlns:p14="http://schemas.microsoft.com/office/powerpoint/2010/main" val="15714610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2EA13-78B6-EAF6-00F6-C5A0488518F1}"/>
              </a:ext>
            </a:extLst>
          </p:cNvPr>
          <p:cNvSpPr>
            <a:spLocks noGrp="1"/>
          </p:cNvSpPr>
          <p:nvPr>
            <p:ph type="title"/>
          </p:nvPr>
        </p:nvSpPr>
        <p:spPr>
          <a:xfrm>
            <a:off x="838200" y="365125"/>
            <a:ext cx="10515600" cy="522381"/>
          </a:xfrm>
        </p:spPr>
        <p:txBody>
          <a:bodyPr>
            <a:normAutofit fontScale="90000"/>
          </a:bodyPr>
          <a:lstStyle/>
          <a:p>
            <a:pPr algn="ctr"/>
            <a:br>
              <a:rPr lang="en-US" sz="3200" dirty="0">
                <a:latin typeface="Segoe UI" panose="020B0502040204020203" pitchFamily="34" charset="0"/>
                <a:cs typeface="Segoe UI" panose="020B0502040204020203" pitchFamily="34" charset="0"/>
              </a:rPr>
            </a:br>
            <a:r>
              <a:rPr lang="en-US" sz="3200" dirty="0">
                <a:latin typeface="Segoe UI" panose="020B0502040204020203" pitchFamily="34" charset="0"/>
                <a:cs typeface="Segoe UI" panose="020B0502040204020203" pitchFamily="34" charset="0"/>
              </a:rPr>
              <a:t>Implementation of Spectral Decomposition in Python</a:t>
            </a:r>
            <a:br>
              <a:rPr lang="en-US" sz="3200" dirty="0">
                <a:latin typeface="Segoe UI" panose="020B0502040204020203" pitchFamily="34" charset="0"/>
                <a:cs typeface="Segoe UI" panose="020B0502040204020203" pitchFamily="34" charset="0"/>
              </a:rPr>
            </a:br>
            <a:endParaRPr lang="en-US" sz="3200"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9CB08709-0BAE-8B3B-C2E8-E6F62B6B7005}"/>
              </a:ext>
            </a:extLst>
          </p:cNvPr>
          <p:cNvSpPr>
            <a:spLocks noGrp="1"/>
          </p:cNvSpPr>
          <p:nvPr>
            <p:ph idx="1"/>
          </p:nvPr>
        </p:nvSpPr>
        <p:spPr>
          <a:xfrm>
            <a:off x="233082" y="1111624"/>
            <a:ext cx="11707906" cy="5531223"/>
          </a:xfrm>
        </p:spPr>
        <p:txBody>
          <a:bodyPr/>
          <a:lstStyle/>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200" dirty="0">
                <a:latin typeface="Segoe UI" panose="020B0502040204020203" pitchFamily="34" charset="0"/>
                <a:cs typeface="Segoe UI" panose="020B0502040204020203" pitchFamily="34" charset="0"/>
              </a:rPr>
              <a:t>As an example, let’s implement spectral decomposition for the following matrix </a:t>
            </a:r>
            <a:r>
              <a:rPr lang="en-US" sz="2200" b="1" dirty="0">
                <a:latin typeface="Segoe UI" panose="020B0502040204020203" pitchFamily="34" charset="0"/>
                <a:cs typeface="Segoe UI" panose="020B0502040204020203" pitchFamily="34" charset="0"/>
              </a:rPr>
              <a:t>A</a:t>
            </a:r>
            <a:r>
              <a:rPr lang="en-US" sz="2200" dirty="0">
                <a:latin typeface="Segoe UI" panose="020B0502040204020203" pitchFamily="34" charset="0"/>
                <a:cs typeface="Segoe UI" panose="020B0502040204020203" pitchFamily="34" charset="0"/>
              </a:rPr>
              <a:t> using Python:</a:t>
            </a:r>
          </a:p>
          <a:p>
            <a:endParaRPr lang="en-US" dirty="0"/>
          </a:p>
          <a:p>
            <a:endParaRPr lang="en-US" dirty="0"/>
          </a:p>
          <a:p>
            <a:endParaRPr lang="en-US" dirty="0"/>
          </a:p>
          <a:p>
            <a:endParaRPr lang="en-US" dirty="0"/>
          </a:p>
          <a:p>
            <a:endParaRPr lang="en-US" dirty="0"/>
          </a:p>
          <a:p>
            <a:endParaRPr lang="en-US" dirty="0"/>
          </a:p>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lgn="just">
              <a:buFont typeface="Wingdings" panose="05000000000000000000" pitchFamily="2" charset="2"/>
              <a:buChar char="v"/>
            </a:pPr>
            <a:r>
              <a:rPr lang="en-US" sz="2200" dirty="0">
                <a:latin typeface="Segoe UI" panose="020B0502040204020203" pitchFamily="34" charset="0"/>
                <a:cs typeface="Segoe UI" panose="020B0502040204020203" pitchFamily="34" charset="0"/>
              </a:rPr>
              <a:t>The eigenvalues need to be calculated, but we will use </a:t>
            </a:r>
            <a:r>
              <a:rPr lang="en-US" sz="2200" dirty="0" err="1">
                <a:latin typeface="Segoe UI" panose="020B0502040204020203" pitchFamily="34" charset="0"/>
                <a:cs typeface="Segoe UI" panose="020B0502040204020203" pitchFamily="34" charset="0"/>
              </a:rPr>
              <a:t>numpy</a:t>
            </a:r>
            <a:r>
              <a:rPr lang="en-US" sz="2200" dirty="0">
                <a:latin typeface="Segoe UI" panose="020B0502040204020203" pitchFamily="34" charset="0"/>
                <a:cs typeface="Segoe UI" panose="020B0502040204020203" pitchFamily="34" charset="0"/>
              </a:rPr>
              <a:t> for this. Since </a:t>
            </a:r>
            <a:r>
              <a:rPr lang="en-US" sz="2200" b="1" dirty="0">
                <a:latin typeface="Segoe UI" panose="020B0502040204020203" pitchFamily="34" charset="0"/>
                <a:cs typeface="Segoe UI" panose="020B0502040204020203" pitchFamily="34" charset="0"/>
              </a:rPr>
              <a:t>A</a:t>
            </a:r>
            <a:r>
              <a:rPr lang="en-US" sz="2200" dirty="0">
                <a:latin typeface="Segoe UI" panose="020B0502040204020203" pitchFamily="34" charset="0"/>
                <a:cs typeface="Segoe UI" panose="020B0502040204020203" pitchFamily="34" charset="0"/>
              </a:rPr>
              <a:t> is a symmetric matrix, </a:t>
            </a:r>
            <a:r>
              <a:rPr lang="en-US" sz="2200" b="1" dirty="0" err="1">
                <a:latin typeface="Segoe UI" panose="020B0502040204020203" pitchFamily="34" charset="0"/>
                <a:cs typeface="Segoe UI" panose="020B0502040204020203" pitchFamily="34" charset="0"/>
              </a:rPr>
              <a:t>numpy.linalg.eigh</a:t>
            </a:r>
            <a:r>
              <a:rPr lang="en-US" sz="2200" b="1" dirty="0">
                <a:latin typeface="Segoe UI" panose="020B0502040204020203" pitchFamily="34" charset="0"/>
                <a:cs typeface="Segoe UI" panose="020B0502040204020203" pitchFamily="34" charset="0"/>
              </a:rPr>
              <a:t>() </a:t>
            </a:r>
            <a:r>
              <a:rPr lang="en-US" sz="2200" dirty="0">
                <a:latin typeface="Segoe UI" panose="020B0502040204020203" pitchFamily="34" charset="0"/>
                <a:cs typeface="Segoe UI" panose="020B0502040204020203" pitchFamily="34" charset="0"/>
              </a:rPr>
              <a:t>can be applied.</a:t>
            </a:r>
          </a:p>
        </p:txBody>
      </p:sp>
      <p:pic>
        <p:nvPicPr>
          <p:cNvPr id="2050" name="Picture 2">
            <a:extLst>
              <a:ext uri="{FF2B5EF4-FFF2-40B4-BE49-F238E27FC236}">
                <a16:creationId xmlns:a16="http://schemas.microsoft.com/office/drawing/2014/main" id="{63A7685D-01E0-0793-74AA-B53F602D25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375" y="2759730"/>
            <a:ext cx="10001250" cy="2486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75649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D1170-3BEA-1D33-618C-85D9AC208B19}"/>
              </a:ext>
            </a:extLst>
          </p:cNvPr>
          <p:cNvSpPr>
            <a:spLocks noGrp="1"/>
          </p:cNvSpPr>
          <p:nvPr>
            <p:ph type="title"/>
          </p:nvPr>
        </p:nvSpPr>
        <p:spPr>
          <a:xfrm>
            <a:off x="838200" y="365125"/>
            <a:ext cx="10515600" cy="782357"/>
          </a:xfrm>
        </p:spPr>
        <p:txBody>
          <a:bodyPr>
            <a:normAutofit/>
          </a:bodyPr>
          <a:lstStyle/>
          <a:p>
            <a:pPr algn="ctr"/>
            <a:r>
              <a:rPr lang="en-US" sz="3200" dirty="0">
                <a:latin typeface="Segoe UI" panose="020B0502040204020203" pitchFamily="34" charset="0"/>
                <a:cs typeface="Segoe UI" panose="020B0502040204020203" pitchFamily="34" charset="0"/>
              </a:rPr>
              <a:t>Implementation of Spectral Decomposition in Python</a:t>
            </a:r>
            <a:endParaRPr lang="en-US" sz="3200" dirty="0"/>
          </a:p>
        </p:txBody>
      </p:sp>
      <p:sp>
        <p:nvSpPr>
          <p:cNvPr id="3" name="Content Placeholder 2">
            <a:extLst>
              <a:ext uri="{FF2B5EF4-FFF2-40B4-BE49-F238E27FC236}">
                <a16:creationId xmlns:a16="http://schemas.microsoft.com/office/drawing/2014/main" id="{6728AA5F-4342-3669-CBE6-7878A4205CDC}"/>
              </a:ext>
            </a:extLst>
          </p:cNvPr>
          <p:cNvSpPr>
            <a:spLocks noGrp="1"/>
          </p:cNvSpPr>
          <p:nvPr>
            <p:ph idx="1"/>
          </p:nvPr>
        </p:nvSpPr>
        <p:spPr>
          <a:xfrm>
            <a:off x="233083" y="1147482"/>
            <a:ext cx="11716870" cy="5029481"/>
          </a:xfrm>
        </p:spPr>
        <p:txBody>
          <a:bodyPr>
            <a:normAutofit fontScale="92500" lnSpcReduction="20000"/>
          </a:bodyPr>
          <a:lstStyle/>
          <a:p>
            <a:pPr marL="0" indent="0">
              <a:buNone/>
            </a:pPr>
            <a:r>
              <a:rPr lang="en-US" sz="2400" dirty="0">
                <a:solidFill>
                  <a:schemeClr val="accent2"/>
                </a:solidFill>
                <a:latin typeface="Segoe UI" panose="020B0502040204020203" pitchFamily="34" charset="0"/>
                <a:cs typeface="Segoe UI" panose="020B0502040204020203" pitchFamily="34" charset="0"/>
              </a:rPr>
              <a:t># Define matrix A</a:t>
            </a:r>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a:p>
            <a:pPr marL="0" indent="0">
              <a:buNone/>
            </a:pPr>
            <a:r>
              <a:rPr lang="en-US" dirty="0">
                <a:latin typeface="Times New Roman" panose="02020603050405020304" pitchFamily="18" charset="0"/>
                <a:cs typeface="Times New Roman" panose="02020603050405020304" pitchFamily="18" charset="0"/>
              </a:rPr>
              <a:t>A = </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[0, 0, 0, 1, 0, 0, 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[0, 0, 0, 1, 1, 0, 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[0, 0, 0, 1, 0, 0, 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 1, 1, 0, 0, 0, 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[0, 1, 0, 0, 0, 0, 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[0, 0, 0, 0, 0, 1, 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 1, 1, 0, 0, 0, 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t>
            </a:r>
          </a:p>
          <a:p>
            <a:pPr marL="0" indent="0">
              <a:buNone/>
            </a:pPr>
            <a:br>
              <a:rPr lang="en-US" dirty="0">
                <a:latin typeface="Segoe UI" panose="020B0502040204020203" pitchFamily="34" charset="0"/>
                <a:cs typeface="Segoe UI" panose="020B0502040204020203" pitchFamily="34" charset="0"/>
              </a:rPr>
            </a:br>
            <a:r>
              <a:rPr lang="en-US" sz="2400" dirty="0">
                <a:solidFill>
                  <a:schemeClr val="accent2"/>
                </a:solidFill>
                <a:latin typeface="Segoe UI" panose="020B0502040204020203" pitchFamily="34" charset="0"/>
                <a:cs typeface="Segoe UI" panose="020B0502040204020203" pitchFamily="34" charset="0"/>
              </a:rPr>
              <a:t># Calculate eigenvalues</a:t>
            </a:r>
            <a:br>
              <a:rPr lang="en-US" sz="2400" dirty="0">
                <a:solidFill>
                  <a:schemeClr val="accent2"/>
                </a:solidFill>
                <a:latin typeface="Segoe UI" panose="020B0502040204020203" pitchFamily="34" charset="0"/>
                <a:cs typeface="Segoe UI" panose="020B0502040204020203" pitchFamily="34" charset="0"/>
              </a:rPr>
            </a:br>
            <a:r>
              <a:rPr lang="en-US" sz="2400" dirty="0">
                <a:solidFill>
                  <a:schemeClr val="accent2"/>
                </a:solidFill>
                <a:latin typeface="Segoe UI" panose="020B0502040204020203" pitchFamily="34" charset="0"/>
                <a:cs typeface="Segoe UI" panose="020B0502040204020203" pitchFamily="34" charset="0"/>
              </a:rPr>
              <a:t># a represents eigenvalues, v represents eigenvectors</a:t>
            </a:r>
            <a:br>
              <a:rPr lang="en-US" sz="2400" dirty="0">
                <a:latin typeface="Segoe UI" panose="020B0502040204020203" pitchFamily="34" charset="0"/>
                <a:cs typeface="Segoe UI" panose="020B0502040204020203" pitchFamily="34" charset="0"/>
              </a:rPr>
            </a:br>
            <a:r>
              <a:rPr lang="en-US" sz="2400" dirty="0">
                <a:latin typeface="Segoe UI" panose="020B0502040204020203" pitchFamily="34" charset="0"/>
                <a:cs typeface="Segoe UI" panose="020B0502040204020203" pitchFamily="34" charset="0"/>
              </a:rPr>
              <a:t>a, v = </a:t>
            </a:r>
            <a:r>
              <a:rPr lang="en-US" sz="2400" dirty="0" err="1">
                <a:latin typeface="Segoe UI" panose="020B0502040204020203" pitchFamily="34" charset="0"/>
                <a:cs typeface="Segoe UI" panose="020B0502040204020203" pitchFamily="34" charset="0"/>
              </a:rPr>
              <a:t>np.linalg.eigh</a:t>
            </a:r>
            <a:r>
              <a:rPr lang="en-US" sz="2400" dirty="0">
                <a:latin typeface="Segoe UI" panose="020B0502040204020203" pitchFamily="34" charset="0"/>
                <a:cs typeface="Segoe UI" panose="020B0502040204020203" pitchFamily="34" charset="0"/>
              </a:rPr>
              <a:t>(A)</a:t>
            </a:r>
          </a:p>
        </p:txBody>
      </p:sp>
    </p:spTree>
    <p:extLst>
      <p:ext uri="{BB962C8B-B14F-4D97-AF65-F5344CB8AC3E}">
        <p14:creationId xmlns:p14="http://schemas.microsoft.com/office/powerpoint/2010/main" val="6303196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3353A-65FC-8249-97EE-C31BFA232CF7}"/>
              </a:ext>
            </a:extLst>
          </p:cNvPr>
          <p:cNvSpPr>
            <a:spLocks noGrp="1"/>
          </p:cNvSpPr>
          <p:nvPr>
            <p:ph type="title"/>
          </p:nvPr>
        </p:nvSpPr>
        <p:spPr>
          <a:xfrm>
            <a:off x="838200" y="365126"/>
            <a:ext cx="10515600" cy="638922"/>
          </a:xfrm>
        </p:spPr>
        <p:txBody>
          <a:bodyPr>
            <a:normAutofit/>
          </a:bodyPr>
          <a:lstStyle/>
          <a:p>
            <a:r>
              <a:rPr lang="en-US" sz="3200" dirty="0">
                <a:latin typeface="Segoe UI" panose="020B0502040204020203" pitchFamily="34" charset="0"/>
                <a:cs typeface="Segoe UI" panose="020B0502040204020203" pitchFamily="34" charset="0"/>
              </a:rPr>
              <a:t>Implementation of Spectral Decomposition in Python</a:t>
            </a:r>
            <a:endParaRPr lang="en-US" sz="3200" dirty="0"/>
          </a:p>
        </p:txBody>
      </p:sp>
      <p:sp>
        <p:nvSpPr>
          <p:cNvPr id="3" name="Content Placeholder 2">
            <a:extLst>
              <a:ext uri="{FF2B5EF4-FFF2-40B4-BE49-F238E27FC236}">
                <a16:creationId xmlns:a16="http://schemas.microsoft.com/office/drawing/2014/main" id="{DA8D5321-F19F-77AE-E122-48C47B2E0F38}"/>
              </a:ext>
            </a:extLst>
          </p:cNvPr>
          <p:cNvSpPr>
            <a:spLocks noGrp="1"/>
          </p:cNvSpPr>
          <p:nvPr>
            <p:ph idx="1"/>
          </p:nvPr>
        </p:nvSpPr>
        <p:spPr>
          <a:xfrm>
            <a:off x="376517" y="1371600"/>
            <a:ext cx="11528611" cy="5121275"/>
          </a:xfrm>
        </p:spPr>
        <p:txBody>
          <a:bodyPr>
            <a:normAutofit/>
          </a:bodyPr>
          <a:lstStyle/>
          <a:p>
            <a:pPr>
              <a:buFont typeface="Wingdings" panose="05000000000000000000" pitchFamily="2" charset="2"/>
              <a:buChar char="v"/>
            </a:pPr>
            <a:endParaRPr lang="en-US" sz="22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200" dirty="0">
                <a:latin typeface="Segoe UI" panose="020B0502040204020203" pitchFamily="34" charset="0"/>
                <a:cs typeface="Segoe UI" panose="020B0502040204020203" pitchFamily="34" charset="0"/>
              </a:rPr>
              <a:t>To verify that the eigenvectors are correct, calculate the following value:</a:t>
            </a:r>
          </a:p>
          <a:p>
            <a:endParaRPr lang="en-US" dirty="0"/>
          </a:p>
          <a:p>
            <a:endParaRPr lang="en-US" dirty="0"/>
          </a:p>
          <a:p>
            <a:endParaRPr lang="en-US" dirty="0"/>
          </a:p>
          <a:p>
            <a:endParaRPr lang="en-US" dirty="0"/>
          </a:p>
          <a:p>
            <a:endParaRPr lang="en-US" dirty="0"/>
          </a:p>
          <a:p>
            <a:pPr marL="0" indent="0">
              <a:buNone/>
            </a:pPr>
            <a:r>
              <a:rPr lang="en-US" sz="2200" dirty="0">
                <a:solidFill>
                  <a:schemeClr val="accent2"/>
                </a:solidFill>
                <a:latin typeface="Segoe UI" panose="020B0502040204020203" pitchFamily="34" charset="0"/>
                <a:cs typeface="Segoe UI" panose="020B0502040204020203" pitchFamily="34" charset="0"/>
              </a:rPr>
              <a:t># Reproduction verification</a:t>
            </a:r>
            <a:br>
              <a:rPr lang="en-US" sz="2200" dirty="0">
                <a:latin typeface="Segoe UI" panose="020B0502040204020203" pitchFamily="34" charset="0"/>
                <a:cs typeface="Segoe UI" panose="020B0502040204020203" pitchFamily="34" charset="0"/>
              </a:rPr>
            </a:br>
            <a:r>
              <a:rPr lang="en-US" sz="2200" dirty="0">
                <a:latin typeface="Segoe UI" panose="020B0502040204020203" pitchFamily="34" charset="0"/>
                <a:cs typeface="Segoe UI" panose="020B0502040204020203" pitchFamily="34" charset="0"/>
              </a:rPr>
              <a:t>_A = v @ </a:t>
            </a:r>
            <a:r>
              <a:rPr lang="en-US" sz="2200" dirty="0" err="1">
                <a:latin typeface="Segoe UI" panose="020B0502040204020203" pitchFamily="34" charset="0"/>
                <a:cs typeface="Segoe UI" panose="020B0502040204020203" pitchFamily="34" charset="0"/>
              </a:rPr>
              <a:t>np.diagflat</a:t>
            </a:r>
            <a:r>
              <a:rPr lang="en-US" sz="2200" dirty="0">
                <a:latin typeface="Segoe UI" panose="020B0502040204020203" pitchFamily="34" charset="0"/>
                <a:cs typeface="Segoe UI" panose="020B0502040204020203" pitchFamily="34" charset="0"/>
              </a:rPr>
              <a:t>(a) @ </a:t>
            </a:r>
            <a:r>
              <a:rPr lang="en-US" sz="2200" dirty="0" err="1">
                <a:latin typeface="Segoe UI" panose="020B0502040204020203" pitchFamily="34" charset="0"/>
                <a:cs typeface="Segoe UI" panose="020B0502040204020203" pitchFamily="34" charset="0"/>
              </a:rPr>
              <a:t>v.T</a:t>
            </a:r>
            <a:br>
              <a:rPr lang="en-US" sz="2200" dirty="0">
                <a:latin typeface="Segoe UI" panose="020B0502040204020203" pitchFamily="34" charset="0"/>
                <a:cs typeface="Segoe UI" panose="020B0502040204020203" pitchFamily="34" charset="0"/>
              </a:rPr>
            </a:br>
            <a:r>
              <a:rPr lang="en-US" sz="2200" dirty="0">
                <a:latin typeface="Segoe UI" panose="020B0502040204020203" pitchFamily="34" charset="0"/>
                <a:cs typeface="Segoe UI" panose="020B0502040204020203" pitchFamily="34" charset="0"/>
              </a:rPr>
              <a:t>a2l.to_ltx(</a:t>
            </a:r>
            <a:r>
              <a:rPr lang="en-US" sz="2200" dirty="0" err="1">
                <a:latin typeface="Segoe UI" panose="020B0502040204020203" pitchFamily="34" charset="0"/>
                <a:cs typeface="Segoe UI" panose="020B0502040204020203" pitchFamily="34" charset="0"/>
              </a:rPr>
              <a:t>np.abs</a:t>
            </a:r>
            <a:r>
              <a:rPr lang="en-US" sz="2200" dirty="0">
                <a:latin typeface="Segoe UI" panose="020B0502040204020203" pitchFamily="34" charset="0"/>
                <a:cs typeface="Segoe UI" panose="020B0502040204020203" pitchFamily="34" charset="0"/>
              </a:rPr>
              <a:t>(_A), </a:t>
            </a:r>
            <a:r>
              <a:rPr lang="en-US" sz="2200" dirty="0" err="1">
                <a:latin typeface="Segoe UI" panose="020B0502040204020203" pitchFamily="34" charset="0"/>
                <a:cs typeface="Segoe UI" panose="020B0502040204020203" pitchFamily="34" charset="0"/>
              </a:rPr>
              <a:t>frmt</a:t>
            </a:r>
            <a:r>
              <a:rPr lang="en-US" sz="2200" dirty="0">
                <a:latin typeface="Segoe UI" panose="020B0502040204020203" pitchFamily="34" charset="0"/>
                <a:cs typeface="Segoe UI" panose="020B0502040204020203" pitchFamily="34" charset="0"/>
              </a:rPr>
              <a:t>="{:.0f}", </a:t>
            </a:r>
            <a:r>
              <a:rPr lang="en-US" sz="2200" dirty="0" err="1">
                <a:latin typeface="Segoe UI" panose="020B0502040204020203" pitchFamily="34" charset="0"/>
                <a:cs typeface="Segoe UI" panose="020B0502040204020203" pitchFamily="34" charset="0"/>
              </a:rPr>
              <a:t>arraytype</a:t>
            </a:r>
            <a:r>
              <a:rPr lang="en-US" sz="2200" dirty="0">
                <a:latin typeface="Segoe UI" panose="020B0502040204020203" pitchFamily="34" charset="0"/>
                <a:cs typeface="Segoe UI" panose="020B0502040204020203" pitchFamily="34" charset="0"/>
              </a:rPr>
              <a:t>="</a:t>
            </a:r>
            <a:r>
              <a:rPr lang="en-US" sz="2200" dirty="0" err="1">
                <a:latin typeface="Segoe UI" panose="020B0502040204020203" pitchFamily="34" charset="0"/>
                <a:cs typeface="Segoe UI" panose="020B0502040204020203" pitchFamily="34" charset="0"/>
              </a:rPr>
              <a:t>pmatrix</a:t>
            </a:r>
            <a:r>
              <a:rPr lang="en-US" sz="2200" dirty="0">
                <a:latin typeface="Segoe UI" panose="020B0502040204020203" pitchFamily="34" charset="0"/>
                <a:cs typeface="Segoe UI" panose="020B0502040204020203" pitchFamily="34" charset="0"/>
              </a:rPr>
              <a:t>")</a:t>
            </a:r>
          </a:p>
          <a:p>
            <a:pPr marL="0" indent="0">
              <a:buNone/>
            </a:pPr>
            <a:endParaRPr lang="en-US" dirty="0"/>
          </a:p>
          <a:p>
            <a:pPr marL="0" indent="0">
              <a:buNone/>
            </a:pPr>
            <a:endParaRPr lang="en-US" sz="2200" dirty="0"/>
          </a:p>
        </p:txBody>
      </p:sp>
      <p:pic>
        <p:nvPicPr>
          <p:cNvPr id="4098" name="Picture 2">
            <a:extLst>
              <a:ext uri="{FF2B5EF4-FFF2-40B4-BE49-F238E27FC236}">
                <a16:creationId xmlns:a16="http://schemas.microsoft.com/office/drawing/2014/main" id="{D93C5F70-B7F6-3648-5625-FA3DD08D16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721445"/>
            <a:ext cx="10001250" cy="1685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2026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589F0-2A53-6E18-C8A8-FCB7FFC0323D}"/>
              </a:ext>
            </a:extLst>
          </p:cNvPr>
          <p:cNvSpPr>
            <a:spLocks noGrp="1"/>
          </p:cNvSpPr>
          <p:nvPr>
            <p:ph type="title"/>
          </p:nvPr>
        </p:nvSpPr>
        <p:spPr/>
        <p:txBody>
          <a:bodyPr>
            <a:normAutofit/>
          </a:bodyPr>
          <a:lstStyle/>
          <a:p>
            <a:r>
              <a:rPr lang="en-US" sz="3200" dirty="0">
                <a:latin typeface="Segoe UI" panose="020B0502040204020203" pitchFamily="34" charset="0"/>
                <a:cs typeface="Segoe UI" panose="020B0502040204020203" pitchFamily="34" charset="0"/>
              </a:rPr>
              <a:t>Implementation of Spectral Decomposition in Python</a:t>
            </a:r>
            <a:endParaRPr lang="en-US" sz="3200" dirty="0"/>
          </a:p>
        </p:txBody>
      </p:sp>
      <p:sp>
        <p:nvSpPr>
          <p:cNvPr id="3" name="Content Placeholder 2">
            <a:extLst>
              <a:ext uri="{FF2B5EF4-FFF2-40B4-BE49-F238E27FC236}">
                <a16:creationId xmlns:a16="http://schemas.microsoft.com/office/drawing/2014/main" id="{A6F1D1B4-03BE-2AEE-A6FF-F8AC1F34DA57}"/>
              </a:ext>
            </a:extLst>
          </p:cNvPr>
          <p:cNvSpPr>
            <a:spLocks noGrp="1"/>
          </p:cNvSpPr>
          <p:nvPr>
            <p:ph idx="1"/>
          </p:nvPr>
        </p:nvSpPr>
        <p:spPr/>
        <p:txBody>
          <a:bodyPr>
            <a:normAutofit/>
          </a:bodyPr>
          <a:lstStyle/>
          <a:p>
            <a:r>
              <a:rPr lang="en-US" dirty="0"/>
              <a:t>Finally, let’s perform the calculation according to the spectral decomposition equation.</a:t>
            </a:r>
          </a:p>
          <a:p>
            <a:r>
              <a:rPr lang="en-US" dirty="0">
                <a:solidFill>
                  <a:schemeClr val="accent2"/>
                </a:solidFill>
              </a:rPr>
              <a:t># Verification of reproducibility using spectral decomposition</a:t>
            </a:r>
            <a:br>
              <a:rPr lang="en-US" dirty="0">
                <a:solidFill>
                  <a:schemeClr val="accent2"/>
                </a:solidFill>
              </a:rPr>
            </a:br>
            <a:r>
              <a:rPr lang="en-US" dirty="0"/>
              <a:t>__A = 0</a:t>
            </a:r>
            <a:br>
              <a:rPr lang="en-US" dirty="0"/>
            </a:br>
            <a:r>
              <a:rPr lang="en-US" dirty="0"/>
              <a:t>for </a:t>
            </a:r>
            <a:r>
              <a:rPr lang="en-US" dirty="0" err="1"/>
              <a:t>i</a:t>
            </a:r>
            <a:r>
              <a:rPr lang="en-US" dirty="0"/>
              <a:t> in range(</a:t>
            </a:r>
            <a:r>
              <a:rPr lang="en-US" dirty="0" err="1"/>
              <a:t>len</a:t>
            </a:r>
            <a:r>
              <a:rPr lang="en-US" dirty="0"/>
              <a:t>(v)):</a:t>
            </a:r>
            <a:br>
              <a:rPr lang="en-US" dirty="0"/>
            </a:br>
            <a:r>
              <a:rPr lang="en-US" dirty="0"/>
              <a:t>__A += a[</a:t>
            </a:r>
            <a:r>
              <a:rPr lang="en-US" dirty="0" err="1"/>
              <a:t>i</a:t>
            </a:r>
            <a:r>
              <a:rPr lang="en-US" dirty="0"/>
              <a:t>] * v[:, </a:t>
            </a:r>
            <a:r>
              <a:rPr lang="en-US" dirty="0" err="1"/>
              <a:t>i</a:t>
            </a:r>
            <a:r>
              <a:rPr lang="en-US" dirty="0"/>
              <a:t> : </a:t>
            </a:r>
            <a:r>
              <a:rPr lang="en-US" dirty="0" err="1"/>
              <a:t>i</a:t>
            </a:r>
            <a:r>
              <a:rPr lang="en-US" dirty="0"/>
              <a:t> + 1] @ v[:, </a:t>
            </a:r>
            <a:r>
              <a:rPr lang="en-US" dirty="0" err="1"/>
              <a:t>i</a:t>
            </a:r>
            <a:r>
              <a:rPr lang="en-US" dirty="0"/>
              <a:t> : </a:t>
            </a:r>
            <a:r>
              <a:rPr lang="en-US" dirty="0" err="1"/>
              <a:t>i</a:t>
            </a:r>
            <a:r>
              <a:rPr lang="en-US" dirty="0"/>
              <a:t> + 1].T</a:t>
            </a:r>
            <a:br>
              <a:rPr lang="en-US" dirty="0"/>
            </a:br>
            <a:br>
              <a:rPr lang="en-US" dirty="0"/>
            </a:br>
            <a:r>
              <a:rPr lang="en-US" dirty="0"/>
              <a:t>a2l.to_ltx(</a:t>
            </a:r>
            <a:r>
              <a:rPr lang="en-US" dirty="0" err="1"/>
              <a:t>np.abs</a:t>
            </a:r>
            <a:r>
              <a:rPr lang="en-US" dirty="0"/>
              <a:t>(__A), </a:t>
            </a:r>
            <a:r>
              <a:rPr lang="en-US" dirty="0" err="1"/>
              <a:t>frmt</a:t>
            </a:r>
            <a:r>
              <a:rPr lang="en-US" dirty="0"/>
              <a:t>="{:.0f}", </a:t>
            </a:r>
            <a:r>
              <a:rPr lang="en-US" dirty="0" err="1"/>
              <a:t>arraytype</a:t>
            </a:r>
            <a:r>
              <a:rPr lang="en-US" dirty="0"/>
              <a:t>="</a:t>
            </a:r>
            <a:r>
              <a:rPr lang="en-US" dirty="0" err="1"/>
              <a:t>pmatrix</a:t>
            </a:r>
            <a:r>
              <a:rPr lang="en-US" dirty="0"/>
              <a:t>")</a:t>
            </a:r>
          </a:p>
          <a:p>
            <a:endParaRPr lang="en-US" dirty="0"/>
          </a:p>
        </p:txBody>
      </p:sp>
    </p:spTree>
    <p:extLst>
      <p:ext uri="{BB962C8B-B14F-4D97-AF65-F5344CB8AC3E}">
        <p14:creationId xmlns:p14="http://schemas.microsoft.com/office/powerpoint/2010/main" val="42945631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B73DA-FB57-39B1-BEE4-D9B76DB3081F}"/>
              </a:ext>
            </a:extLst>
          </p:cNvPr>
          <p:cNvSpPr>
            <a:spLocks noGrp="1"/>
          </p:cNvSpPr>
          <p:nvPr>
            <p:ph type="title"/>
          </p:nvPr>
        </p:nvSpPr>
        <p:spPr>
          <a:xfrm>
            <a:off x="838200" y="365125"/>
            <a:ext cx="10515600" cy="800287"/>
          </a:xfrm>
        </p:spPr>
        <p:txBody>
          <a:bodyPr>
            <a:normAutofit/>
          </a:bodyPr>
          <a:lstStyle/>
          <a:p>
            <a:r>
              <a:rPr lang="en-US" sz="3200" dirty="0">
                <a:latin typeface="Segoe UI" panose="020B0502040204020203" pitchFamily="34" charset="0"/>
                <a:cs typeface="Segoe UI" panose="020B0502040204020203" pitchFamily="34" charset="0"/>
              </a:rPr>
              <a:t>Implementation of Spectral Decomposition in Python</a:t>
            </a:r>
            <a:endParaRPr lang="en-US" sz="3200" dirty="0"/>
          </a:p>
        </p:txBody>
      </p:sp>
      <p:sp>
        <p:nvSpPr>
          <p:cNvPr id="3" name="Content Placeholder 2">
            <a:extLst>
              <a:ext uri="{FF2B5EF4-FFF2-40B4-BE49-F238E27FC236}">
                <a16:creationId xmlns:a16="http://schemas.microsoft.com/office/drawing/2014/main" id="{B7EF7E6A-F6E6-8016-D9C7-E9F72BC1EC34}"/>
              </a:ext>
            </a:extLst>
          </p:cNvPr>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pPr>
              <a:buFont typeface="Wingdings" panose="05000000000000000000" pitchFamily="2" charset="2"/>
              <a:buChar char="v"/>
            </a:pPr>
            <a:r>
              <a:rPr lang="en-US" sz="2400" dirty="0">
                <a:latin typeface="Segoe UI" panose="020B0502040204020203" pitchFamily="34" charset="0"/>
                <a:cs typeface="Segoe UI" panose="020B0502040204020203" pitchFamily="34" charset="0"/>
              </a:rPr>
              <a:t>We can see that the eigenvalues and eigenvectors are correctly obtained.</a:t>
            </a:r>
          </a:p>
          <a:p>
            <a:pPr marL="0" indent="0">
              <a:buNone/>
            </a:pPr>
            <a:endParaRPr lang="en-US" sz="2400" dirty="0">
              <a:latin typeface="Segoe UI" panose="020B0502040204020203" pitchFamily="34" charset="0"/>
              <a:cs typeface="Segoe UI" panose="020B0502040204020203" pitchFamily="34" charset="0"/>
            </a:endParaRPr>
          </a:p>
          <a:p>
            <a:pPr>
              <a:buFont typeface="Wingdings" panose="05000000000000000000" pitchFamily="2" charset="2"/>
              <a:buChar char="v"/>
            </a:pPr>
            <a:r>
              <a:rPr lang="en-US" sz="2400" dirty="0">
                <a:latin typeface="Segoe UI" panose="020B0502040204020203" pitchFamily="34" charset="0"/>
                <a:cs typeface="Segoe UI" panose="020B0502040204020203" pitchFamily="34" charset="0"/>
              </a:rPr>
              <a:t>Finally, let’s perform the calculation according to the spectral decomposition equation.</a:t>
            </a:r>
          </a:p>
          <a:p>
            <a:endParaRPr lang="en-US" dirty="0"/>
          </a:p>
        </p:txBody>
      </p:sp>
      <p:pic>
        <p:nvPicPr>
          <p:cNvPr id="5122" name="Picture 2">
            <a:extLst>
              <a:ext uri="{FF2B5EF4-FFF2-40B4-BE49-F238E27FC236}">
                <a16:creationId xmlns:a16="http://schemas.microsoft.com/office/drawing/2014/main" id="{82B9AD77-1C7B-ACE4-1F99-80603D6521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39142"/>
            <a:ext cx="10001250" cy="2486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97500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FFE1B-C848-51BC-A8ED-B7BC9F98E84A}"/>
              </a:ext>
            </a:extLst>
          </p:cNvPr>
          <p:cNvSpPr>
            <a:spLocks noGrp="1"/>
          </p:cNvSpPr>
          <p:nvPr>
            <p:ph type="title"/>
          </p:nvPr>
        </p:nvSpPr>
        <p:spPr>
          <a:xfrm>
            <a:off x="838200" y="268941"/>
            <a:ext cx="10515600" cy="609601"/>
          </a:xfrm>
        </p:spPr>
        <p:txBody>
          <a:bodyPr>
            <a:normAutofit/>
          </a:bodyPr>
          <a:lstStyle/>
          <a:p>
            <a:r>
              <a:rPr lang="en-US" sz="3200" dirty="0">
                <a:latin typeface="Segoe UI" panose="020B0502040204020203" pitchFamily="34" charset="0"/>
                <a:cs typeface="Segoe UI" panose="020B0502040204020203" pitchFamily="34" charset="0"/>
              </a:rPr>
              <a:t>Implementation of Spectral Decomposition in Python</a:t>
            </a:r>
            <a:endParaRPr lang="en-US" sz="3200" dirty="0"/>
          </a:p>
        </p:txBody>
      </p:sp>
      <p:sp>
        <p:nvSpPr>
          <p:cNvPr id="3" name="Content Placeholder 2">
            <a:extLst>
              <a:ext uri="{FF2B5EF4-FFF2-40B4-BE49-F238E27FC236}">
                <a16:creationId xmlns:a16="http://schemas.microsoft.com/office/drawing/2014/main" id="{3CFA21CD-E93D-7A1F-E972-311F0DF6EA38}"/>
              </a:ext>
            </a:extLst>
          </p:cNvPr>
          <p:cNvSpPr>
            <a:spLocks noGrp="1"/>
          </p:cNvSpPr>
          <p:nvPr>
            <p:ph idx="1"/>
          </p:nvPr>
        </p:nvSpPr>
        <p:spPr>
          <a:xfrm>
            <a:off x="367553" y="1156446"/>
            <a:ext cx="11537576" cy="5369859"/>
          </a:xfrm>
        </p:spPr>
        <p:txBody>
          <a:bodyPr>
            <a:normAutofit fontScale="92500" lnSpcReduction="10000"/>
          </a:bodyPr>
          <a:lstStyle/>
          <a:p>
            <a:pPr marL="0" indent="0">
              <a:buNone/>
            </a:pPr>
            <a:r>
              <a:rPr lang="en-US" sz="2200" dirty="0">
                <a:solidFill>
                  <a:schemeClr val="accent2"/>
                </a:solidFill>
                <a:latin typeface="Segoe UI" panose="020B0502040204020203" pitchFamily="34" charset="0"/>
                <a:cs typeface="Segoe UI" panose="020B0502040204020203" pitchFamily="34" charset="0"/>
              </a:rPr>
              <a:t># Verification of reproducibility using spectral decomposition</a:t>
            </a:r>
            <a:br>
              <a:rPr lang="en-US" sz="2200" dirty="0">
                <a:latin typeface="Segoe UI" panose="020B0502040204020203" pitchFamily="34" charset="0"/>
                <a:cs typeface="Segoe UI" panose="020B0502040204020203" pitchFamily="34" charset="0"/>
              </a:rPr>
            </a:br>
            <a:r>
              <a:rPr lang="en-US" sz="2200" dirty="0">
                <a:latin typeface="Segoe UI" panose="020B0502040204020203" pitchFamily="34" charset="0"/>
                <a:cs typeface="Segoe UI" panose="020B0502040204020203" pitchFamily="34" charset="0"/>
              </a:rPr>
              <a:t>__A = 0</a:t>
            </a:r>
            <a:br>
              <a:rPr lang="en-US" sz="2200" dirty="0">
                <a:latin typeface="Segoe UI" panose="020B0502040204020203" pitchFamily="34" charset="0"/>
                <a:cs typeface="Segoe UI" panose="020B0502040204020203" pitchFamily="34" charset="0"/>
              </a:rPr>
            </a:br>
            <a:r>
              <a:rPr lang="en-US" sz="2200" dirty="0">
                <a:latin typeface="Segoe UI" panose="020B0502040204020203" pitchFamily="34" charset="0"/>
                <a:cs typeface="Segoe UI" panose="020B0502040204020203" pitchFamily="34" charset="0"/>
              </a:rPr>
              <a:t>for </a:t>
            </a:r>
            <a:r>
              <a:rPr lang="en-US" sz="2200" dirty="0" err="1">
                <a:latin typeface="Segoe UI" panose="020B0502040204020203" pitchFamily="34" charset="0"/>
                <a:cs typeface="Segoe UI" panose="020B0502040204020203" pitchFamily="34" charset="0"/>
              </a:rPr>
              <a:t>i</a:t>
            </a:r>
            <a:r>
              <a:rPr lang="en-US" sz="2200" dirty="0">
                <a:latin typeface="Segoe UI" panose="020B0502040204020203" pitchFamily="34" charset="0"/>
                <a:cs typeface="Segoe UI" panose="020B0502040204020203" pitchFamily="34" charset="0"/>
              </a:rPr>
              <a:t> in range(</a:t>
            </a:r>
            <a:r>
              <a:rPr lang="en-US" sz="2200" dirty="0" err="1">
                <a:latin typeface="Segoe UI" panose="020B0502040204020203" pitchFamily="34" charset="0"/>
                <a:cs typeface="Segoe UI" panose="020B0502040204020203" pitchFamily="34" charset="0"/>
              </a:rPr>
              <a:t>len</a:t>
            </a:r>
            <a:r>
              <a:rPr lang="en-US" sz="2200" dirty="0">
                <a:latin typeface="Segoe UI" panose="020B0502040204020203" pitchFamily="34" charset="0"/>
                <a:cs typeface="Segoe UI" panose="020B0502040204020203" pitchFamily="34" charset="0"/>
              </a:rPr>
              <a:t>(v)):</a:t>
            </a:r>
            <a:br>
              <a:rPr lang="en-US" sz="2200" dirty="0">
                <a:latin typeface="Segoe UI" panose="020B0502040204020203" pitchFamily="34" charset="0"/>
                <a:cs typeface="Segoe UI" panose="020B0502040204020203" pitchFamily="34" charset="0"/>
              </a:rPr>
            </a:br>
            <a:r>
              <a:rPr lang="en-US" sz="2200" dirty="0">
                <a:latin typeface="Segoe UI" panose="020B0502040204020203" pitchFamily="34" charset="0"/>
                <a:cs typeface="Segoe UI" panose="020B0502040204020203" pitchFamily="34" charset="0"/>
              </a:rPr>
              <a:t>	__A += a[</a:t>
            </a:r>
            <a:r>
              <a:rPr lang="en-US" sz="2200" dirty="0" err="1">
                <a:latin typeface="Segoe UI" panose="020B0502040204020203" pitchFamily="34" charset="0"/>
                <a:cs typeface="Segoe UI" panose="020B0502040204020203" pitchFamily="34" charset="0"/>
              </a:rPr>
              <a:t>i</a:t>
            </a:r>
            <a:r>
              <a:rPr lang="en-US" sz="2200" dirty="0">
                <a:latin typeface="Segoe UI" panose="020B0502040204020203" pitchFamily="34" charset="0"/>
                <a:cs typeface="Segoe UI" panose="020B0502040204020203" pitchFamily="34" charset="0"/>
              </a:rPr>
              <a:t>] * v[:, </a:t>
            </a:r>
            <a:r>
              <a:rPr lang="en-US" sz="2200" dirty="0" err="1">
                <a:latin typeface="Segoe UI" panose="020B0502040204020203" pitchFamily="34" charset="0"/>
                <a:cs typeface="Segoe UI" panose="020B0502040204020203" pitchFamily="34" charset="0"/>
              </a:rPr>
              <a:t>i</a:t>
            </a:r>
            <a:r>
              <a:rPr lang="en-US" sz="2200" dirty="0">
                <a:latin typeface="Segoe UI" panose="020B0502040204020203" pitchFamily="34" charset="0"/>
                <a:cs typeface="Segoe UI" panose="020B0502040204020203" pitchFamily="34" charset="0"/>
              </a:rPr>
              <a:t> : </a:t>
            </a:r>
            <a:r>
              <a:rPr lang="en-US" sz="2200" dirty="0" err="1">
                <a:latin typeface="Segoe UI" panose="020B0502040204020203" pitchFamily="34" charset="0"/>
                <a:cs typeface="Segoe UI" panose="020B0502040204020203" pitchFamily="34" charset="0"/>
              </a:rPr>
              <a:t>i</a:t>
            </a:r>
            <a:r>
              <a:rPr lang="en-US" sz="2200" dirty="0">
                <a:latin typeface="Segoe UI" panose="020B0502040204020203" pitchFamily="34" charset="0"/>
                <a:cs typeface="Segoe UI" panose="020B0502040204020203" pitchFamily="34" charset="0"/>
              </a:rPr>
              <a:t> + 1] @ v[:, </a:t>
            </a:r>
            <a:r>
              <a:rPr lang="en-US" sz="2200" dirty="0" err="1">
                <a:latin typeface="Segoe UI" panose="020B0502040204020203" pitchFamily="34" charset="0"/>
                <a:cs typeface="Segoe UI" panose="020B0502040204020203" pitchFamily="34" charset="0"/>
              </a:rPr>
              <a:t>i</a:t>
            </a:r>
            <a:r>
              <a:rPr lang="en-US" sz="2200" dirty="0">
                <a:latin typeface="Segoe UI" panose="020B0502040204020203" pitchFamily="34" charset="0"/>
                <a:cs typeface="Segoe UI" panose="020B0502040204020203" pitchFamily="34" charset="0"/>
              </a:rPr>
              <a:t> : </a:t>
            </a:r>
            <a:r>
              <a:rPr lang="en-US" sz="2200" dirty="0" err="1">
                <a:latin typeface="Segoe UI" panose="020B0502040204020203" pitchFamily="34" charset="0"/>
                <a:cs typeface="Segoe UI" panose="020B0502040204020203" pitchFamily="34" charset="0"/>
              </a:rPr>
              <a:t>i</a:t>
            </a:r>
            <a:r>
              <a:rPr lang="en-US" sz="2200" dirty="0">
                <a:latin typeface="Segoe UI" panose="020B0502040204020203" pitchFamily="34" charset="0"/>
                <a:cs typeface="Segoe UI" panose="020B0502040204020203" pitchFamily="34" charset="0"/>
              </a:rPr>
              <a:t> + 1].T</a:t>
            </a:r>
            <a:br>
              <a:rPr lang="en-US" sz="2200" dirty="0">
                <a:latin typeface="Segoe UI" panose="020B0502040204020203" pitchFamily="34" charset="0"/>
                <a:cs typeface="Segoe UI" panose="020B0502040204020203" pitchFamily="34" charset="0"/>
              </a:rPr>
            </a:br>
            <a:br>
              <a:rPr lang="en-US" sz="2200" dirty="0">
                <a:latin typeface="Segoe UI" panose="020B0502040204020203" pitchFamily="34" charset="0"/>
                <a:cs typeface="Segoe UI" panose="020B0502040204020203" pitchFamily="34" charset="0"/>
              </a:rPr>
            </a:br>
            <a:r>
              <a:rPr lang="en-US" sz="2200" dirty="0">
                <a:latin typeface="Segoe UI" panose="020B0502040204020203" pitchFamily="34" charset="0"/>
                <a:cs typeface="Segoe UI" panose="020B0502040204020203" pitchFamily="34" charset="0"/>
              </a:rPr>
              <a:t>a2l.to_ltx(</a:t>
            </a:r>
            <a:r>
              <a:rPr lang="en-US" sz="2200" dirty="0" err="1">
                <a:latin typeface="Segoe UI" panose="020B0502040204020203" pitchFamily="34" charset="0"/>
                <a:cs typeface="Segoe UI" panose="020B0502040204020203" pitchFamily="34" charset="0"/>
              </a:rPr>
              <a:t>np.abs</a:t>
            </a:r>
            <a:r>
              <a:rPr lang="en-US" sz="2200" dirty="0">
                <a:latin typeface="Segoe UI" panose="020B0502040204020203" pitchFamily="34" charset="0"/>
                <a:cs typeface="Segoe UI" panose="020B0502040204020203" pitchFamily="34" charset="0"/>
              </a:rPr>
              <a:t>(__A), </a:t>
            </a:r>
            <a:r>
              <a:rPr lang="en-US" sz="2200" dirty="0" err="1">
                <a:latin typeface="Segoe UI" panose="020B0502040204020203" pitchFamily="34" charset="0"/>
                <a:cs typeface="Segoe UI" panose="020B0502040204020203" pitchFamily="34" charset="0"/>
              </a:rPr>
              <a:t>frmt</a:t>
            </a:r>
            <a:r>
              <a:rPr lang="en-US" sz="2200" dirty="0">
                <a:latin typeface="Segoe UI" panose="020B0502040204020203" pitchFamily="34" charset="0"/>
                <a:cs typeface="Segoe UI" panose="020B0502040204020203" pitchFamily="34" charset="0"/>
              </a:rPr>
              <a:t>="{:.0f}", </a:t>
            </a:r>
            <a:r>
              <a:rPr lang="en-US" sz="2200" dirty="0" err="1">
                <a:latin typeface="Segoe UI" panose="020B0502040204020203" pitchFamily="34" charset="0"/>
                <a:cs typeface="Segoe UI" panose="020B0502040204020203" pitchFamily="34" charset="0"/>
              </a:rPr>
              <a:t>arraytype</a:t>
            </a:r>
            <a:r>
              <a:rPr lang="en-US" sz="2200" dirty="0">
                <a:latin typeface="Segoe UI" panose="020B0502040204020203" pitchFamily="34" charset="0"/>
                <a:cs typeface="Segoe UI" panose="020B0502040204020203" pitchFamily="34" charset="0"/>
              </a:rPr>
              <a:t>="</a:t>
            </a:r>
            <a:r>
              <a:rPr lang="en-US" sz="2200" dirty="0" err="1">
                <a:latin typeface="Segoe UI" panose="020B0502040204020203" pitchFamily="34" charset="0"/>
                <a:cs typeface="Segoe UI" panose="020B0502040204020203" pitchFamily="34" charset="0"/>
              </a:rPr>
              <a:t>pmatrix</a:t>
            </a:r>
            <a:r>
              <a:rPr lang="en-US" sz="2200" dirty="0">
                <a:latin typeface="Segoe UI" panose="020B0502040204020203" pitchFamily="34" charset="0"/>
                <a:cs typeface="Segoe UI" panose="020B0502040204020203" pitchFamily="34" charset="0"/>
              </a:rPr>
              <a:t>")</a:t>
            </a:r>
          </a:p>
          <a:p>
            <a:pPr marL="0" indent="0">
              <a:buNone/>
            </a:pPr>
            <a:endParaRPr lang="en-US" sz="2200" dirty="0">
              <a:latin typeface="Segoe UI" panose="020B0502040204020203" pitchFamily="34" charset="0"/>
              <a:cs typeface="Segoe UI" panose="020B0502040204020203" pitchFamily="34" charset="0"/>
            </a:endParaRPr>
          </a:p>
          <a:p>
            <a:pPr marL="0" indent="0">
              <a:buNone/>
            </a:pPr>
            <a:endParaRPr lang="en-US" sz="2200" dirty="0">
              <a:latin typeface="Segoe UI" panose="020B0502040204020203" pitchFamily="34" charset="0"/>
              <a:cs typeface="Segoe UI" panose="020B0502040204020203" pitchFamily="34" charset="0"/>
            </a:endParaRPr>
          </a:p>
          <a:p>
            <a:pPr marL="0" indent="0">
              <a:buNone/>
            </a:pPr>
            <a:endParaRPr lang="en-US" sz="2200" dirty="0">
              <a:latin typeface="Segoe UI" panose="020B0502040204020203" pitchFamily="34" charset="0"/>
              <a:cs typeface="Segoe UI" panose="020B0502040204020203" pitchFamily="34" charset="0"/>
            </a:endParaRPr>
          </a:p>
          <a:p>
            <a:pPr marL="0" indent="0">
              <a:buNone/>
            </a:pPr>
            <a:endParaRPr lang="en-US" sz="2200" dirty="0">
              <a:latin typeface="Segoe UI" panose="020B0502040204020203" pitchFamily="34" charset="0"/>
              <a:cs typeface="Segoe UI" panose="020B0502040204020203" pitchFamily="34" charset="0"/>
            </a:endParaRPr>
          </a:p>
          <a:p>
            <a:pPr marL="0" indent="0">
              <a:buNone/>
            </a:pPr>
            <a:endParaRPr lang="en-US" sz="2200" dirty="0">
              <a:latin typeface="Segoe UI" panose="020B0502040204020203" pitchFamily="34" charset="0"/>
              <a:cs typeface="Segoe UI" panose="020B0502040204020203" pitchFamily="34" charset="0"/>
            </a:endParaRPr>
          </a:p>
          <a:p>
            <a:pPr marL="0" indent="0">
              <a:buNone/>
            </a:pPr>
            <a:endParaRPr lang="en-US" sz="2200" dirty="0">
              <a:latin typeface="Segoe UI" panose="020B0502040204020203" pitchFamily="34" charset="0"/>
              <a:cs typeface="Segoe UI" panose="020B0502040204020203" pitchFamily="34" charset="0"/>
            </a:endParaRPr>
          </a:p>
          <a:p>
            <a:pPr marL="0" indent="0">
              <a:buNone/>
            </a:pPr>
            <a:endParaRPr lang="en-US" sz="2200" dirty="0">
              <a:latin typeface="Segoe UI" panose="020B0502040204020203" pitchFamily="34" charset="0"/>
              <a:cs typeface="Segoe UI" panose="020B0502040204020203" pitchFamily="34" charset="0"/>
            </a:endParaRPr>
          </a:p>
          <a:p>
            <a:pPr marL="0" indent="0">
              <a:buNone/>
            </a:pPr>
            <a:endParaRPr lang="en-US" dirty="0"/>
          </a:p>
          <a:p>
            <a:pPr>
              <a:buFont typeface="Wingdings" panose="05000000000000000000" pitchFamily="2" charset="2"/>
              <a:buChar char="v"/>
            </a:pPr>
            <a:r>
              <a:rPr lang="en-US" sz="2400" dirty="0">
                <a:latin typeface="Segoe UI" panose="020B0502040204020203" pitchFamily="34" charset="0"/>
                <a:cs typeface="Segoe UI" panose="020B0502040204020203" pitchFamily="34" charset="0"/>
              </a:rPr>
              <a:t>It is confirmed that the original matrix </a:t>
            </a:r>
            <a:r>
              <a:rPr lang="en-US" sz="2400" b="1" dirty="0">
                <a:latin typeface="Segoe UI" panose="020B0502040204020203" pitchFamily="34" charset="0"/>
                <a:cs typeface="Segoe UI" panose="020B0502040204020203" pitchFamily="34" charset="0"/>
              </a:rPr>
              <a:t>A</a:t>
            </a:r>
            <a:r>
              <a:rPr lang="en-US" sz="2400" dirty="0">
                <a:latin typeface="Segoe UI" panose="020B0502040204020203" pitchFamily="34" charset="0"/>
                <a:cs typeface="Segoe UI" panose="020B0502040204020203" pitchFamily="34" charset="0"/>
              </a:rPr>
              <a:t> can be reproduced using the spectral decomposition equation.</a:t>
            </a:r>
          </a:p>
        </p:txBody>
      </p:sp>
      <p:pic>
        <p:nvPicPr>
          <p:cNvPr id="6146" name="Picture 2">
            <a:extLst>
              <a:ext uri="{FF2B5EF4-FFF2-40B4-BE49-F238E27FC236}">
                <a16:creationId xmlns:a16="http://schemas.microsoft.com/office/drawing/2014/main" id="{BE6C18B9-98C5-30DE-5EAD-F06C7C21D6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826" y="3052128"/>
            <a:ext cx="8410015" cy="2090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21738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FA83E-85F8-453F-7411-639FDCBB6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5A6C1-C181-9908-F5FC-1E4A0DF1896A}"/>
              </a:ext>
            </a:extLst>
          </p:cNvPr>
          <p:cNvSpPr>
            <a:spLocks noGrp="1"/>
          </p:cNvSpPr>
          <p:nvPr>
            <p:ph type="title"/>
          </p:nvPr>
        </p:nvSpPr>
        <p:spPr>
          <a:xfrm>
            <a:off x="223024" y="365126"/>
            <a:ext cx="11745952" cy="683746"/>
          </a:xfrm>
        </p:spPr>
        <p:txBody>
          <a:bodyPr>
            <a:normAutofit/>
          </a:bodyPr>
          <a:lstStyle/>
          <a:p>
            <a:pPr algn="ctr"/>
            <a:r>
              <a:rPr lang="en-US" sz="3000" dirty="0">
                <a:latin typeface="Segoe UI" panose="020B0502040204020203" pitchFamily="34" charset="0"/>
                <a:cs typeface="Segoe UI" panose="020B0502040204020203" pitchFamily="34" charset="0"/>
              </a:rPr>
              <a:t>Matrix Algebra Review</a:t>
            </a:r>
          </a:p>
        </p:txBody>
      </p:sp>
      <p:sp>
        <p:nvSpPr>
          <p:cNvPr id="3" name="Content Placeholder 2">
            <a:extLst>
              <a:ext uri="{FF2B5EF4-FFF2-40B4-BE49-F238E27FC236}">
                <a16:creationId xmlns:a16="http://schemas.microsoft.com/office/drawing/2014/main" id="{514E0C36-D08D-37F0-0877-FF36D94C3FB2}"/>
              </a:ext>
            </a:extLst>
          </p:cNvPr>
          <p:cNvSpPr>
            <a:spLocks noGrp="1"/>
          </p:cNvSpPr>
          <p:nvPr>
            <p:ph idx="1"/>
          </p:nvPr>
        </p:nvSpPr>
        <p:spPr>
          <a:xfrm>
            <a:off x="223024" y="1223010"/>
            <a:ext cx="11864898" cy="5534628"/>
          </a:xfrm>
        </p:spPr>
        <p:txBody>
          <a:bodyPr>
            <a:normAutofit fontScale="92500" lnSpcReduction="10000"/>
          </a:bodyPr>
          <a:lstStyle/>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Length of a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Projection of a Vector on Another Vector</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Angle between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Inner Product of Two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Linearly Dependent Vectors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Matrices</a:t>
            </a:r>
          </a:p>
          <a:p>
            <a:pPr>
              <a:lnSpc>
                <a:spcPct val="150000"/>
              </a:lnSpc>
              <a:buFont typeface="Wingdings" panose="05000000000000000000" pitchFamily="2" charset="2"/>
              <a:buChar char="v"/>
            </a:pPr>
            <a:r>
              <a:rPr lang="en-US" sz="2000" dirty="0">
                <a:solidFill>
                  <a:schemeClr val="bg1">
                    <a:lumMod val="65000"/>
                  </a:schemeClr>
                </a:solidFill>
                <a:latin typeface="Segoe UI" panose="020B0502040204020203" pitchFamily="34" charset="0"/>
                <a:cs typeface="Segoe UI" panose="020B0502040204020203" pitchFamily="34" charset="0"/>
              </a:rPr>
              <a:t>Eigenvalues and Eigenvectors of a </a:t>
            </a:r>
            <a:r>
              <a:rPr lang="en-US" sz="2100" dirty="0">
                <a:solidFill>
                  <a:schemeClr val="bg1">
                    <a:lumMod val="65000"/>
                  </a:schemeClr>
                </a:solidFill>
                <a:latin typeface="Segoe UI" panose="020B0502040204020203" pitchFamily="34" charset="0"/>
                <a:cs typeface="Segoe UI" panose="020B0502040204020203" pitchFamily="34" charset="0"/>
              </a:rPr>
              <a:t>Matrix</a:t>
            </a:r>
          </a:p>
          <a:p>
            <a:pPr>
              <a:lnSpc>
                <a:spcPct val="150000"/>
              </a:lnSpc>
              <a:buFont typeface="Wingdings" panose="05000000000000000000" pitchFamily="2" charset="2"/>
              <a:buChar char="v"/>
            </a:pPr>
            <a:r>
              <a:rPr lang="en-US" sz="2100" dirty="0">
                <a:solidFill>
                  <a:schemeClr val="bg1">
                    <a:lumMod val="65000"/>
                  </a:schemeClr>
                </a:solidFill>
                <a:latin typeface="Segoe UI" panose="020B0502040204020203" pitchFamily="34" charset="0"/>
                <a:cs typeface="Segoe UI" panose="020B0502040204020203" pitchFamily="34" charset="0"/>
              </a:rPr>
              <a:t>Spectral</a:t>
            </a:r>
            <a:r>
              <a:rPr lang="en-US" sz="2000" dirty="0">
                <a:solidFill>
                  <a:schemeClr val="bg1">
                    <a:lumMod val="65000"/>
                  </a:schemeClr>
                </a:solidFill>
                <a:latin typeface="Segoe UI" panose="020B0502040204020203" pitchFamily="34" charset="0"/>
                <a:cs typeface="Segoe UI" panose="020B0502040204020203" pitchFamily="34" charset="0"/>
              </a:rPr>
              <a:t> </a:t>
            </a:r>
            <a:r>
              <a:rPr lang="en-US" sz="2100" dirty="0">
                <a:solidFill>
                  <a:schemeClr val="bg1">
                    <a:lumMod val="65000"/>
                  </a:schemeClr>
                </a:solidFill>
                <a:latin typeface="Segoe UI" panose="020B0502040204020203" pitchFamily="34" charset="0"/>
                <a:cs typeface="Segoe UI" panose="020B0502040204020203" pitchFamily="34" charset="0"/>
              </a:rPr>
              <a:t>Decomposition</a:t>
            </a:r>
            <a:r>
              <a:rPr lang="en-US" sz="2000" dirty="0">
                <a:solidFill>
                  <a:schemeClr val="bg1">
                    <a:lumMod val="65000"/>
                  </a:schemeClr>
                </a:solidFill>
                <a:latin typeface="Segoe UI" panose="020B0502040204020203" pitchFamily="34" charset="0"/>
                <a:cs typeface="Segoe UI" panose="020B0502040204020203" pitchFamily="34" charset="0"/>
              </a:rPr>
              <a:t> </a:t>
            </a:r>
            <a:r>
              <a:rPr lang="en-US" sz="2100" dirty="0">
                <a:solidFill>
                  <a:schemeClr val="bg1">
                    <a:lumMod val="65000"/>
                  </a:schemeClr>
                </a:solidFill>
                <a:latin typeface="Segoe UI" panose="020B0502040204020203" pitchFamily="34" charset="0"/>
                <a:cs typeface="Segoe UI" panose="020B0502040204020203" pitchFamily="34" charset="0"/>
              </a:rPr>
              <a:t>of</a:t>
            </a:r>
            <a:r>
              <a:rPr lang="en-US" sz="2000" dirty="0">
                <a:solidFill>
                  <a:schemeClr val="bg1">
                    <a:lumMod val="65000"/>
                  </a:schemeClr>
                </a:solidFill>
                <a:latin typeface="Segoe UI" panose="020B0502040204020203" pitchFamily="34" charset="0"/>
                <a:cs typeface="Segoe UI" panose="020B0502040204020203" pitchFamily="34" charset="0"/>
              </a:rPr>
              <a:t> a </a:t>
            </a:r>
            <a:r>
              <a:rPr lang="en-US" sz="2100" dirty="0">
                <a:solidFill>
                  <a:schemeClr val="bg1">
                    <a:lumMod val="65000"/>
                  </a:schemeClr>
                </a:solidFill>
                <a:latin typeface="Segoe UI" panose="020B0502040204020203" pitchFamily="34" charset="0"/>
                <a:cs typeface="Segoe UI" panose="020B0502040204020203" pitchFamily="34" charset="0"/>
              </a:rPr>
              <a:t>Matrix</a:t>
            </a:r>
          </a:p>
          <a:p>
            <a:pPr>
              <a:lnSpc>
                <a:spcPct val="150000"/>
              </a:lnSpc>
              <a:buFont typeface="Wingdings" panose="05000000000000000000" pitchFamily="2" charset="2"/>
              <a:buChar char="v"/>
            </a:pPr>
            <a:r>
              <a:rPr lang="en-US" sz="2100" dirty="0">
                <a:latin typeface="Segoe UI" panose="020B0502040204020203" pitchFamily="34" charset="0"/>
                <a:cs typeface="Segoe UI" panose="020B0502040204020203" pitchFamily="34" charset="0"/>
              </a:rPr>
              <a:t>Positive</a:t>
            </a:r>
            <a:r>
              <a:rPr lang="en-US" sz="2000" dirty="0">
                <a:solidFill>
                  <a:schemeClr val="bg1">
                    <a:lumMod val="65000"/>
                  </a:schemeClr>
                </a:solidFill>
                <a:latin typeface="Segoe UI" panose="020B0502040204020203" pitchFamily="34" charset="0"/>
                <a:cs typeface="Segoe UI" panose="020B0502040204020203" pitchFamily="34" charset="0"/>
              </a:rPr>
              <a:t> </a:t>
            </a:r>
            <a:r>
              <a:rPr lang="en-US" sz="2100" dirty="0">
                <a:latin typeface="Segoe UI" panose="020B0502040204020203" pitchFamily="34" charset="0"/>
                <a:cs typeface="Segoe UI" panose="020B0502040204020203" pitchFamily="34" charset="0"/>
              </a:rPr>
              <a:t>Definite</a:t>
            </a:r>
            <a:r>
              <a:rPr lang="en-US" sz="2000" dirty="0">
                <a:solidFill>
                  <a:schemeClr val="bg1">
                    <a:lumMod val="65000"/>
                  </a:schemeClr>
                </a:solidFill>
                <a:latin typeface="Segoe UI" panose="020B0502040204020203" pitchFamily="34" charset="0"/>
                <a:cs typeface="Segoe UI" panose="020B0502040204020203" pitchFamily="34" charset="0"/>
              </a:rPr>
              <a:t> </a:t>
            </a:r>
            <a:r>
              <a:rPr lang="en-US" sz="2100" dirty="0">
                <a:latin typeface="Segoe UI" panose="020B0502040204020203" pitchFamily="34" charset="0"/>
                <a:cs typeface="Segoe UI" panose="020B0502040204020203" pitchFamily="34" charset="0"/>
              </a:rPr>
              <a:t>Matrix</a:t>
            </a:r>
          </a:p>
          <a:p>
            <a:pPr>
              <a:lnSpc>
                <a:spcPct val="150000"/>
              </a:lnSpc>
            </a:pPr>
            <a:endParaRPr lang="en-US" sz="1800"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pPr>
              <a:lnSpc>
                <a:spcPct val="150000"/>
              </a:lnSpc>
            </a:pPr>
            <a:endParaRPr lang="en-US" b="1" dirty="0">
              <a:latin typeface="Calibri" panose="020F0502020204030204" pitchFamily="34" charset="0"/>
              <a:cs typeface="Calibri" panose="020F0502020204030204" pitchFamily="34" charset="0"/>
            </a:endParaRPr>
          </a:p>
          <a:p>
            <a:endParaRPr lang="en-US" sz="2800" b="1" dirty="0"/>
          </a:p>
          <a:p>
            <a:endParaRPr lang="en-US" b="1"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6749061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07A6D-CEBD-661B-D833-B96B913EE366}"/>
              </a:ext>
            </a:extLst>
          </p:cNvPr>
          <p:cNvSpPr>
            <a:spLocks noGrp="1"/>
          </p:cNvSpPr>
          <p:nvPr>
            <p:ph type="title"/>
          </p:nvPr>
        </p:nvSpPr>
        <p:spPr>
          <a:xfrm>
            <a:off x="838200" y="268941"/>
            <a:ext cx="10515600" cy="654425"/>
          </a:xfrm>
        </p:spPr>
        <p:txBody>
          <a:bodyPr>
            <a:normAutofit fontScale="90000"/>
          </a:bodyPr>
          <a:lstStyle/>
          <a:p>
            <a:pPr algn="ct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Positive</a:t>
            </a:r>
            <a:r>
              <a:rPr lang="en-US" sz="4000" dirty="0">
                <a:solidFill>
                  <a:schemeClr val="bg1">
                    <a:lumMod val="65000"/>
                  </a:schemeClr>
                </a:solidFill>
                <a:latin typeface="Segoe UI" panose="020B0502040204020203" pitchFamily="34" charset="0"/>
                <a:cs typeface="Segoe UI" panose="020B0502040204020203" pitchFamily="34" charset="0"/>
              </a:rPr>
              <a:t> </a:t>
            </a:r>
            <a:r>
              <a:rPr lang="en-US" dirty="0">
                <a:latin typeface="Segoe UI" panose="020B0502040204020203" pitchFamily="34" charset="0"/>
                <a:cs typeface="Segoe UI" panose="020B0502040204020203" pitchFamily="34" charset="0"/>
              </a:rPr>
              <a:t>Definite</a:t>
            </a:r>
            <a:r>
              <a:rPr lang="en-US" sz="4000" dirty="0">
                <a:solidFill>
                  <a:schemeClr val="bg1">
                    <a:lumMod val="65000"/>
                  </a:schemeClr>
                </a:solidFill>
                <a:latin typeface="Segoe UI" panose="020B0502040204020203" pitchFamily="34" charset="0"/>
                <a:cs typeface="Segoe UI" panose="020B0502040204020203" pitchFamily="34" charset="0"/>
              </a:rPr>
              <a:t> </a:t>
            </a:r>
            <a:r>
              <a:rPr lang="en-US" dirty="0">
                <a:latin typeface="Segoe UI" panose="020B0502040204020203" pitchFamily="34" charset="0"/>
                <a:cs typeface="Segoe UI" panose="020B0502040204020203" pitchFamily="34" charset="0"/>
              </a:rPr>
              <a:t>Matrix</a:t>
            </a:r>
            <a:br>
              <a:rPr lang="en-US" dirty="0">
                <a:latin typeface="Segoe UI" panose="020B0502040204020203" pitchFamily="34" charset="0"/>
                <a:cs typeface="Segoe UI" panose="020B0502040204020203" pitchFamily="34" charset="0"/>
              </a:rPr>
            </a:br>
            <a:endParaRPr lang="en-US" dirty="0"/>
          </a:p>
        </p:txBody>
      </p:sp>
      <p:sp>
        <p:nvSpPr>
          <p:cNvPr id="3" name="Content Placeholder 2">
            <a:extLst>
              <a:ext uri="{FF2B5EF4-FFF2-40B4-BE49-F238E27FC236}">
                <a16:creationId xmlns:a16="http://schemas.microsoft.com/office/drawing/2014/main" id="{6C0799D4-99E0-5512-6893-BC80753A8DA1}"/>
              </a:ext>
            </a:extLst>
          </p:cNvPr>
          <p:cNvSpPr>
            <a:spLocks noGrp="1"/>
          </p:cNvSpPr>
          <p:nvPr>
            <p:ph idx="1"/>
          </p:nvPr>
        </p:nvSpPr>
        <p:spPr>
          <a:xfrm>
            <a:off x="340659" y="1210235"/>
            <a:ext cx="11582400" cy="4966728"/>
          </a:xfrm>
        </p:spPr>
        <p:txBody>
          <a:bodyPr>
            <a:normAutofit/>
          </a:bodyPr>
          <a:lstStyle/>
          <a:p>
            <a:pPr algn="just">
              <a:buFont typeface="Wingdings" panose="05000000000000000000" pitchFamily="2" charset="2"/>
              <a:buChar char="v"/>
            </a:pPr>
            <a:r>
              <a:rPr lang="en-US" sz="2200" dirty="0">
                <a:latin typeface="Segoe UI" panose="020B0502040204020203" pitchFamily="34" charset="0"/>
                <a:cs typeface="Segoe UI" panose="020B0502040204020203" pitchFamily="34" charset="0"/>
              </a:rPr>
              <a:t>A </a:t>
            </a:r>
            <a:r>
              <a:rPr lang="en-US" sz="2200" b="1" dirty="0">
                <a:latin typeface="Segoe UI" panose="020B0502040204020203" pitchFamily="34" charset="0"/>
                <a:cs typeface="Segoe UI" panose="020B0502040204020203" pitchFamily="34" charset="0"/>
              </a:rPr>
              <a:t>positive definite matrix</a:t>
            </a:r>
            <a:r>
              <a:rPr lang="en-US" sz="2200" dirty="0">
                <a:latin typeface="Segoe UI" panose="020B0502040204020203" pitchFamily="34" charset="0"/>
                <a:cs typeface="Segoe UI" panose="020B0502040204020203" pitchFamily="34" charset="0"/>
              </a:rPr>
              <a:t> is a square, symmetric matrix where all its eigenvalues are positive. </a:t>
            </a:r>
          </a:p>
          <a:p>
            <a:pPr algn="just">
              <a:buFont typeface="Wingdings" panose="05000000000000000000" pitchFamily="2" charset="2"/>
              <a:buChar char="v"/>
            </a:pPr>
            <a:r>
              <a:rPr lang="en-US" sz="2200" dirty="0">
                <a:latin typeface="Segoe UI" panose="020B0502040204020203" pitchFamily="34" charset="0"/>
                <a:cs typeface="Segoe UI" panose="020B0502040204020203" pitchFamily="34" charset="0"/>
              </a:rPr>
              <a:t>For any nonzero real vector </a:t>
            </a:r>
            <a:r>
              <a:rPr lang="en-US" sz="2200" i="1" dirty="0">
                <a:latin typeface="Segoe UI" panose="020B0502040204020203" pitchFamily="34" charset="0"/>
                <a:cs typeface="Segoe UI" panose="020B0502040204020203" pitchFamily="34" charset="0"/>
              </a:rPr>
              <a:t>x</a:t>
            </a:r>
            <a:r>
              <a:rPr lang="en-US" sz="2200" dirty="0">
                <a:latin typeface="Segoe UI" panose="020B0502040204020203" pitchFamily="34" charset="0"/>
                <a:cs typeface="Segoe UI" panose="020B0502040204020203" pitchFamily="34" charset="0"/>
              </a:rPr>
              <a:t>, the product </a:t>
            </a:r>
            <a:r>
              <a:rPr lang="en-US" sz="2200" i="1" dirty="0" err="1">
                <a:latin typeface="Segoe UI" panose="020B0502040204020203" pitchFamily="34" charset="0"/>
                <a:cs typeface="Segoe UI" panose="020B0502040204020203" pitchFamily="34" charset="0"/>
              </a:rPr>
              <a:t>xᵀAx</a:t>
            </a:r>
            <a:r>
              <a:rPr lang="en-US" sz="2200" dirty="0">
                <a:latin typeface="Segoe UI" panose="020B0502040204020203" pitchFamily="34" charset="0"/>
                <a:cs typeface="Segoe UI" panose="020B0502040204020203" pitchFamily="34" charset="0"/>
              </a:rPr>
              <a:t> (or </a:t>
            </a:r>
            <a:r>
              <a:rPr lang="en-US" sz="2200" i="1" dirty="0" err="1">
                <a:latin typeface="Segoe UI" panose="020B0502040204020203" pitchFamily="34" charset="0"/>
                <a:cs typeface="Segoe UI" panose="020B0502040204020203" pitchFamily="34" charset="0"/>
              </a:rPr>
              <a:t>x</a:t>
            </a:r>
            <a:r>
              <a:rPr lang="en-US" sz="2200" i="1" baseline="30000" dirty="0" err="1">
                <a:latin typeface="Segoe UI" panose="020B0502040204020203" pitchFamily="34" charset="0"/>
                <a:cs typeface="Segoe UI" panose="020B0502040204020203" pitchFamily="34" charset="0"/>
              </a:rPr>
              <a:t>T</a:t>
            </a:r>
            <a:r>
              <a:rPr lang="en-US" sz="2200" i="1" dirty="0" err="1">
                <a:latin typeface="Segoe UI" panose="020B0502040204020203" pitchFamily="34" charset="0"/>
                <a:cs typeface="Segoe UI" panose="020B0502040204020203" pitchFamily="34" charset="0"/>
              </a:rPr>
              <a:t>Ax</a:t>
            </a:r>
            <a:r>
              <a:rPr lang="en-US" sz="2200" dirty="0">
                <a:latin typeface="Segoe UI" panose="020B0502040204020203" pitchFamily="34" charset="0"/>
                <a:cs typeface="Segoe UI" panose="020B0502040204020203" pitchFamily="34" charset="0"/>
              </a:rPr>
              <a:t>), which represents a quadratic form, is always positive. </a:t>
            </a:r>
          </a:p>
          <a:p>
            <a:pPr marL="0" indent="0" algn="just">
              <a:buNone/>
            </a:pPr>
            <a:endParaRPr lang="en-US" sz="2200" dirty="0">
              <a:latin typeface="Segoe UI" panose="020B0502040204020203" pitchFamily="34" charset="0"/>
              <a:cs typeface="Segoe UI" panose="020B0502040204020203" pitchFamily="34" charset="0"/>
            </a:endParaRPr>
          </a:p>
        </p:txBody>
      </p:sp>
      <p:pic>
        <p:nvPicPr>
          <p:cNvPr id="8194" name="Picture 2" descr="[eq3]">
            <a:extLst>
              <a:ext uri="{FF2B5EF4-FFF2-40B4-BE49-F238E27FC236}">
                <a16:creationId xmlns:a16="http://schemas.microsoft.com/office/drawing/2014/main" id="{6C6E50F3-C4EA-6132-B65D-C0B313B0A5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8317" y="2846194"/>
            <a:ext cx="3772929" cy="3742865"/>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eq10]">
            <a:extLst>
              <a:ext uri="{FF2B5EF4-FFF2-40B4-BE49-F238E27FC236}">
                <a16:creationId xmlns:a16="http://schemas.microsoft.com/office/drawing/2014/main" id="{A470501E-7731-F737-CF24-E955DE5E0B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3542" y="2846194"/>
            <a:ext cx="4292784" cy="3494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47945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14355</TotalTime>
  <Words>2745</Words>
  <Application>Microsoft Office PowerPoint</Application>
  <PresentationFormat>Widescreen</PresentationFormat>
  <Paragraphs>480</Paragraphs>
  <Slides>45</Slides>
  <Notes>15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45</vt:i4>
      </vt:variant>
    </vt:vector>
  </HeadingPairs>
  <TitlesOfParts>
    <vt:vector size="56" baseType="lpstr">
      <vt:lpstr>Aptos</vt:lpstr>
      <vt:lpstr>Aptos Display</vt:lpstr>
      <vt:lpstr>Arial</vt:lpstr>
      <vt:lpstr>Calibri</vt:lpstr>
      <vt:lpstr>Cambria Math</vt:lpstr>
      <vt:lpstr>Segoe UI</vt:lpstr>
      <vt:lpstr>Times New Roman</vt:lpstr>
      <vt:lpstr>Wingdings</vt:lpstr>
      <vt:lpstr>Office Theme</vt:lpstr>
      <vt:lpstr>Equation</vt:lpstr>
      <vt:lpstr>MathType 7.0 Equation</vt:lpstr>
      <vt:lpstr>Introduction to Multivariate Statistics DATA 366</vt:lpstr>
      <vt:lpstr>Matrix Algebra Review</vt:lpstr>
      <vt:lpstr>Matrix Algebra Review</vt:lpstr>
      <vt:lpstr>Vectors: A Particular Type of Matrix</vt:lpstr>
      <vt:lpstr>Matrix Algebra Review</vt:lpstr>
      <vt:lpstr> Length/Norm of a Vector </vt:lpstr>
      <vt:lpstr>Matrix Algebra Review</vt:lpstr>
      <vt:lpstr>Vector Projection </vt:lpstr>
      <vt:lpstr> Angle between Two Vectors </vt:lpstr>
      <vt:lpstr>Properties of dot product</vt:lpstr>
      <vt:lpstr>Properties of dot products</vt:lpstr>
      <vt:lpstr>Matrix Algebra Review</vt:lpstr>
      <vt:lpstr>Inner product</vt:lpstr>
      <vt:lpstr>Matrix Algebra Review</vt:lpstr>
      <vt:lpstr> Linearly Dependent Vectors </vt:lpstr>
      <vt:lpstr> Examples of Linear Dependence </vt:lpstr>
      <vt:lpstr> Significance of Linear Dependence </vt:lpstr>
      <vt:lpstr>Understand Span</vt:lpstr>
      <vt:lpstr>Basis and Span</vt:lpstr>
      <vt:lpstr> Span: Example </vt:lpstr>
      <vt:lpstr> Detecting Linear Dependence </vt:lpstr>
      <vt:lpstr>Matrix Determinant</vt:lpstr>
      <vt:lpstr>Row Reduction: Gaussian elimination</vt:lpstr>
      <vt:lpstr>Rank</vt:lpstr>
      <vt:lpstr>Matrix Algebra Review</vt:lpstr>
      <vt:lpstr>Use of Matrices in MVS</vt:lpstr>
      <vt:lpstr>Symmetric Matrices</vt:lpstr>
      <vt:lpstr>Matrix Algebra Review</vt:lpstr>
      <vt:lpstr>Eigenvalues and eigenvectors </vt:lpstr>
      <vt:lpstr>Examples of Eigenvector and Eigenvalue</vt:lpstr>
      <vt:lpstr>Matrix Size vs Eigenvalues/Eigenvectors </vt:lpstr>
      <vt:lpstr>Eigenvalues and eigenvectors </vt:lpstr>
      <vt:lpstr>Find the Eigen Vector</vt:lpstr>
      <vt:lpstr>Matrix Algebra Review</vt:lpstr>
      <vt:lpstr> Spectral Decomposition of a Matrix </vt:lpstr>
      <vt:lpstr>Spectral Decomposition of a Matrix</vt:lpstr>
      <vt:lpstr>Spectral Decomposition of a Matrix</vt:lpstr>
      <vt:lpstr> Implementation of Spectral Decomposition in Python </vt:lpstr>
      <vt:lpstr>Implementation of Spectral Decomposition in Python</vt:lpstr>
      <vt:lpstr>Implementation of Spectral Decomposition in Python</vt:lpstr>
      <vt:lpstr>Implementation of Spectral Decomposition in Python</vt:lpstr>
      <vt:lpstr>Implementation of Spectral Decomposition in Python</vt:lpstr>
      <vt:lpstr>Implementation of Spectral Decomposition in Python</vt:lpstr>
      <vt:lpstr>Matrix Algebra Review</vt:lpstr>
      <vt:lpstr> Positive Definite Matrix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Multivariate Statistics DATA 366</dc:title>
  <dc:creator>Nazish Shahid</dc:creator>
  <cp:lastModifiedBy>Ullah, Zakir - (zakir)</cp:lastModifiedBy>
  <cp:revision>554</cp:revision>
  <dcterms:created xsi:type="dcterms:W3CDTF">2025-07-02T15:51:51Z</dcterms:created>
  <dcterms:modified xsi:type="dcterms:W3CDTF">2025-09-16T15:55:52Z</dcterms:modified>
</cp:coreProperties>
</file>