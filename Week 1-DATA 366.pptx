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24"/>
  </p:notesMasterIdLst>
  <p:sldIdLst>
    <p:sldId id="256" r:id="rId2"/>
    <p:sldId id="257" r:id="rId3"/>
    <p:sldId id="274" r:id="rId4"/>
    <p:sldId id="278" r:id="rId5"/>
    <p:sldId id="279" r:id="rId6"/>
    <p:sldId id="275" r:id="rId7"/>
    <p:sldId id="281" r:id="rId8"/>
    <p:sldId id="295" r:id="rId9"/>
    <p:sldId id="258" r:id="rId10"/>
    <p:sldId id="283" r:id="rId11"/>
    <p:sldId id="289" r:id="rId12"/>
    <p:sldId id="284" r:id="rId13"/>
    <p:sldId id="285" r:id="rId14"/>
    <p:sldId id="286" r:id="rId15"/>
    <p:sldId id="287" r:id="rId16"/>
    <p:sldId id="288" r:id="rId17"/>
    <p:sldId id="294" r:id="rId18"/>
    <p:sldId id="296" r:id="rId19"/>
    <p:sldId id="259" r:id="rId20"/>
    <p:sldId id="260" r:id="rId21"/>
    <p:sldId id="297" r:id="rId22"/>
    <p:sldId id="26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7"/>
    <p:restoredTop sz="90258" autoAdjust="0"/>
  </p:normalViewPr>
  <p:slideViewPr>
    <p:cSldViewPr snapToGrid="0">
      <p:cViewPr varScale="1">
        <p:scale>
          <a:sx n="69" d="100"/>
          <a:sy n="69" d="100"/>
        </p:scale>
        <p:origin x="1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3982E-777A-4CB9-A9B6-7705D2E921E1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BCB5E-F196-4277-9C05-272B2EFCA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8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 analysis identifies unobserved underlying variables, or "factors," that explain the correlation patterns among a large set of observed variables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primary goals are to reduce the dimensionality of complex datasets, simplify them into a smaller set of factors, and uncover the underlying theoretical structure or constructs within the data, making complex relationships more interpretable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ANOVA, or </a:t>
            </a:r>
            <a:r>
              <a:rPr lang="en-US" dirty="0"/>
              <a:t>Analysis of Variance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 a statistical method used to compare the means of two or more independent groups to see if their differences are statistically significant.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CB5E-F196-4277-9C05-272B2EFCAD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38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FF621-7CFF-21DE-54C7-8508EADB9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12C99-FBD5-0D2E-E1EF-86FC3E64D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4A251-78E4-26E3-9D19-09E21BA7B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 analysis identifies unobserved underlying variables, or "factors," that explain the correlation patterns among a large set of observed variables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primary goals are to reduce the dimensionality of complex datasets, simplify them into a smaller set of factors, and uncover the underlying theoretical structure or constructs within the data, making complex relationships more interpretable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ANOVA, or </a:t>
            </a:r>
            <a:r>
              <a:rPr lang="en-US" dirty="0"/>
              <a:t>Analysis of Variance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 a statistical method used to compare the means of two or more independent groups to see if their differences are statistically significant.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88B2D-3A0E-9F78-8802-1B77E727C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CB5E-F196-4277-9C05-272B2EFCAD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61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 of Variance (ANOVA) is a statistical formula used to compare variances across the means (or average) of different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CB5E-F196-4277-9C05-272B2EFCAD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77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CB5E-F196-4277-9C05-272B2EFCAD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10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buFont typeface="Wingdings" panose="05000000000000000000" pitchFamily="2" charset="2"/>
              <a:buNone/>
            </a:pP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CB5E-F196-4277-9C05-272B2EFCAD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2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datasets with 3–5 variables</a:t>
            </a:r>
            <a:r>
              <a:rPr lang="en-US" dirty="0"/>
              <a:t> initially, and show how multivariate methods give insights that univariate or bivariate methods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CB5E-F196-4277-9C05-272B2EFCAD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2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datasets with 3–5 variables</a:t>
            </a:r>
            <a:r>
              <a:rPr lang="en-US" dirty="0"/>
              <a:t> initially, and show how multivariate methods give insights that univariate or bivariate methods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CB5E-F196-4277-9C05-272B2EFCAD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54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datasets with 3–5 variables</a:t>
            </a:r>
            <a:r>
              <a:rPr lang="en-US" dirty="0"/>
              <a:t> initially, and show how multivariate methods give insights that univariate or bivariate methods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BCB5E-F196-4277-9C05-272B2EFCAD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67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F8AAA-616C-5D21-C585-1368A843E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58289-1AB5-4666-E1E9-DA4CC5408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5D75A-2087-7B59-1C6E-F1E594E5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47848-2D1A-B7B4-3DDE-3835FAC4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1F6DE-23B2-35FA-250F-3D6CCBB5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36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77B3-DA0C-52A6-46B3-46E13654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E1C58-4F30-9986-8D5A-1FF134AE5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CC269-A2E5-4C64-A4D5-B8FEE135A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016DE-23AF-7A65-18BA-B4F055C5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C23A6-08B1-4C74-5061-5E7E53A4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77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433A1-126F-F02E-7A5E-A0D60770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A3F13-AC0C-6B8B-3F97-CE53ABA89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44712-5A75-A804-7030-96F54AB7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70337-3290-D277-94ED-82FF1C9F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D6C97-3795-0637-23C2-EF397E8E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5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5C0D-2891-634E-8C05-D78E3EBE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7D0DA-D00A-9818-6C7B-1C457B82C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1C7B2-49F3-FE1C-4891-DD678F8C9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81F6E-A790-DCD8-DF93-79A6AC70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91F38-85A8-D13A-1EA1-986EC08B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E2534-C58C-576C-2ABB-BAA371DC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81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F8CA-45F1-5B5A-E29C-3BB0C604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71EA1-69C1-EA76-CB91-61D5714E5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AB7E6-DC54-0C5A-1AFF-5F9F3914D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C8F3DC-A08E-DAD3-0641-893132A14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720DA3-81D1-F039-8EE0-9F741CCC6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C2F93-1DF4-A363-E42D-BABDBCA0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A49E9A-BB9A-1130-C277-CAA258014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23928-16DF-5D79-04FD-E9FBAE97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07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7741-187F-6313-D1E1-3996ACE1C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1DC3C-5A8D-60D9-7ABD-8D28F5DC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F03B3-99E7-DDFA-5D9E-18BFC2F1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B4725-6EBE-F775-2117-F5D4A5AF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564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E968C9-DBBA-2A9F-EF11-66590AE5A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46A31F-0489-2E50-417E-875A395F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E3429-985E-56FC-8910-F8AF7BE9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22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AF20-0C23-99D2-347B-BCF96B388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87C29-22FC-C11D-36FC-9C131CED8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8F584-9EFB-149B-FA51-A7F55A8AB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7F107-0745-41AE-8A36-A0C7A7FD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6FC7-BDE7-61FA-06A6-3B2EB426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85E9F-35B5-4E54-BCDA-9079E3DD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54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6E17-4D47-F5D0-7DE8-E2DBBF82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5A999E-C2E4-3FE2-91F2-5BE4400B7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A008F-7407-7081-726B-2A71239F7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104A3-4E47-9846-1528-FE4374E1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F1695-A62C-5D3B-319D-1C1B14780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03A8B-5FAC-D952-10C4-16FBCAB2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11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ECED-7DC9-52F9-ABFF-C585B6AA9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C8580-4632-E89C-B729-823208B0E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1FC1D-885F-FA86-14DB-E62FECB0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77F2E-F715-163D-0CD2-94363A86F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DEAE6-A7D5-32C7-D55E-1AE930E1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89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2437F-D74B-5FFC-B018-FA61C1330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CD000-53A1-05D0-AA49-22DF9DACC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97BF-0811-1D69-9BD2-4667AA7B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8901-181D-9603-64D4-7CC858B4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4BEFC-7A35-1D48-E233-68EBA8A0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46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AA1D2-DD0F-AD4D-B42E-A93360290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FD254-C81B-12FA-E510-093D2CD1E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A0A0E-D182-D663-C9A6-BA640AAAC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63CA0-9B33-2547-A777-CA99C11D9698}" type="datetimeFigureOut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19EFD-1987-06F2-0D5F-0116CA77C6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37FB8-D7E2-E687-D1EA-DEED084A0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E9709-502A-AD43-B4F1-601D502E9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90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8CE36-BFBF-9F74-0D23-4412B7228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46" y="2161309"/>
            <a:ext cx="11951854" cy="728800"/>
          </a:xfrm>
        </p:spPr>
        <p:txBody>
          <a:bodyPr anchor="b">
            <a:normAutofit fontScale="90000"/>
          </a:bodyPr>
          <a:lstStyle/>
          <a:p>
            <a:br>
              <a:rPr lang="en-US" sz="5200" dirty="0">
                <a:solidFill>
                  <a:schemeClr val="tx2"/>
                </a:solidFill>
              </a:rPr>
            </a:br>
            <a:br>
              <a:rPr lang="en-US" sz="5200" dirty="0">
                <a:solidFill>
                  <a:schemeClr val="tx2"/>
                </a:solidFill>
              </a:rPr>
            </a:br>
            <a:br>
              <a:rPr lang="en-US" sz="5200" dirty="0">
                <a:solidFill>
                  <a:schemeClr val="tx2"/>
                </a:solidFill>
              </a:rPr>
            </a:br>
            <a:br>
              <a:rPr lang="en-US" sz="5200" dirty="0">
                <a:solidFill>
                  <a:schemeClr val="tx2"/>
                </a:solidFill>
              </a:rPr>
            </a:br>
            <a:br>
              <a:rPr lang="en-US" sz="5200" dirty="0">
                <a:solidFill>
                  <a:schemeClr val="tx2"/>
                </a:solidFill>
              </a:rPr>
            </a:br>
            <a:br>
              <a:rPr lang="en-US" sz="5200" dirty="0">
                <a:solidFill>
                  <a:schemeClr val="tx2"/>
                </a:solidFill>
              </a:rPr>
            </a:br>
            <a:br>
              <a:rPr lang="en-US" sz="5200" dirty="0">
                <a:solidFill>
                  <a:schemeClr val="tx2"/>
                </a:solidFill>
              </a:rPr>
            </a:br>
            <a:br>
              <a:rPr lang="en-US" sz="5200" dirty="0">
                <a:solidFill>
                  <a:schemeClr val="tx2"/>
                </a:solidFill>
              </a:rPr>
            </a:br>
            <a:r>
              <a:rPr lang="en-US" sz="5200" dirty="0">
                <a:solidFill>
                  <a:schemeClr val="tx2"/>
                </a:solidFill>
              </a:rPr>
              <a:t>D</a:t>
            </a:r>
            <a:r>
              <a:rPr lang="en-US" sz="4400" dirty="0">
                <a:solidFill>
                  <a:schemeClr val="tx2"/>
                </a:solidFill>
              </a:rPr>
              <a:t>ATA 366-Introduction to Multivariate </a:t>
            </a:r>
            <a:r>
              <a:rPr lang="en-US" sz="5200" dirty="0">
                <a:solidFill>
                  <a:schemeClr val="tx2"/>
                </a:solidFill>
              </a:rPr>
              <a:t>Statics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05301-448C-A717-DF3F-F95C657A1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273" y="2952294"/>
            <a:ext cx="9504218" cy="238791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 </a:t>
            </a:r>
            <a:endParaRPr lang="en-US" sz="3200" dirty="0">
              <a:solidFill>
                <a:schemeClr val="tx2"/>
              </a:solidFill>
            </a:endParaRPr>
          </a:p>
          <a:p>
            <a:r>
              <a:rPr lang="en-US" sz="3200" dirty="0"/>
              <a:t>Foundations of </a:t>
            </a:r>
            <a:r>
              <a:rPr lang="en-US" sz="3200"/>
              <a:t>Multivariate Statistics</a:t>
            </a:r>
            <a:endParaRPr lang="en-US" sz="3200" dirty="0"/>
          </a:p>
          <a:p>
            <a:r>
              <a:rPr lang="en-US" sz="3200" dirty="0">
                <a:solidFill>
                  <a:schemeClr val="tx2"/>
                </a:solidFill>
              </a:rPr>
              <a:t>By</a:t>
            </a:r>
          </a:p>
          <a:p>
            <a:r>
              <a:rPr lang="en-US" sz="3200" dirty="0">
                <a:solidFill>
                  <a:schemeClr val="tx2"/>
                </a:solidFill>
              </a:rPr>
              <a:t> Dr. Zakir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3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31" name="Freeform: Shape 18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32840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5352-2260-A26E-7BBA-B168C0B6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582295"/>
            <a:ext cx="11864898" cy="1086485"/>
          </a:xfrm>
        </p:spPr>
        <p:txBody>
          <a:bodyPr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9AADC-3434-81BD-3088-7C8C9EF44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828800"/>
            <a:ext cx="11864898" cy="49288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Multivariate Statistics/Analysis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Data Organization for multivariate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/>
              <a:t>Exploring Multivariate Data</a:t>
            </a: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Descriptive Statistics Approaches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Graphical Approaches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Statistical Distance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70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F1608-2A12-357A-DF96-F91CB3F84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8038-B09E-7D76-AB96-9049FB6BD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170329"/>
            <a:ext cx="11864898" cy="69924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Introduction to Multivariate Statistics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D6A57-D1C1-7448-7911-867219C0E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246094"/>
            <a:ext cx="11864898" cy="551154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Multivariate statistics</a:t>
            </a:r>
            <a:r>
              <a:rPr lang="en-US" dirty="0"/>
              <a:t> deal with the analysis of data sets involving more than two variables.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It’s a set of statistical techniques used to analyze/interpret data that contains more than two variable.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Designed to understand the complex relationships and interactions among multiple variables.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algn="just"/>
            <a:endParaRPr lang="en-US" sz="2800" b="1" dirty="0"/>
          </a:p>
          <a:p>
            <a:pPr algn="just"/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26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09844-346A-6FA5-1017-6907E5D17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F59B-4273-01C3-AD9C-2221C682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170329"/>
            <a:ext cx="11864898" cy="699247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Multivariate Statistics Techniques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0E36-F5C4-78FA-BBE2-2266C0D84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246094"/>
            <a:ext cx="11864898" cy="55115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Multiple regression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MANOVA (Multivariate ANOVA)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PCA (Principal Component Analysis)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Cluster analysis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0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Factor analysis</a:t>
            </a:r>
          </a:p>
          <a:p>
            <a:pPr marL="914400" lvl="2" indent="0" algn="just">
              <a:lnSpc>
                <a:spcPct val="150000"/>
              </a:lnSpc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914400" lvl="2" indent="0" algn="just">
              <a:buNone/>
            </a:pP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914400" lvl="2" indent="0" algn="just">
              <a:buNone/>
            </a:pP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914400" lvl="2" indent="0" algn="just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93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A3DB9-6D5F-8B30-D0A7-812EBB21D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575"/>
            <a:ext cx="10515600" cy="761711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Multivariate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E0BD75-6478-1DF3-25CD-3B1B9AD83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1" y="1928625"/>
            <a:ext cx="9855200" cy="4731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E86212-A0A4-E132-38E8-EF1C33C4C898}"/>
              </a:ext>
            </a:extLst>
          </p:cNvPr>
          <p:cNvSpPr txBox="1"/>
          <p:nvPr/>
        </p:nvSpPr>
        <p:spPr>
          <a:xfrm>
            <a:off x="285461" y="959286"/>
            <a:ext cx="11621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Multivariate analysis</a:t>
            </a:r>
            <a:r>
              <a:rPr lang="en-US" dirty="0"/>
              <a:t> is the application of multivariate  techniques to a data set to understand the relationships and structures within the variables. </a:t>
            </a:r>
          </a:p>
        </p:txBody>
      </p:sp>
    </p:spTree>
    <p:extLst>
      <p:ext uri="{BB962C8B-B14F-4D97-AF65-F5344CB8AC3E}">
        <p14:creationId xmlns:p14="http://schemas.microsoft.com/office/powerpoint/2010/main" val="2641303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974FB-FEC1-4460-94CE-5EBEBDAE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944"/>
            <a:ext cx="10515600" cy="69924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Levels of Data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0909FC-6266-EC3E-30E6-CE786B628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657043"/>
              </p:ext>
            </p:extLst>
          </p:nvPr>
        </p:nvGraphicFramePr>
        <p:xfrm>
          <a:off x="268940" y="872069"/>
          <a:ext cx="11672048" cy="5730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5295">
                  <a:extLst>
                    <a:ext uri="{9D8B030D-6E8A-4147-A177-3AD203B41FA5}">
                      <a16:colId xmlns:a16="http://schemas.microsoft.com/office/drawing/2014/main" val="2108886463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350343250"/>
                    </a:ext>
                  </a:extLst>
                </a:gridCol>
                <a:gridCol w="2949388">
                  <a:extLst>
                    <a:ext uri="{9D8B030D-6E8A-4147-A177-3AD203B41FA5}">
                      <a16:colId xmlns:a16="http://schemas.microsoft.com/office/drawing/2014/main" val="4239289199"/>
                    </a:ext>
                  </a:extLst>
                </a:gridCol>
                <a:gridCol w="3299012">
                  <a:extLst>
                    <a:ext uri="{9D8B030D-6E8A-4147-A177-3AD203B41FA5}">
                      <a16:colId xmlns:a16="http://schemas.microsoft.com/office/drawing/2014/main" val="3025661990"/>
                    </a:ext>
                  </a:extLst>
                </a:gridCol>
              </a:tblGrid>
              <a:tr h="7359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Aspect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Univariate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Bivariate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Multivariate Analysis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972526"/>
                  </a:ext>
                </a:extLst>
              </a:tr>
              <a:tr h="57940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Number of Variables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Two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More than two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684226"/>
                  </a:ext>
                </a:extLst>
              </a:tr>
              <a:tr h="7359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Purpose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Describe a single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Explore relationships between two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Analyze complex interactions among multiple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91354"/>
                  </a:ext>
                </a:extLst>
              </a:tr>
              <a:tr h="7359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Examples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Mean, Median, Variance, Histogram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Correlation, Scatter Plot, Simple 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Multiple Regression, MANOVA, PCA, Cluster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397656"/>
                  </a:ext>
                </a:extLst>
              </a:tr>
              <a:tr h="7359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Relationships Studied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Yes, between two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Yes, between three or more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24114"/>
                  </a:ext>
                </a:extLst>
              </a:tr>
              <a:tr h="7359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Complexity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460119"/>
                  </a:ext>
                </a:extLst>
              </a:tr>
              <a:tr h="7359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Limitations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Ignores relationships between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Only captures pairwise 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/>
                        <a:t>Requires advanced methods and 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16097"/>
                  </a:ext>
                </a:extLst>
              </a:tr>
              <a:tr h="7359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1"/>
                        <a:t>Use Cases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Descriptive stats, distributions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Effect of one variable on another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Modeling real-world problems involving multiple factors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781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814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2B6B1-44B6-14F1-A67D-22AAA142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073"/>
            <a:ext cx="10515600" cy="87745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EB6F9-AB02-CD71-97A5-6C0B989A6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17600"/>
            <a:ext cx="11619345" cy="50593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Medical diagnosis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 Using patient data (blood pressure, cholesterol, sugar levels, etc.) to classify diseases (e.g., diabetes, heart disease).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Clinical trials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 Assessing multiple outcomes (e.g., side effects, effectiveness, recovery time) across treatment groups.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Credit scoring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 Using multiple predictors (income, age, credit history) to assess the likelihood of loan default.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Market segmentation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: Identifying customer groups based on multiple economic variables (spending habits, income, location, etc.).</a:t>
            </a:r>
          </a:p>
        </p:txBody>
      </p:sp>
    </p:spTree>
    <p:extLst>
      <p:ext uri="{BB962C8B-B14F-4D97-AF65-F5344CB8AC3E}">
        <p14:creationId xmlns:p14="http://schemas.microsoft.com/office/powerpoint/2010/main" val="1540606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E39CF-DF22-F900-5653-FDEFE3FF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09843-495F-FE73-9C92-C17B8CF75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582295"/>
            <a:ext cx="11864898" cy="1086485"/>
          </a:xfrm>
        </p:spPr>
        <p:txBody>
          <a:bodyPr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75C0B-D709-E708-7F28-9BF09A6E4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828800"/>
            <a:ext cx="11864898" cy="49288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to Multivariate Statistics/Analysis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Data Organization for multivariate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Exploring Multivariate Data</a:t>
            </a:r>
            <a:endParaRPr lang="en-US" sz="3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Descriptive Statistics Approaches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Graphical Approaches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Statistical Distance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2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AC858-066D-FFEB-8672-29CDA6257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E470-D30C-3985-9C91-0641125F9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203200"/>
            <a:ext cx="11864898" cy="83127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Data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2EAE3-A76A-19AE-3D89-8CB44A5C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256145"/>
            <a:ext cx="11864898" cy="5501493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Data organization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refers to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structuring, arranging, and preparing data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so that it can be meaningfully analyzed using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multivariate statistical techniques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Multivariate analysis requires careful attention to cleaning, structuring, transforming and standardizing  datasets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Missing data and outliers can skew the results of the analysis.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standard and most common way to organize multivariate data is as a data matrix or table. </a:t>
            </a: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76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1AD5D-68C3-E77E-72C6-EA29BB65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891"/>
            <a:ext cx="10515600" cy="75438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Data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E0774-9A73-59F6-AC54-5BFCB670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470" y="1154430"/>
            <a:ext cx="11612880" cy="502253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  structured way to organize data, where rows represent observations, columns represent variables or features.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86711-6E14-F34E-2935-642720AE7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83" y="2571142"/>
            <a:ext cx="11600267" cy="374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681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4A6D-C8D8-C59B-9DAF-1289E4306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213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Variable Types Clearly Defined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B1701-7BEC-1412-19DA-63E79BAAD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131570"/>
            <a:ext cx="11475720" cy="504539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Each column should be 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clearly labeled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with: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A meaningful 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variable name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A consistent 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measurement scale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Nominal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Ordinal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Interval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Ratio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10896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1F875-7F7C-B447-DE82-DBC184706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99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Measurement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35280-6BF1-119A-B6E8-B1EAAD37F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062990"/>
            <a:ext cx="11647170" cy="51139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Variables can be measured using different 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scales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, which affect how we analyze the data. These scales are: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1. Nominal Scale (Qualitative / Categorical)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Definition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 Categories with 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no inherent order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Examples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Gender (Male, Female)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Eye color (Blue, Green, Brown)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Country (USA, India, Germany)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Operations Allowed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 = (equal), ≠ (not equal)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Can’t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say one category is more or less than another.</a:t>
            </a:r>
          </a:p>
          <a:p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849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CC63-6F37-96B6-01A7-2D7204A33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815"/>
            <a:ext cx="10515600" cy="82359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Measurement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CD748-E151-614E-7FFE-2F383EC50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" y="994410"/>
            <a:ext cx="11102340" cy="5182553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2. Ordinal Scale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Definition</a:t>
            </a:r>
            <a:r>
              <a:rPr lang="en-US" sz="2000" dirty="0"/>
              <a:t>: Categories with a </a:t>
            </a:r>
            <a:r>
              <a:rPr lang="en-US" sz="2000" b="1" dirty="0"/>
              <a:t>meaningful order</a:t>
            </a:r>
            <a:r>
              <a:rPr lang="en-US" sz="2000" dirty="0"/>
              <a:t>, but </a:t>
            </a:r>
            <a:r>
              <a:rPr lang="en-US" sz="2000" b="1" dirty="0"/>
              <a:t>no consistent difference</a:t>
            </a:r>
            <a:r>
              <a:rPr lang="en-US" sz="2000" dirty="0"/>
              <a:t> between them.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Examples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Satisfaction (Low, Medium, High)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Education level (High School, Bachelor, Master)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Operations Allowed</a:t>
            </a:r>
            <a:r>
              <a:rPr lang="en-US" sz="2000" dirty="0"/>
              <a:t>: =, ≠, &lt;, &gt;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/>
              <a:t>Cannot</a:t>
            </a:r>
            <a:r>
              <a:rPr lang="en-US" sz="2000" dirty="0"/>
              <a:t> perform mathematical operations like subtraction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469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AB68-2441-2FF7-D4EC-891FB446E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461"/>
            <a:ext cx="10515600" cy="78867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Measurement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0FF5C-1A71-5FE2-3457-7792FABF4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" y="1223010"/>
            <a:ext cx="11601450" cy="4953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3.Interval Scale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Definition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 Ordered categories with 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equal intervals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, but 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no true zero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Examples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Temperature in Celsius or Fahrenheit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Dates (e.g., years)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Operations Allowed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 +, –, &lt;, &gt;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Cannot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say "twice as much" (no absolute zero).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41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5A4B0-8F5D-5A46-2693-64CE7AF7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Measurement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B7952-026C-3BCE-F6C2-EFEABB5D9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040" y="1291590"/>
            <a:ext cx="11601450" cy="48853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4. Ratio Scale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Definition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 Ordered, equal intervals </a:t>
            </a: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with a true zero point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Examples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Income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Age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Height, Weight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Operations Allowed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: All mathematical operations (+, –, ×, ÷)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 say "twice as much" makes sense here.</a:t>
            </a:r>
          </a:p>
          <a:p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69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3B31-9569-1228-9A2D-F9E7042B5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41"/>
            <a:ext cx="10515600" cy="78867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Combining Matrix and Scales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EC4B-8A1C-EA91-C78B-FE72F4197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" y="994410"/>
            <a:ext cx="11521440" cy="55664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In the </a:t>
            </a:r>
            <a:r>
              <a:rPr lang="en-US" sz="2000" b="1" dirty="0"/>
              <a:t>data matrix</a:t>
            </a:r>
            <a:r>
              <a:rPr lang="en-US" sz="2000" dirty="0"/>
              <a:t>, each column is a variable and has one of the measurement scales above.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The </a:t>
            </a:r>
            <a:r>
              <a:rPr lang="en-US" sz="2000" b="1" dirty="0"/>
              <a:t>scale type determines</a:t>
            </a:r>
            <a:r>
              <a:rPr lang="en-US" sz="20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How the variable can be summarized (mean, median, mode)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What kind of statistical tests can be applied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How you can interpret or visualize the data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AE651-3530-2095-7160-A7E5B7F4B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46" y="3070018"/>
            <a:ext cx="11054204" cy="349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155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DB6E-BAA4-6BE5-7DFB-F4767B67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139571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dirty="0"/>
              <a:t>Summarize Variables by Measurement Scale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23C3A3-6ECE-08B0-28CF-EA75A91D9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96272"/>
            <a:ext cx="11648279" cy="341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409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0AB2-9C25-C637-587C-F839CB641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46A5-D5B5-5CF9-EFC3-5996E0834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582295"/>
            <a:ext cx="11864898" cy="1086485"/>
          </a:xfrm>
        </p:spPr>
        <p:txBody>
          <a:bodyPr/>
          <a:lstStyle/>
          <a:p>
            <a:pPr algn="ctr"/>
            <a:r>
              <a:rPr lang="en-US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B2883-710E-4EF0-D847-FE195A3FE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828800"/>
            <a:ext cx="11864898" cy="49288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to Multivariate Statistics/Analysis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Organization for multivariate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/>
              <a:t>Exploring Multivariate Data</a:t>
            </a: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Descriptive Statistics Approaches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Graphical Approaches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Statistical Distance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51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3AC5-720B-4FD3-860E-D7E33961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A81A0-18F6-85E4-6656-6FFBBDAD5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175491"/>
            <a:ext cx="11864898" cy="785091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589C2-5DC3-78BC-5654-13C9A5F39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062182"/>
            <a:ext cx="11864898" cy="569545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large dataset with multiple variable makes it difficult to visualize it.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Much of the information contained in the data can be assessed by calculating certain summary numbers, known as descriptive statistics.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dirty="0" err="1">
                <a:latin typeface="Segoe UI" panose="020B0502040204020203" pitchFamily="34" charset="0"/>
                <a:cs typeface="Segoe UI" panose="020B0502040204020203" pitchFamily="34" charset="0"/>
              </a:rPr>
              <a:t>Means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, variances, covariances, corrélations and Covariance matrix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10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9A2DC-60BB-2316-E7FB-DB45FF86D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5C44-792E-D9BD-859E-186606E2C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263526"/>
            <a:ext cx="11864898" cy="678584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Graphical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DB9E4-F989-D3B3-E7B1-2EF00EBA1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191491"/>
            <a:ext cx="11864898" cy="556614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Although it is impossible to simultaneously plot all the measurements made on several variables and study the configurations.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It is good statistical practice to plot pairs of variables and visually inspect the pattern of association, it can be still very informative. Following are the types of plots for two variables.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Scatterplot matrices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Pairwise plots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Heatmaps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PCA biplots (introductory)</a:t>
            </a:r>
          </a:p>
          <a:p>
            <a:pPr algn="just"/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7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33B5-CEAF-F567-AD69-743C135B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C157-FE86-3E34-B73C-7D8C12DB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582295"/>
            <a:ext cx="11864898" cy="1086485"/>
          </a:xfrm>
        </p:spPr>
        <p:txBody>
          <a:bodyPr/>
          <a:lstStyle/>
          <a:p>
            <a:pPr algn="ctr"/>
            <a:r>
              <a:rPr lang="en-US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E60CE-4FB6-2EE6-159D-6FA461A6F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828800"/>
            <a:ext cx="11864898" cy="49288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 to Multivariate Statistics/Analysis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Organization for multivariate 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Exploring Multivariate Data</a:t>
            </a:r>
            <a:endParaRPr lang="en-US" sz="30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Descriptive Statistics Approaches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Graphical Approaches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Statistical Distance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03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6B29-DA9F-601B-7FA7-5241ECCD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8A88D-7593-0B8F-B6FA-F614C3F01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024" y="217344"/>
            <a:ext cx="11864898" cy="955674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Statistical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6AAEB-A726-E50D-6B23-2272145DF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" y="1320800"/>
            <a:ext cx="11864898" cy="54368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Important concept for quantifying the similarity/dissimilarity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Euclidean distance doesn't account for correlations, multivariate statistical distances (</a:t>
            </a:r>
            <a:r>
              <a:rPr lang="en-US" sz="2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Mahalanobis</a:t>
            </a: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) account for these factors, providing a more accurate measure of distance in complex, multi-variable data.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latin typeface="Segoe UI" panose="020B0502040204020203" pitchFamily="34" charset="0"/>
                <a:cs typeface="Segoe UI" panose="020B0502040204020203" pitchFamily="34" charset="0"/>
              </a:rPr>
              <a:t>Multivariate statistical distances has applications in clustering/classification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endParaRPr lang="en-US" sz="2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6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11593</TotalTime>
  <Words>1286</Words>
  <Application>Microsoft Office PowerPoint</Application>
  <PresentationFormat>Widescreen</PresentationFormat>
  <Paragraphs>236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Segoe UI</vt:lpstr>
      <vt:lpstr>Wingdings</vt:lpstr>
      <vt:lpstr>Office Theme</vt:lpstr>
      <vt:lpstr>        DATA 366-Introduction to Multivariate Statics</vt:lpstr>
      <vt:lpstr>Outlines</vt:lpstr>
      <vt:lpstr> Introduction to Multivariate Statistics </vt:lpstr>
      <vt:lpstr>  Multivariate Statistics Techniques </vt:lpstr>
      <vt:lpstr>Multivariate Analysis</vt:lpstr>
      <vt:lpstr>Levels of Data Analysis</vt:lpstr>
      <vt:lpstr>Real-world applications</vt:lpstr>
      <vt:lpstr>Outlines</vt:lpstr>
      <vt:lpstr>Data Organization</vt:lpstr>
      <vt:lpstr>Data Matrix</vt:lpstr>
      <vt:lpstr>Variable Types Clearly Defined</vt:lpstr>
      <vt:lpstr>Measurement Scales</vt:lpstr>
      <vt:lpstr>Measurement Scales</vt:lpstr>
      <vt:lpstr>Measurement Scales</vt:lpstr>
      <vt:lpstr>Measurement Scales</vt:lpstr>
      <vt:lpstr> Combining Matrix and Scales </vt:lpstr>
      <vt:lpstr> Summarize Variables by Measurement Scale </vt:lpstr>
      <vt:lpstr>Outlines</vt:lpstr>
      <vt:lpstr>Descriptive Statistics</vt:lpstr>
      <vt:lpstr>Graphical Techniques</vt:lpstr>
      <vt:lpstr>Outlines</vt:lpstr>
      <vt:lpstr>Statistical Distance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Multivariate Statistics DATA 366</dc:title>
  <dc:creator>Nazish Shahid</dc:creator>
  <cp:lastModifiedBy>Ullah, Zakir - (zakir)</cp:lastModifiedBy>
  <cp:revision>350</cp:revision>
  <dcterms:created xsi:type="dcterms:W3CDTF">2025-07-02T15:51:51Z</dcterms:created>
  <dcterms:modified xsi:type="dcterms:W3CDTF">2025-09-10T16:01:42Z</dcterms:modified>
</cp:coreProperties>
</file>